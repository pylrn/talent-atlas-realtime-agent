
<file path=[Content_Types].xml><?xml version="1.0" encoding="utf-8"?>
<Types xmlns="http://schemas.openxmlformats.org/package/2006/content-types">
  <Default Extension="svg" ContentType="image/svg+xml"/>
  <Default Extension="xml" ContentType="application/xml"/>
  <Default Extension="rels" ContentType="application/vnd.openxmlformats-package.relationships+xml"/>
  <Override PartName="/ppt/slides/slide10.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bleStyles.xml" ContentType="application/vnd.openxmlformats-officedocument.presentationml.tableStyles+xml"/>
  <Override PartName="/ppt/slides/slide11.xml" ContentType="application/vnd.openxmlformats-officedocument.presentationml.slide+xml"/>
  <Override PartName="/ppt/slides/slide6.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ppt/slides/slide3.xml" ContentType="application/vnd.openxmlformats-officedocument.presentationml.slide+xml"/>
  <Override PartName="/ppt/theme/theme2.xml" ContentType="application/vnd.openxmlformats-officedocument.them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presProps.xml" ContentType="application/vnd.openxmlformats-officedocument.presentationml.presProps+xml"/>
  <Override PartName="/ppt/slides/slide4.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docProps/app.xml" ContentType="application/vnd.openxmlformats-officedocument.extended-properties+xml"/>
  <Override PartName="/ppt/slideLayouts/slideLayout1.xml" ContentType="application/vnd.openxmlformats-officedocument.presentationml.slideLayout+xml"/>
  <Override PartName="/ppt/slides/slide1.xml" ContentType="application/vnd.openxmlformats-officedocument.presentationml.slide+xml"/>
  <Override PartName="/docProps/core.xml" ContentType="application/vnd.openxmlformats-package.core-properties+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firstSlideNum="1">
  <p:sldMasterIdLst>
    <p:sldMasterId id="2147483648" r:id="rId0"/>
  </p:sldMasterIdLst>
  <p:notesMasterIdLst>
    <p:notesMasterId r:id="rId13"/>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6" Type="http://schemas.openxmlformats.org/officeDocument/2006/relationships/slide" Target="slides/slide6.xml" /><Relationship Id="rId5" Type="http://schemas.openxmlformats.org/officeDocument/2006/relationships/slide" Target="slides/slide5.xml" /><Relationship Id="rId4" Type="http://schemas.openxmlformats.org/officeDocument/2006/relationships/slide" Target="slides/slide4.xml" /><Relationship Id="rId16" Type="http://schemas.openxmlformats.org/officeDocument/2006/relationships/viewProps" Target="viewProps.xml" /><Relationship Id="rId11" Type="http://schemas.openxmlformats.org/officeDocument/2006/relationships/slide" Target="slides/slide11.xml" /><Relationship Id="rId15" Type="http://schemas.openxmlformats.org/officeDocument/2006/relationships/tableStyles" Target="tableStyles.xml" /><Relationship Id="rId13" Type="http://schemas.openxmlformats.org/officeDocument/2006/relationships/notesMaster" Target="notesMasters/notesMaster1.xml" /><Relationship Id="rId12" Type="http://schemas.openxmlformats.org/officeDocument/2006/relationships/slide" Target="slides/slide12.xml" /><Relationship Id="rId9" Type="http://schemas.openxmlformats.org/officeDocument/2006/relationships/slide" Target="slides/slide9.xml" /><Relationship Id="rId7" Type="http://schemas.openxmlformats.org/officeDocument/2006/relationships/slide" Target="slides/slide7.xml" /><Relationship Id="rId2" Type="http://schemas.openxmlformats.org/officeDocument/2006/relationships/slide" Target="slides/slide2.xml" /><Relationship Id="rId8" Type="http://schemas.openxmlformats.org/officeDocument/2006/relationships/slide" Target="slides/slide8.xml" /><Relationship Id="rId10" Type="http://schemas.openxmlformats.org/officeDocument/2006/relationships/slide" Target="slides/slide10.xml" /><Relationship Id="rId1" Type="http://schemas.openxmlformats.org/officeDocument/2006/relationships/slide" Target="slides/slide1.xml" /><Relationship Id="rId3" Type="http://schemas.openxmlformats.org/officeDocument/2006/relationships/slide" Target="slides/slide3.xml" /><Relationship Id="rId14" Type="http://schemas.openxmlformats.org/officeDocument/2006/relationships/presProps" Target="presProps.xml" /><Relationship Id="rId0" Type="http://schemas.openxmlformats.org/officeDocument/2006/relationships/slideMaster" Target="slideMasters/slideMaster1.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1" Type="http://schemas.openxmlformats.org/officeDocument/2006/relationships/image" Target="media/image2.svg" /><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p:cSld>
    <p:spTree>
      <p:nvGrpSpPr>
        <p:cNvPr id="1" name="" descr="&lt;Slide style={{&#10;    width: 1280,&#10;    height: 720,&#10;    padding: 0,&#10;    position: 'relative',&#10;    overflow: 'hidden',&#10;    background: 'linear-gradient(140deg, #04342C 0%, #0F6E56 100%)',&#10;}}&gt;&#10;    {/* Field: concentric rings, fully inside the canvas so nothing bleeds. */}&#10;    &lt;Box style={{&#10;        position: 'absolute',&#10;        right: 48,&#10;        top: 44,&#10;        width: 556,&#10;        height: 556,&#10;        borderRadius: 278,&#10;        border: '1px solid rgba(225,245,238,0.16)',&#10;    }} /&gt;&#10;    &lt;Box style={{&#10;        position: 'absolute',&#10;        right: 138,&#10;        top: 134,&#10;        width: 376,&#10;        height: 376,&#10;        borderRadius: 188,&#10;        border: '1px solid rgba(151,196,89,0.38)',&#10;    }} /&gt;&#10;    &lt;Box style={{&#10;        position: 'absolute',&#10;        right: 208,&#10;        top: 204,&#10;        width: 236,&#10;        height: 236,&#10;        borderRadius: 118,&#10;        background: 'rgba(151,196,89,0.10)',&#10;    }} /&gt;&#10;    &lt;Box style={{&#10;        position: 'absolute',&#10;        right: 326,&#10;        top: 322,&#10;        width: 20,&#10;        height: 20,&#10;        borderRadius: 10,&#10;        background: '#97C459',&#10;    }} /&gt;&#10;    &lt;Box style={{&#10;        position: 'absolute',&#10;        right: 246,&#10;        top: 148,&#10;        width: 11,&#10;        height: 11,&#10;        borderRadius: 6,&#10;        background: 'rgba(225,245,238,0.58)',&#10;    }} /&gt;&#10;    &lt;Box style={{&#10;        position: 'absolute',&#10;        right: 118,&#10;        top: 424,&#10;        width: 13,&#10;        height: 13,&#10;        borderRadius: 7,&#10;        background: 'rgba(225,245,238,0.42)',&#10;    }} /&gt;&#10;&#10;    {/* Content rides in from the left. */}&#10;    &lt;Box style={{&#10;        position: 'relative',&#10;        zIndex: 1,&#10;        width: '100%',&#10;        height: '100%',&#10;        padding: '68px 72px 52px 72px',&#10;        flexDirection: 'column',&#10;        justifyContent: 'space-between',&#10;    }}&gt;&#10;        &lt;Box style={{ flexDirection: 'row', alignItems: 'center', justifyContent: 'space-between', width: '100%' }}&gt;&#10;            &lt;Box style={{ flexDirection: 'row', alignItems: 'center', gap: 16 }}&gt;&#10;                &lt;Box style={{ width: 34, height: 4, background: '#97C459' }} /&gt;&#10;                &lt;Text style={{&#10;                    fontFamily: 'JetBrains Mono',&#10;                    fontSize: 15,&#10;                    color: '#E1F5EE',&#10;                    letterSpacing: 2.4,&#10;                }}&gt;&#10;                    THEME 05 · INTERRUPTIBLE REAL-TIME AGENTS&#10;                &lt;/Text&gt;&#10;            &lt;/Box&gt;&#10;            &lt;Box style={{&#10;                padding: '9px 18px',&#10;                border: '1px solid rgba(151,196,89,0.55)',&#10;                borderRadius: 4,&#10;                background: 'rgba(4,52,44,0.35)',&#10;            }}&gt;&#10;                &lt;Text style={{ fontFamily: 'JetBrains Mono', fontSize: 14, color: '#97C459', letterSpacing: 1.1 }}&gt;&#10;                    PRISM_GENAI_HACKATHON_Y2026&#10;                &lt;/Text&gt;&#10;            &lt;/Box&gt;&#10;        &lt;/Box&gt;&#10;&#10;        &lt;Box style={{ flexDirection: 'column', gap: 22, maxWidth: 720 }}&gt;&#10;            &lt;Text style={{&#10;                fontFamily: 'Inter',&#10;                fontSize: 76,&#10;                fontWeight: 'bold',&#10;                lineHeight: 1.1,&#10;                color: '#FFFFFF',&#10;            }}&gt;&#10;                Talent Atlas&#10;            &lt;/Text&gt;&#10;            &lt;Box style={{ width: 96, height: 5, background: '#97C459' }} /&gt;&#10;            &lt;Text style={{&#10;                fontFamily: 'Inter',&#10;                fontSize: 25,&#10;                lineHeight: 1.5,&#10;                color: 'rgba(225,245,238,0.88)',&#10;            }}&gt;&#10;                An assistant that stays responsive while it thinks,&#10;                &lt;br /&gt;&#10;                and recovers cleanly when the plan changes.&#10;            &lt;/Text&gt;&#10;        &lt;/Box&gt;&#10;&#10;        &lt;Box style={{&#10;            flexDirection: 'row',&#10;            gap: 40,&#10;            paddingTop: 26,&#10;            borderTop: '1px solid rgba(225,245,238,0.22)',&#10;        }}&gt;&#10;            &lt;Box style={{ flexDirection: 'column', gap: 7, width: 250 }}&gt;&#10;                &lt;Text style={{ fontFamily: 'JetBrains Mono', fontSize: 13, color: '#97C459', letterSpacing: 1.6 }}&gt;&#10;                    TEAM&#10;                &lt;/Text&gt;&#10;                &lt;Text style={{ fontFamily: 'Inter', fontSize: 19, fontWeight: 600, color: '#FFFFFF' }}&gt;&#10;                    &amp;lt;TeamName&amp;gt;&#10;                &lt;/Text&gt;&#10;            &lt;/Box&gt;&#10;            &lt;Box style={{ flexDirection: 'column', gap: 7, width: 290 }}&gt;&#10;                &lt;Text style={{ fontFamily: 'JetBrains Mono', fontSize: 13, color: '#97C459', letterSpacing: 1.6 }}&gt;&#10;                    COLLEGE&#10;                &lt;/Text&gt;&#10;                &lt;Text style={{ fontFamily: 'Inter', fontSize: 19, fontWeight: 600, color: '#FFFFFF' }}&gt;&#10;                    &amp;lt;CollegeName&amp;gt;&#10;                &lt;/Text&gt;&#10;            &lt;/Box&gt;&#10;            &lt;Box style={{ flexDirection: 'column', gap: 7, flex: 1 }}&gt;&#10;                &lt;Text style={{ fontFamily: 'JetBrains Mono', fontSize: 13, color: '#97C459', letterSpacing: 1.6 }}&gt;&#10;                    MEMBERS&#10;                &lt;/Text&gt;&#10;                &lt;Text style={{ fontFamily: 'Inter', fontSize: 19, fontWeight: 600, color: '#FFFFFF' }}&gt;&#10;                    &amp;lt;Member 1&amp;gt; · &amp;lt;Member 2&amp;gt; · &amp;lt;Member 3&amp;gt; · &amp;lt;Member 4&amp;gt;&#10;                &lt;/Text&gt;&#10;            &lt;/Box&gt;&#10;        &lt;/Box&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gradFill>
            <a:gsLst>
              <a:gs pos="0">
                <a:srgbClr val="04342C"/>
              </a:gs>
              <a:gs pos="100000">
                <a:srgbClr val="0F6E56"/>
              </a:gs>
            </a:gsLst>
            <a:lin ang="3000000" scaled="1"/>
          </a:gradFill>
          <a:ln/>
        </p:spPr>
        <p:txBody>
          <a:bodyPr/>
          <a:p/>
        </p:txBody>
      </p:sp>
      <p:sp>
        <p:nvSpPr>
          <p:cNvPr id="3" name=""/>
          <p:cNvSpPr/>
          <p:nvPr/>
        </p:nvSpPr>
        <p:spPr>
          <a:xfrm rot="0" flipH="0" flipV="0">
            <a:off x="6438900" y="419100"/>
            <a:ext cx="5295900" cy="5295900"/>
          </a:xfrm>
          <a:prstGeom prst="roundRect">
            <a:avLst>
              <a:gd name="adj" fmla="val 50000"/>
            </a:avLst>
          </a:prstGeom>
          <a:ln w="12700">
            <a:solidFill>
              <a:srgbClr val="E1F5EE">
                <a:alpha val="16000"/>
              </a:srgbClr>
            </a:solidFill>
            <a:prstDash val="solid"/>
          </a:ln>
        </p:spPr>
        <p:txBody>
          <a:bodyPr/>
          <a:p/>
        </p:txBody>
      </p:sp>
      <p:sp>
        <p:nvSpPr>
          <p:cNvPr id="4" name=""/>
          <p:cNvSpPr/>
          <p:nvPr/>
        </p:nvSpPr>
        <p:spPr>
          <a:xfrm rot="0" flipH="0" flipV="0">
            <a:off x="7296150" y="1276350"/>
            <a:ext cx="3581400" cy="3581400"/>
          </a:xfrm>
          <a:prstGeom prst="roundRect">
            <a:avLst>
              <a:gd name="adj" fmla="val 50000"/>
            </a:avLst>
          </a:prstGeom>
          <a:ln w="12700">
            <a:solidFill>
              <a:srgbClr val="97C459">
                <a:alpha val="38000"/>
              </a:srgbClr>
            </a:solidFill>
            <a:prstDash val="solid"/>
          </a:ln>
        </p:spPr>
        <p:txBody>
          <a:bodyPr/>
          <a:p/>
        </p:txBody>
      </p:sp>
      <p:sp>
        <p:nvSpPr>
          <p:cNvPr id="5" name=""/>
          <p:cNvSpPr/>
          <p:nvPr/>
        </p:nvSpPr>
        <p:spPr>
          <a:xfrm rot="0" flipH="0" flipV="0">
            <a:off x="7962900" y="1943100"/>
            <a:ext cx="2247900" cy="2247900"/>
          </a:xfrm>
          <a:prstGeom prst="roundRect">
            <a:avLst>
              <a:gd name="adj" fmla="val 50000"/>
            </a:avLst>
          </a:prstGeom>
          <a:solidFill>
            <a:srgbClr val="97C459">
              <a:alpha val="10000"/>
            </a:srgbClr>
          </a:solidFill>
          <a:ln/>
        </p:spPr>
        <p:txBody>
          <a:bodyPr/>
          <a:p/>
        </p:txBody>
      </p:sp>
      <p:sp>
        <p:nvSpPr>
          <p:cNvPr id="6" name=""/>
          <p:cNvSpPr/>
          <p:nvPr/>
        </p:nvSpPr>
        <p:spPr>
          <a:xfrm rot="0" flipH="0" flipV="0">
            <a:off x="8896350" y="3067050"/>
            <a:ext cx="190500" cy="190500"/>
          </a:xfrm>
          <a:prstGeom prst="roundRect">
            <a:avLst>
              <a:gd name="adj" fmla="val 50000"/>
            </a:avLst>
          </a:prstGeom>
          <a:solidFill>
            <a:srgbClr val="97C459"/>
          </a:solidFill>
          <a:ln/>
        </p:spPr>
        <p:txBody>
          <a:bodyPr/>
          <a:p/>
        </p:txBody>
      </p:sp>
      <p:sp>
        <p:nvSpPr>
          <p:cNvPr id="7" name=""/>
          <p:cNvSpPr/>
          <p:nvPr/>
        </p:nvSpPr>
        <p:spPr>
          <a:xfrm rot="0" flipH="0" flipV="0">
            <a:off x="9744075" y="1409700"/>
            <a:ext cx="104775" cy="104775"/>
          </a:xfrm>
          <a:prstGeom prst="roundRect">
            <a:avLst>
              <a:gd name="adj" fmla="val 54545"/>
            </a:avLst>
          </a:prstGeom>
          <a:solidFill>
            <a:srgbClr val="E1F5EE">
              <a:alpha val="58000"/>
            </a:srgbClr>
          </a:solidFill>
          <a:ln/>
        </p:spPr>
        <p:txBody>
          <a:bodyPr/>
          <a:p/>
        </p:txBody>
      </p:sp>
      <p:sp>
        <p:nvSpPr>
          <p:cNvPr id="8" name=""/>
          <p:cNvSpPr/>
          <p:nvPr/>
        </p:nvSpPr>
        <p:spPr>
          <a:xfrm rot="0" flipH="0" flipV="0">
            <a:off x="10944225" y="4038600"/>
            <a:ext cx="123825" cy="123825"/>
          </a:xfrm>
          <a:prstGeom prst="roundRect">
            <a:avLst>
              <a:gd name="adj" fmla="val 53846"/>
            </a:avLst>
          </a:prstGeom>
          <a:solidFill>
            <a:srgbClr val="E1F5EE">
              <a:alpha val="42000"/>
            </a:srgbClr>
          </a:solidFill>
          <a:ln/>
        </p:spPr>
        <p:txBody>
          <a:bodyPr/>
          <a:p/>
        </p:txBody>
      </p:sp>
      <p:sp>
        <p:nvSpPr>
          <p:cNvPr id="9" name=""/>
          <p:cNvSpPr/>
          <p:nvPr/>
        </p:nvSpPr>
        <p:spPr>
          <a:xfrm rot="0" flipH="0" flipV="0">
            <a:off x="685800" y="800100"/>
            <a:ext cx="323850" cy="38100"/>
          </a:xfrm>
          <a:prstGeom prst="rect">
            <a:avLst/>
          </a:prstGeom>
          <a:solidFill>
            <a:srgbClr val="97C459"/>
          </a:solidFill>
          <a:ln/>
        </p:spPr>
        <p:txBody>
          <a:bodyPr/>
          <a:p/>
        </p:txBody>
      </p:sp>
      <p:sp>
        <p:nvSpPr>
          <p:cNvPr id="10" name="" descr="{&quot;isTemplate&quot;:true,&quot;type&quot;:&quot;text&quot;}"/>
          <p:cNvSpPr txBox="1"/>
          <p:nvPr/>
        </p:nvSpPr>
        <p:spPr>
          <a:xfrm rot="0" flipH="0" flipV="0">
            <a:off x="1162050" y="733425"/>
            <a:ext cx="4314825" cy="171450"/>
          </a:xfrm>
          <a:prstGeom prst="rect"/>
        </p:spPr>
        <p:txBody>
          <a:bodyPr wrap="none" lIns="0" tIns="0" rIns="0" bIns="0"/>
          <a:p>
            <a:pPr>
              <a:lnSpc>
                <a:spcPct val="100000"/>
              </a:lnSpc>
            </a:pPr>
            <a:r>
              <a:rPr lang="en-US" sz="1125" spc="180">
                <a:solidFill>
                  <a:srgbClr val="E1F5EE"/>
                </a:solidFill>
                <a:latin typeface="JetBrains Mono"/>
                <a:ea typeface="JetBrains Mono"/>
              </a:rPr>
              <a:t>THEME 05 · INTERRUPTIBLE REAL-TIME AGENTS</a:t>
            </a:r>
            <a:endParaRPr/>
          </a:p>
        </p:txBody>
      </p:sp>
      <p:sp>
        <p:nvSpPr>
          <p:cNvPr id="11" name=""/>
          <p:cNvSpPr/>
          <p:nvPr/>
        </p:nvSpPr>
        <p:spPr>
          <a:xfrm rot="0" flipH="0" flipV="0">
            <a:off x="8591550" y="647700"/>
            <a:ext cx="2914650" cy="333375"/>
          </a:xfrm>
          <a:prstGeom prst="roundRect">
            <a:avLst>
              <a:gd name="adj" fmla="val 11429"/>
            </a:avLst>
          </a:prstGeom>
          <a:solidFill>
            <a:srgbClr val="04342C">
              <a:alpha val="35000"/>
            </a:srgbClr>
          </a:solidFill>
          <a:ln w="12700">
            <a:solidFill>
              <a:srgbClr val="97C459">
                <a:alpha val="55000"/>
              </a:srgbClr>
            </a:solidFill>
            <a:prstDash val="solid"/>
          </a:ln>
        </p:spPr>
        <p:txBody>
          <a:bodyPr/>
          <a:p/>
        </p:txBody>
      </p:sp>
      <p:sp>
        <p:nvSpPr>
          <p:cNvPr id="12" name="" descr="{&quot;isTemplate&quot;:true,&quot;type&quot;:&quot;text&quot;}"/>
          <p:cNvSpPr txBox="1"/>
          <p:nvPr/>
        </p:nvSpPr>
        <p:spPr>
          <a:xfrm rot="0" flipH="0" flipV="0">
            <a:off x="8763000" y="733425"/>
            <a:ext cx="2571750" cy="161925"/>
          </a:xfrm>
          <a:prstGeom prst="rect"/>
        </p:spPr>
        <p:txBody>
          <a:bodyPr wrap="none" lIns="0" tIns="0" rIns="0" bIns="0"/>
          <a:p>
            <a:pPr>
              <a:lnSpc>
                <a:spcPct val="100000"/>
              </a:lnSpc>
            </a:pPr>
            <a:r>
              <a:rPr lang="en-US" sz="1050" spc="83">
                <a:solidFill>
                  <a:srgbClr val="97C459"/>
                </a:solidFill>
                <a:latin typeface="JetBrains Mono"/>
                <a:ea typeface="JetBrains Mono"/>
              </a:rPr>
              <a:t>PRISM_GENAI_HACKATHON_Y2026</a:t>
            </a:r>
            <a:endParaRPr/>
          </a:p>
        </p:txBody>
      </p:sp>
      <p:sp>
        <p:nvSpPr>
          <p:cNvPr id="13" name="" descr="{&quot;isTemplate&quot;:true,&quot;type&quot;:&quot;text&quot;}"/>
          <p:cNvSpPr txBox="1"/>
          <p:nvPr/>
        </p:nvSpPr>
        <p:spPr>
          <a:xfrm rot="0" flipH="0" flipV="0">
            <a:off x="685800" y="2181225"/>
            <a:ext cx="6858000" cy="962025"/>
          </a:xfrm>
          <a:prstGeom prst="rect"/>
        </p:spPr>
        <p:txBody>
          <a:bodyPr wrap="none" lIns="0" tIns="0" rIns="0" bIns="0"/>
          <a:p>
            <a:pPr>
              <a:lnSpc>
                <a:spcPct val="110000"/>
              </a:lnSpc>
            </a:pPr>
            <a:r>
              <a:rPr lang="en-US" sz="5700" b="1">
                <a:solidFill>
                  <a:srgbClr val="FFFFFF"/>
                </a:solidFill>
                <a:latin typeface="Inter"/>
                <a:ea typeface="Inter"/>
              </a:rPr>
              <a:t>Talent Atlas</a:t>
            </a:r>
            <a:endParaRPr/>
          </a:p>
        </p:txBody>
      </p:sp>
      <p:sp>
        <p:nvSpPr>
          <p:cNvPr id="14" name=""/>
          <p:cNvSpPr/>
          <p:nvPr/>
        </p:nvSpPr>
        <p:spPr>
          <a:xfrm rot="0" flipH="0" flipV="0">
            <a:off x="685800" y="3352800"/>
            <a:ext cx="914400" cy="47625"/>
          </a:xfrm>
          <a:prstGeom prst="rect">
            <a:avLst/>
          </a:prstGeom>
          <a:solidFill>
            <a:srgbClr val="97C459"/>
          </a:solidFill>
          <a:ln/>
        </p:spPr>
        <p:txBody>
          <a:bodyPr/>
          <a:p/>
        </p:txBody>
      </p:sp>
      <p:sp>
        <p:nvSpPr>
          <p:cNvPr id="15" name="" descr="{&quot;isTemplate&quot;:true,&quot;type&quot;:&quot;text&quot;}"/>
          <p:cNvSpPr txBox="1"/>
          <p:nvPr/>
        </p:nvSpPr>
        <p:spPr>
          <a:xfrm rot="0" flipH="0" flipV="0">
            <a:off x="685800" y="3609975"/>
            <a:ext cx="6858000" cy="857250"/>
          </a:xfrm>
          <a:prstGeom prst="rect"/>
        </p:spPr>
        <p:txBody>
          <a:bodyPr wrap="none" lIns="0" tIns="0" rIns="0" bIns="0"/>
          <a:p>
            <a:pPr>
              <a:lnSpc>
                <a:spcPct val="150000"/>
              </a:lnSpc>
            </a:pPr>
            <a:r>
              <a:rPr lang="en-US" sz="1875">
                <a:solidFill>
                  <a:srgbClr val="E1F5EE">
                    <a:alpha val="88000"/>
                  </a:srgbClr>
                </a:solidFill>
                <a:latin typeface="Inter"/>
                <a:ea typeface="Inter"/>
              </a:rPr>
              <a:t>An assistant that stays responsive while it thinks,</a:t>
            </a:r>
            <a:endParaRPr/>
          </a:p>
          <a:p>
            <a:pPr>
              <a:lnSpc>
                <a:spcPct val="150000"/>
              </a:lnSpc>
            </a:pPr>
            <a:r>
              <a:rPr lang="en-US" sz="1875">
                <a:solidFill>
                  <a:srgbClr val="E1F5EE">
                    <a:alpha val="88000"/>
                  </a:srgbClr>
                </a:solidFill>
                <a:latin typeface="Inter"/>
                <a:ea typeface="Inter"/>
              </a:rPr>
              <a:t>and recovers cleanly when the plan changes.</a:t>
            </a:r>
            <a:endParaRPr/>
          </a:p>
        </p:txBody>
      </p:sp>
      <p:sp>
        <p:nvSpPr>
          <p:cNvPr id="16" name=""/>
          <p:cNvSpPr/>
          <p:nvPr/>
        </p:nvSpPr>
        <p:spPr>
          <a:xfrm rot="0" flipH="0" flipV="0">
            <a:off x="685800" y="5667375"/>
            <a:ext cx="10820400" cy="704850"/>
          </a:xfrm>
          <a:custGeom>
            <a:pathLst>
              <a:path w="1136" h="74">
                <a:moveTo>
                  <a:pt x="0" y="0"/>
                </a:moveTo>
                <a:lnTo>
                  <a:pt x="1136" y="0"/>
                </a:lnTo>
                <a:lnTo>
                  <a:pt x="1136" y="1"/>
                </a:lnTo>
                <a:lnTo>
                  <a:pt x="0" y="1"/>
                </a:lnTo>
                <a:close/>
              </a:path>
            </a:pathLst>
          </a:custGeom>
          <a:solidFill>
            <a:srgbClr val="E1F5EE">
              <a:alpha val="22000"/>
            </a:srgbClr>
          </a:solidFill>
          <a:ln/>
        </p:spPr>
        <p:txBody>
          <a:bodyPr/>
          <a:p/>
        </p:txBody>
      </p:sp>
      <p:sp>
        <p:nvSpPr>
          <p:cNvPr id="17" name="" descr="{&quot;isTemplate&quot;:true,&quot;type&quot;:&quot;text&quot;}"/>
          <p:cNvSpPr txBox="1"/>
          <p:nvPr/>
        </p:nvSpPr>
        <p:spPr>
          <a:xfrm rot="0" flipH="0" flipV="0">
            <a:off x="685800" y="5924550"/>
            <a:ext cx="2381250" cy="152400"/>
          </a:xfrm>
          <a:prstGeom prst="rect"/>
        </p:spPr>
        <p:txBody>
          <a:bodyPr wrap="none" lIns="0" tIns="0" rIns="0" bIns="0"/>
          <a:p>
            <a:pPr>
              <a:lnSpc>
                <a:spcPct val="100000"/>
              </a:lnSpc>
            </a:pPr>
            <a:r>
              <a:rPr lang="en-US" sz="975" spc="120">
                <a:solidFill>
                  <a:srgbClr val="97C459"/>
                </a:solidFill>
                <a:latin typeface="JetBrains Mono"/>
                <a:ea typeface="JetBrains Mono"/>
              </a:rPr>
              <a:t>TEAM</a:t>
            </a:r>
            <a:endParaRPr/>
          </a:p>
        </p:txBody>
      </p:sp>
      <p:sp>
        <p:nvSpPr>
          <p:cNvPr id="18" name="" descr="{&quot;isTemplate&quot;:true,&quot;type&quot;:&quot;text&quot;}"/>
          <p:cNvSpPr txBox="1"/>
          <p:nvPr/>
        </p:nvSpPr>
        <p:spPr>
          <a:xfrm rot="0" flipH="0" flipV="0">
            <a:off x="685800" y="6143625"/>
            <a:ext cx="2381250" cy="219075"/>
          </a:xfrm>
          <a:prstGeom prst="rect"/>
        </p:spPr>
        <p:txBody>
          <a:bodyPr wrap="none" lIns="0" tIns="0" rIns="0" bIns="0"/>
          <a:p>
            <a:pPr>
              <a:lnSpc>
                <a:spcPct val="100000"/>
              </a:lnSpc>
            </a:pPr>
            <a:r>
              <a:rPr lang="en-US" sz="1425" b="1">
                <a:solidFill>
                  <a:srgbClr val="FFFFFF"/>
                </a:solidFill>
                <a:latin typeface="Inter"/>
                <a:ea typeface="Inter"/>
              </a:rPr>
              <a:t>&lt;TeamName&gt;</a:t>
            </a:r>
            <a:endParaRPr/>
          </a:p>
        </p:txBody>
      </p:sp>
      <p:sp>
        <p:nvSpPr>
          <p:cNvPr id="19" name="" descr="{&quot;isTemplate&quot;:true,&quot;type&quot;:&quot;text&quot;}"/>
          <p:cNvSpPr txBox="1"/>
          <p:nvPr/>
        </p:nvSpPr>
        <p:spPr>
          <a:xfrm rot="0" flipH="0" flipV="0">
            <a:off x="3448050" y="5924550"/>
            <a:ext cx="2762250" cy="152400"/>
          </a:xfrm>
          <a:prstGeom prst="rect"/>
        </p:spPr>
        <p:txBody>
          <a:bodyPr wrap="none" lIns="0" tIns="0" rIns="0" bIns="0"/>
          <a:p>
            <a:pPr>
              <a:lnSpc>
                <a:spcPct val="100000"/>
              </a:lnSpc>
            </a:pPr>
            <a:r>
              <a:rPr lang="en-US" sz="975" spc="120">
                <a:solidFill>
                  <a:srgbClr val="97C459"/>
                </a:solidFill>
                <a:latin typeface="JetBrains Mono"/>
                <a:ea typeface="JetBrains Mono"/>
              </a:rPr>
              <a:t>COLLEGE</a:t>
            </a:r>
            <a:endParaRPr/>
          </a:p>
        </p:txBody>
      </p:sp>
      <p:sp>
        <p:nvSpPr>
          <p:cNvPr id="20" name="" descr="{&quot;isTemplate&quot;:true,&quot;type&quot;:&quot;text&quot;}"/>
          <p:cNvSpPr txBox="1"/>
          <p:nvPr/>
        </p:nvSpPr>
        <p:spPr>
          <a:xfrm rot="0" flipH="0" flipV="0">
            <a:off x="3448050" y="6143625"/>
            <a:ext cx="2762250" cy="219075"/>
          </a:xfrm>
          <a:prstGeom prst="rect"/>
        </p:spPr>
        <p:txBody>
          <a:bodyPr wrap="none" lIns="0" tIns="0" rIns="0" bIns="0"/>
          <a:p>
            <a:pPr>
              <a:lnSpc>
                <a:spcPct val="100000"/>
              </a:lnSpc>
            </a:pPr>
            <a:r>
              <a:rPr lang="en-US" sz="1425" b="1">
                <a:solidFill>
                  <a:srgbClr val="FFFFFF"/>
                </a:solidFill>
                <a:latin typeface="Inter"/>
                <a:ea typeface="Inter"/>
              </a:rPr>
              <a:t>&lt;CollegeName&gt;</a:t>
            </a:r>
            <a:endParaRPr/>
          </a:p>
        </p:txBody>
      </p:sp>
      <p:sp>
        <p:nvSpPr>
          <p:cNvPr id="21" name="" descr="{&quot;isTemplate&quot;:true,&quot;type&quot;:&quot;text&quot;}"/>
          <p:cNvSpPr txBox="1"/>
          <p:nvPr/>
        </p:nvSpPr>
        <p:spPr>
          <a:xfrm rot="0" flipH="0" flipV="0">
            <a:off x="6591300" y="5924550"/>
            <a:ext cx="4914900" cy="152400"/>
          </a:xfrm>
          <a:prstGeom prst="rect"/>
        </p:spPr>
        <p:txBody>
          <a:bodyPr wrap="none" lIns="0" tIns="0" rIns="0" bIns="0"/>
          <a:p>
            <a:pPr>
              <a:lnSpc>
                <a:spcPct val="100000"/>
              </a:lnSpc>
            </a:pPr>
            <a:r>
              <a:rPr lang="en-US" sz="975" spc="120">
                <a:solidFill>
                  <a:srgbClr val="97C459"/>
                </a:solidFill>
                <a:latin typeface="JetBrains Mono"/>
                <a:ea typeface="JetBrains Mono"/>
              </a:rPr>
              <a:t>MEMBERS</a:t>
            </a:r>
            <a:endParaRPr/>
          </a:p>
        </p:txBody>
      </p:sp>
      <p:sp>
        <p:nvSpPr>
          <p:cNvPr id="22" name="" descr="{&quot;isTemplate&quot;:true,&quot;type&quot;:&quot;text&quot;}"/>
          <p:cNvSpPr txBox="1"/>
          <p:nvPr/>
        </p:nvSpPr>
        <p:spPr>
          <a:xfrm rot="0" flipH="0" flipV="0">
            <a:off x="6591300" y="6143625"/>
            <a:ext cx="4914900" cy="219075"/>
          </a:xfrm>
          <a:prstGeom prst="rect"/>
        </p:spPr>
        <p:txBody>
          <a:bodyPr wrap="none" lIns="0" tIns="0" rIns="0" bIns="0"/>
          <a:p>
            <a:pPr>
              <a:lnSpc>
                <a:spcPct val="100000"/>
              </a:lnSpc>
            </a:pPr>
            <a:r>
              <a:rPr lang="en-US" sz="1425" b="1">
                <a:solidFill>
                  <a:srgbClr val="FFFFFF"/>
                </a:solidFill>
                <a:latin typeface="Inter"/>
                <a:ea typeface="Inter"/>
              </a:rPr>
              <a:t>&lt;Member 1&gt; · &lt;Member 2&gt; · &lt;Member 3&gt; · &lt;Member 4&gt;</a:t>
            </a:r>
            <a:endParaRPr/>
          </a:p>
        </p:txBody>
      </p:sp>
    </p:spTree>
  </p:cSld>
</p:sld>
</file>

<file path=ppt/slides/slide2.xml><?xml version="1.0" encoding="utf-8"?>
<p:sld xmlns:a="http://schemas.openxmlformats.org/drawingml/2006/main" xmlns:p="http://schemas.openxmlformats.org/presentationml/2006/main">
  <p:cSld>
    <p:spTree>
      <p:nvGrpSpPr>
        <p:cNvPr id="138"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The problem, in our own words&#10;            &lt;/Text&gt;&#10;        &lt;/Box&gt;&#10;&#10;        &lt;Box style={{ height: 540, flexDirection: 'row', gap: 44 }}&gt;&#10;            &lt;Box style={{ width: 655, flexDirection: 'column', gap: 18 }}&gt;&#10;                &lt;Text style={{&#10;                    fontFamily: 'JetBrains Mono',&#10;                    fontSize: 14,&#10;                    color: '#6B7280',&#10;                    letterSpacing: 1.8,&#10;                }}&gt;&#10;                    WHAT THE BRIEF ASKS FOR&#10;                &lt;/Text&gt;&#10;&#10;                &lt;Box style={{ flexDirection: 'row', gap: 18, alignItems: 'flex-start' }}&gt;&#10;                    &lt;Text style={{ fontFamily: 'JetBrains Mono', fontSize: 17, color: '#97C459', width: 26 }}&gt;&#10;                        01&#10;                    &lt;/Text&gt;&#10;                    &lt;Text style={{ fontFamily: 'Inter', fontSize: 19, lineHeight: 1.55, color: '#0B1F1A', flex: 1 }}&gt;&#10;                        Keep the user entertained and the conversation alive,&#10;                        &lt;span style={{ color: '#6B7280' }}&gt; without losing logical depth or core functionality&lt;/span&gt;&#10;                    &lt;/Text&gt;&#10;                &lt;/Box&gt;&#10;&#10;                &lt;Box style={{ flexDirection: 'row', gap: 18, alignItems: 'flex-start' }}&gt;&#10;                    &lt;Text style={{ fontFamily: 'JetBrains Mono', fontSize: 17, color: '#97C459', width: 26 }}&gt;&#10;                        02&#10;                    &lt;/Text&gt;&#10;                    &lt;Text style={{ fontFamily: 'Inter', fontSize: 19, lineHeight: 1.55, color: '#0B1F1A', flex: 1 }}&gt;&#10;                        Handle and recover from real-time interruptions,&#10;                        &lt;span style={{ color: '#6B7280' }}&gt; while still driving the conversation toward the end goal&lt;/span&gt;&#10;                    &lt;/Text&gt;&#10;                &lt;/Box&gt;&#10;&#10;                &lt;Box style={{ flexDirection: 'row', gap: 18, alignItems: 'flex-start' }}&gt;&#10;                    &lt;Text style={{ fontFamily: 'JetBrains Mono', fontSize: 17, color: '#97C459', width: 26 }}&gt;&#10;                        03&#10;                    &lt;/Text&gt;&#10;                    &lt;Text style={{ fontFamily: 'Inter', fontSize: 19, lineHeight: 1.55, color: '#0B1F1A', flex: 1 }}&gt;&#10;                        Cater to changes in goals,&#10;                        &lt;span style={{ color: '#6B7280' }}&gt; without losing the relevant session context&lt;/span&gt;&#10;                    &lt;/Text&gt;&#10;                &lt;/Box&gt;&#10;&#10;                &lt;Box style={{ flexDirection: 'row', gap: 18, alignItems: 'flex-start' }}&gt;&#10;                    &lt;Text style={{ fontFamily: 'JetBrains Mono', fontSize: 17, color: '#97C459', width: 26 }}&gt;&#10;                        04&#10;                    &lt;/Text&gt;&#10;                    &lt;Text style={{ fontFamily: 'Inter', fontSize: 19, lineHeight: 1.55, color: '#0B1F1A', flex: 1 }}&gt;&#10;                        Build a solid harness around the agent,&#10;                        &lt;span style={{ color: '#6B7280' }}&gt; safe and reliable enough to trust with state&lt;/span&gt;&#10;                    &lt;/Text&gt;&#10;                &lt;/Box&gt;&#10;&#10;                &lt;Box style={{ height: 2, background: '#E1F5EE', marginTop: 6 }} /&gt;&#10;&#10;                &lt;Text style={{ fontFamily: 'Inter', fontSize: 18, lineHeight: 1.55, color: '#0F6E56', fontWeight: 600 }}&gt;&#10;                    Read together, those are not four features. They are one requirement — and stating it that way is what made the work testable.&#10;                &lt;/Text&gt;&#10;            &lt;/Box&gt;&#10;&#10;            &lt;Box style={{&#10;                width: 437,&#10;                flexDirection: 'column',&#10;                background: 'linear-gradient(180deg, #E1F5EE 0%, #FFFFFF 100%)',&#10;                borderLeft: '6px solid #97C459',&#10;                padding: '30px 30px 26px 30px',&#10;            }}&gt;&#10;                &lt;Text style={{&#10;                    fontFamily: 'JetBrains Mono',&#10;                    fontSize: 14,&#10;                    color: '#0F6E56',&#10;                    letterSpacing: 1.8,&#10;                }}&gt;&#10;                    THE ONE REQUIREMENT&#10;                &lt;/Text&gt;&#10;&#10;                &lt;Text style={{&#10;                    fontFamily: 'Inter',&#10;                    fontSize: 23,&#10;                    fontWeight: 'bold',&#10;                    lineHeight: 1.5,&#10;                    color: '#04342C',&#10;                    marginTop: 22,&#10;                }}&gt;&#10;                    At any instant the system must state what it is doing, what it believes, and which of its in-flight actions are still valid — and it must never say something it cannot yet back with evidence.&#10;                &lt;/Text&gt;&#10;&#10;                &lt;Box style={{ marginTop: 'auto', paddingTop: 22 }}&gt;&#10;                    &lt;Box style={{ height: 1, background: 'rgba(15,110,86,0.25)', marginBottom: 18 }} /&gt;&#10;                    &lt;Text style={{ fontFamily: 'Inter', fontSize: 17, lineHeight: 1.6, color: '#0B1F1A' }}&gt;&#10;                        &lt;span style={{ color: '#6B7280' }}&gt;“Be interruptible” is not testable.&lt;/span&gt;&#10;                        &lt;br /&gt;&#10;                        &lt;span style={{ fontFamily: 'JetBrains Mono', fontSize: 15, color: '#0F6E56' }}&gt;&#10;                            “Publish a snapshot on every event, and prove a revision cancels only the work it invalidated”&#10;                        &lt;/span&gt;&#10;                        &lt;span style={{ color: '#6B7280' }}&gt; is.&lt;/span&gt;&#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2 / 12&#10;            &lt;/Text&gt;&#10;        &lt;/Box&gt;&#10;    &lt;/Box&gt;&#10;&lt;/Slide&gt;&#10;"/>
        <p:cNvGrpSpPr/>
        <p:nvPr/>
      </p:nvGrpSpPr>
      <p:grpSpPr>
        <a:xfrm>
          <a:off x="0" y="0"/>
          <a:ext cx="0" cy="0"/>
          <a:chOff x="0" y="0"/>
          <a:chExt cx="0" cy="0"/>
        </a:xfrm>
      </p:grpSpPr>
      <p:sp>
        <p:nvSpPr>
          <p:cNvPr id="139" name=""/>
          <p:cNvSpPr/>
          <p:nvPr/>
        </p:nvSpPr>
        <p:spPr>
          <a:xfrm rot="0" flipH="0" flipV="0">
            <a:off x="0" y="0"/>
            <a:ext cx="12192000" cy="6858000"/>
          </a:xfrm>
          <a:prstGeom prst="rect">
            <a:avLst/>
          </a:prstGeom>
          <a:solidFill>
            <a:srgbClr val="FFFFFF"/>
          </a:solidFill>
          <a:ln/>
        </p:spPr>
        <p:txBody>
          <a:bodyPr/>
          <a:p/>
        </p:txBody>
      </p:sp>
      <p:sp>
        <p:nvSpPr>
          <p:cNvPr id="140" name=""/>
          <p:cNvSpPr/>
          <p:nvPr/>
        </p:nvSpPr>
        <p:spPr>
          <a:xfrm rot="0" flipH="0" flipV="0">
            <a:off x="685800" y="409575"/>
            <a:ext cx="533400" cy="57150"/>
          </a:xfrm>
          <a:prstGeom prst="rect">
            <a:avLst/>
          </a:prstGeom>
          <a:solidFill>
            <a:srgbClr val="97C459"/>
          </a:solidFill>
          <a:ln/>
        </p:spPr>
        <p:txBody>
          <a:bodyPr/>
          <a:p/>
        </p:txBody>
      </p:sp>
      <p:sp>
        <p:nvSpPr>
          <p:cNvPr id="141"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The problem, in our own words</a:t>
            </a:r>
            <a:endParaRPr/>
          </a:p>
        </p:txBody>
      </p:sp>
      <p:sp>
        <p:nvSpPr>
          <p:cNvPr id="142" name="" descr="{&quot;isTemplate&quot;:true,&quot;type&quot;:&quot;text&quot;}"/>
          <p:cNvSpPr txBox="1"/>
          <p:nvPr/>
        </p:nvSpPr>
        <p:spPr>
          <a:xfrm rot="0" flipH="0" flipV="0">
            <a:off x="685800" y="1143000"/>
            <a:ext cx="6238875" cy="161925"/>
          </a:xfrm>
          <a:prstGeom prst="rect"/>
        </p:spPr>
        <p:txBody>
          <a:bodyPr wrap="none" lIns="0" tIns="0" rIns="0" bIns="0"/>
          <a:p>
            <a:pPr>
              <a:lnSpc>
                <a:spcPct val="100000"/>
              </a:lnSpc>
            </a:pPr>
            <a:r>
              <a:rPr lang="en-US" sz="1050" spc="135">
                <a:solidFill>
                  <a:srgbClr val="6B7280"/>
                </a:solidFill>
                <a:latin typeface="JetBrains Mono"/>
                <a:ea typeface="JetBrains Mono"/>
              </a:rPr>
              <a:t>WHAT THE BRIEF ASKS FOR</a:t>
            </a:r>
            <a:endParaRPr/>
          </a:p>
        </p:txBody>
      </p:sp>
      <p:sp>
        <p:nvSpPr>
          <p:cNvPr id="143" name="" descr="{&quot;isTemplate&quot;:true,&quot;type&quot;:&quot;text&quot;}"/>
          <p:cNvSpPr txBox="1"/>
          <p:nvPr/>
        </p:nvSpPr>
        <p:spPr>
          <a:xfrm rot="0" flipH="0" flipV="0">
            <a:off x="685800" y="1476375"/>
            <a:ext cx="247650" cy="200025"/>
          </a:xfrm>
          <a:prstGeom prst="rect"/>
        </p:spPr>
        <p:txBody>
          <a:bodyPr wrap="none" lIns="0" tIns="0" rIns="0" bIns="0"/>
          <a:p>
            <a:pPr>
              <a:lnSpc>
                <a:spcPct val="100000"/>
              </a:lnSpc>
            </a:pPr>
            <a:r>
              <a:rPr lang="en-US" sz="1275">
                <a:solidFill>
                  <a:srgbClr val="97C459"/>
                </a:solidFill>
                <a:latin typeface="JetBrains Mono"/>
                <a:ea typeface="JetBrains Mono"/>
              </a:rPr>
              <a:t>01</a:t>
            </a:r>
            <a:endParaRPr/>
          </a:p>
        </p:txBody>
      </p:sp>
      <p:sp>
        <p:nvSpPr>
          <p:cNvPr id="144" name="" descr="{&quot;isTemplate&quot;:true,&quot;type&quot;:&quot;text&quot;}"/>
          <p:cNvSpPr txBox="1"/>
          <p:nvPr/>
        </p:nvSpPr>
        <p:spPr>
          <a:xfrm rot="0" flipH="0" flipV="0">
            <a:off x="1104900" y="1476375"/>
            <a:ext cx="5819775" cy="676275"/>
          </a:xfrm>
          <a:prstGeom prst="rect"/>
        </p:spPr>
        <p:txBody>
          <a:bodyPr wrap="square" lIns="0" tIns="0" rIns="0" bIns="0">
            <a:normAutofit/>
          </a:bodyPr>
          <a:p>
            <a:pPr>
              <a:lnSpc>
                <a:spcPct val="155000"/>
              </a:lnSpc>
            </a:pPr>
            <a:r>
              <a:rPr lang="en-US" sz="1425">
                <a:solidFill>
                  <a:srgbClr val="0B1F1A"/>
                </a:solidFill>
                <a:latin typeface="Inter"/>
                <a:ea typeface="Inter"/>
              </a:rPr>
              <a:t>Keep the user entertained and the conversation alive,</a:t>
            </a:r>
            <a:r>
              <a:rPr lang="en-US" sz="1425">
                <a:solidFill>
                  <a:srgbClr val="6B7280"/>
                </a:solidFill>
                <a:latin typeface="Inter"/>
                <a:ea typeface="Inter"/>
              </a:rPr>
              <a:t> without losing logical depth or core functionality</a:t>
            </a:r>
            <a:endParaRPr/>
          </a:p>
        </p:txBody>
      </p:sp>
      <p:sp>
        <p:nvSpPr>
          <p:cNvPr id="145" name="" descr="{&quot;isTemplate&quot;:true,&quot;type&quot;:&quot;text&quot;}"/>
          <p:cNvSpPr txBox="1"/>
          <p:nvPr/>
        </p:nvSpPr>
        <p:spPr>
          <a:xfrm rot="0" flipH="0" flipV="0">
            <a:off x="685800" y="2324100"/>
            <a:ext cx="247650" cy="200025"/>
          </a:xfrm>
          <a:prstGeom prst="rect"/>
        </p:spPr>
        <p:txBody>
          <a:bodyPr wrap="none" lIns="0" tIns="0" rIns="0" bIns="0"/>
          <a:p>
            <a:pPr>
              <a:lnSpc>
                <a:spcPct val="100000"/>
              </a:lnSpc>
            </a:pPr>
            <a:r>
              <a:rPr lang="en-US" sz="1275">
                <a:solidFill>
                  <a:srgbClr val="97C459"/>
                </a:solidFill>
                <a:latin typeface="JetBrains Mono"/>
                <a:ea typeface="JetBrains Mono"/>
              </a:rPr>
              <a:t>02</a:t>
            </a:r>
            <a:endParaRPr/>
          </a:p>
        </p:txBody>
      </p:sp>
      <p:sp>
        <p:nvSpPr>
          <p:cNvPr id="146" name="" descr="{&quot;isTemplate&quot;:true,&quot;type&quot;:&quot;text&quot;}"/>
          <p:cNvSpPr txBox="1"/>
          <p:nvPr/>
        </p:nvSpPr>
        <p:spPr>
          <a:xfrm rot="0" flipH="0" flipV="0">
            <a:off x="1104900" y="2324100"/>
            <a:ext cx="5819775" cy="676275"/>
          </a:xfrm>
          <a:prstGeom prst="rect"/>
        </p:spPr>
        <p:txBody>
          <a:bodyPr wrap="square" lIns="0" tIns="0" rIns="0" bIns="0">
            <a:normAutofit/>
          </a:bodyPr>
          <a:p>
            <a:pPr>
              <a:lnSpc>
                <a:spcPct val="155000"/>
              </a:lnSpc>
            </a:pPr>
            <a:r>
              <a:rPr lang="en-US" sz="1425">
                <a:solidFill>
                  <a:srgbClr val="0B1F1A"/>
                </a:solidFill>
                <a:latin typeface="Inter"/>
                <a:ea typeface="Inter"/>
              </a:rPr>
              <a:t>Handle and recover from real-time interruptions,</a:t>
            </a:r>
            <a:r>
              <a:rPr lang="en-US" sz="1425">
                <a:solidFill>
                  <a:srgbClr val="6B7280"/>
                </a:solidFill>
                <a:latin typeface="Inter"/>
                <a:ea typeface="Inter"/>
              </a:rPr>
              <a:t> while still driving the conversation toward the end goal</a:t>
            </a:r>
            <a:endParaRPr/>
          </a:p>
        </p:txBody>
      </p:sp>
      <p:sp>
        <p:nvSpPr>
          <p:cNvPr id="147" name="" descr="{&quot;isTemplate&quot;:true,&quot;type&quot;:&quot;text&quot;}"/>
          <p:cNvSpPr txBox="1"/>
          <p:nvPr/>
        </p:nvSpPr>
        <p:spPr>
          <a:xfrm rot="0" flipH="0" flipV="0">
            <a:off x="685800" y="3171825"/>
            <a:ext cx="247650" cy="200025"/>
          </a:xfrm>
          <a:prstGeom prst="rect"/>
        </p:spPr>
        <p:txBody>
          <a:bodyPr wrap="none" lIns="0" tIns="0" rIns="0" bIns="0"/>
          <a:p>
            <a:pPr>
              <a:lnSpc>
                <a:spcPct val="100000"/>
              </a:lnSpc>
            </a:pPr>
            <a:r>
              <a:rPr lang="en-US" sz="1275">
                <a:solidFill>
                  <a:srgbClr val="97C459"/>
                </a:solidFill>
                <a:latin typeface="JetBrains Mono"/>
                <a:ea typeface="JetBrains Mono"/>
              </a:rPr>
              <a:t>03</a:t>
            </a:r>
            <a:endParaRPr/>
          </a:p>
        </p:txBody>
      </p:sp>
      <p:sp>
        <p:nvSpPr>
          <p:cNvPr id="148" name="" descr="{&quot;isTemplate&quot;:true,&quot;type&quot;:&quot;text&quot;}"/>
          <p:cNvSpPr txBox="1"/>
          <p:nvPr/>
        </p:nvSpPr>
        <p:spPr>
          <a:xfrm rot="0" flipH="0" flipV="0">
            <a:off x="1104900" y="3171825"/>
            <a:ext cx="5819775" cy="342900"/>
          </a:xfrm>
          <a:prstGeom prst="rect"/>
        </p:spPr>
        <p:txBody>
          <a:bodyPr wrap="none" lIns="0" tIns="0" rIns="0" bIns="0"/>
          <a:p>
            <a:pPr>
              <a:lnSpc>
                <a:spcPct val="155000"/>
              </a:lnSpc>
            </a:pPr>
            <a:r>
              <a:rPr lang="en-US" sz="1425">
                <a:solidFill>
                  <a:srgbClr val="0B1F1A"/>
                </a:solidFill>
                <a:latin typeface="Inter"/>
                <a:ea typeface="Inter"/>
              </a:rPr>
              <a:t>Cater to changes in goals,</a:t>
            </a:r>
            <a:r>
              <a:rPr lang="en-US" sz="1425">
                <a:solidFill>
                  <a:srgbClr val="6B7280"/>
                </a:solidFill>
                <a:latin typeface="Inter"/>
                <a:ea typeface="Inter"/>
              </a:rPr>
              <a:t> without losing the relevant session context</a:t>
            </a:r>
            <a:endParaRPr/>
          </a:p>
        </p:txBody>
      </p:sp>
      <p:sp>
        <p:nvSpPr>
          <p:cNvPr id="149" name="" descr="{&quot;isTemplate&quot;:true,&quot;type&quot;:&quot;text&quot;}"/>
          <p:cNvSpPr txBox="1"/>
          <p:nvPr/>
        </p:nvSpPr>
        <p:spPr>
          <a:xfrm rot="0" flipH="0" flipV="0">
            <a:off x="685800" y="3686175"/>
            <a:ext cx="247650" cy="200025"/>
          </a:xfrm>
          <a:prstGeom prst="rect"/>
        </p:spPr>
        <p:txBody>
          <a:bodyPr wrap="none" lIns="0" tIns="0" rIns="0" bIns="0"/>
          <a:p>
            <a:pPr>
              <a:lnSpc>
                <a:spcPct val="100000"/>
              </a:lnSpc>
            </a:pPr>
            <a:r>
              <a:rPr lang="en-US" sz="1275">
                <a:solidFill>
                  <a:srgbClr val="97C459"/>
                </a:solidFill>
                <a:latin typeface="JetBrains Mono"/>
                <a:ea typeface="JetBrains Mono"/>
              </a:rPr>
              <a:t>04</a:t>
            </a:r>
            <a:endParaRPr/>
          </a:p>
        </p:txBody>
      </p:sp>
      <p:sp>
        <p:nvSpPr>
          <p:cNvPr id="150" name="" descr="{&quot;isTemplate&quot;:true,&quot;type&quot;:&quot;text&quot;}"/>
          <p:cNvSpPr txBox="1"/>
          <p:nvPr/>
        </p:nvSpPr>
        <p:spPr>
          <a:xfrm rot="0" flipH="0" flipV="0">
            <a:off x="1104900" y="3686175"/>
            <a:ext cx="5819775" cy="676275"/>
          </a:xfrm>
          <a:prstGeom prst="rect"/>
        </p:spPr>
        <p:txBody>
          <a:bodyPr wrap="square" lIns="0" tIns="0" rIns="0" bIns="0">
            <a:normAutofit/>
          </a:bodyPr>
          <a:p>
            <a:pPr>
              <a:lnSpc>
                <a:spcPct val="155000"/>
              </a:lnSpc>
            </a:pPr>
            <a:r>
              <a:rPr lang="en-US" sz="1425">
                <a:solidFill>
                  <a:srgbClr val="0B1F1A"/>
                </a:solidFill>
                <a:latin typeface="Inter"/>
                <a:ea typeface="Inter"/>
              </a:rPr>
              <a:t>Build a solid harness around the agent,</a:t>
            </a:r>
            <a:r>
              <a:rPr lang="en-US" sz="1425">
                <a:solidFill>
                  <a:srgbClr val="6B7280"/>
                </a:solidFill>
                <a:latin typeface="Inter"/>
                <a:ea typeface="Inter"/>
              </a:rPr>
              <a:t> safe and reliable enough to trust with state</a:t>
            </a:r>
            <a:endParaRPr/>
          </a:p>
        </p:txBody>
      </p:sp>
      <p:sp>
        <p:nvSpPr>
          <p:cNvPr id="151" name=""/>
          <p:cNvSpPr/>
          <p:nvPr/>
        </p:nvSpPr>
        <p:spPr>
          <a:xfrm rot="0" flipH="0" flipV="0">
            <a:off x="685800" y="4591050"/>
            <a:ext cx="6238875" cy="19050"/>
          </a:xfrm>
          <a:prstGeom prst="rect">
            <a:avLst/>
          </a:prstGeom>
          <a:solidFill>
            <a:srgbClr val="E1F5EE"/>
          </a:solidFill>
          <a:ln/>
        </p:spPr>
        <p:txBody>
          <a:bodyPr/>
          <a:p/>
        </p:txBody>
      </p:sp>
      <p:sp>
        <p:nvSpPr>
          <p:cNvPr id="152" name="" descr="{&quot;isTemplate&quot;:true,&quot;type&quot;:&quot;text&quot;}"/>
          <p:cNvSpPr txBox="1"/>
          <p:nvPr/>
        </p:nvSpPr>
        <p:spPr>
          <a:xfrm rot="0" flipH="0" flipV="0">
            <a:off x="685800" y="4781550"/>
            <a:ext cx="6238875" cy="638175"/>
          </a:xfrm>
          <a:prstGeom prst="rect"/>
        </p:spPr>
        <p:txBody>
          <a:bodyPr wrap="square" lIns="0" tIns="0" rIns="0" bIns="0">
            <a:normAutofit/>
          </a:bodyPr>
          <a:p>
            <a:pPr>
              <a:lnSpc>
                <a:spcPct val="155000"/>
              </a:lnSpc>
            </a:pPr>
            <a:r>
              <a:rPr lang="en-US" sz="1350" b="1">
                <a:solidFill>
                  <a:srgbClr val="0F6E56"/>
                </a:solidFill>
                <a:latin typeface="Inter"/>
                <a:ea typeface="Inter"/>
              </a:rPr>
              <a:t>Read together, those are not four features. They are one requirement — and stating it that way is what made the work testable.</a:t>
            </a:r>
            <a:endParaRPr/>
          </a:p>
        </p:txBody>
      </p:sp>
      <p:sp>
        <p:nvSpPr>
          <p:cNvPr id="153" name=""/>
          <p:cNvSpPr/>
          <p:nvPr/>
        </p:nvSpPr>
        <p:spPr>
          <a:xfrm rot="0" flipH="0" flipV="0">
            <a:off x="7400925" y="1143000"/>
            <a:ext cx="4105275" cy="5143500"/>
          </a:xfrm>
          <a:prstGeom prst="rect">
            <a:avLst/>
          </a:prstGeom>
          <a:gradFill>
            <a:gsLst>
              <a:gs pos="0">
                <a:srgbClr val="E1F5EE"/>
              </a:gs>
              <a:gs pos="100000">
                <a:srgbClr val="FFFFFF"/>
              </a:gs>
            </a:gsLst>
            <a:lin ang="5400000" scaled="1"/>
          </a:gradFill>
          <a:ln/>
        </p:spPr>
        <p:txBody>
          <a:bodyPr/>
          <a:p/>
        </p:txBody>
      </p:sp>
      <p:sp>
        <p:nvSpPr>
          <p:cNvPr id="154" name=""/>
          <p:cNvSpPr/>
          <p:nvPr/>
        </p:nvSpPr>
        <p:spPr>
          <a:xfrm rot="0" flipH="0" flipV="0">
            <a:off x="7343775" y="1143000"/>
            <a:ext cx="4162425" cy="5143500"/>
          </a:xfrm>
          <a:custGeom>
            <a:pathLst>
              <a:path w="437" h="540">
                <a:moveTo>
                  <a:pt x="0" y="0"/>
                </a:moveTo>
                <a:lnTo>
                  <a:pt x="6" y="0"/>
                </a:lnTo>
                <a:lnTo>
                  <a:pt x="6" y="540"/>
                </a:lnTo>
                <a:lnTo>
                  <a:pt x="0" y="540"/>
                </a:lnTo>
                <a:close/>
              </a:path>
            </a:pathLst>
          </a:custGeom>
          <a:solidFill>
            <a:srgbClr val="97C459"/>
          </a:solidFill>
          <a:ln/>
        </p:spPr>
        <p:txBody>
          <a:bodyPr/>
          <a:p/>
        </p:txBody>
      </p:sp>
      <p:sp>
        <p:nvSpPr>
          <p:cNvPr id="155" name="" descr="{&quot;isTemplate&quot;:true,&quot;type&quot;:&quot;text&quot;}"/>
          <p:cNvSpPr txBox="1"/>
          <p:nvPr/>
        </p:nvSpPr>
        <p:spPr>
          <a:xfrm rot="0" flipH="0" flipV="0">
            <a:off x="7686675" y="1428750"/>
            <a:ext cx="3533775" cy="161925"/>
          </a:xfrm>
          <a:prstGeom prst="rect"/>
        </p:spPr>
        <p:txBody>
          <a:bodyPr wrap="none" lIns="0" tIns="0" rIns="0" bIns="0"/>
          <a:p>
            <a:pPr>
              <a:lnSpc>
                <a:spcPct val="100000"/>
              </a:lnSpc>
            </a:pPr>
            <a:r>
              <a:rPr lang="en-US" sz="1050" spc="135">
                <a:solidFill>
                  <a:srgbClr val="0F6E56"/>
                </a:solidFill>
                <a:latin typeface="JetBrains Mono"/>
                <a:ea typeface="JetBrains Mono"/>
              </a:rPr>
              <a:t>THE ONE REQUIREMENT</a:t>
            </a:r>
            <a:endParaRPr/>
          </a:p>
        </p:txBody>
      </p:sp>
      <p:sp>
        <p:nvSpPr>
          <p:cNvPr id="156" name="" descr="{&quot;isTemplate&quot;:true,&quot;type&quot;:&quot;text&quot;}"/>
          <p:cNvSpPr txBox="1"/>
          <p:nvPr/>
        </p:nvSpPr>
        <p:spPr>
          <a:xfrm rot="0" flipH="0" flipV="0">
            <a:off x="7686675" y="1800225"/>
            <a:ext cx="3533775" cy="2371725"/>
          </a:xfrm>
          <a:prstGeom prst="rect"/>
        </p:spPr>
        <p:txBody>
          <a:bodyPr wrap="square" lIns="0" tIns="0" rIns="0" bIns="0">
            <a:normAutofit/>
          </a:bodyPr>
          <a:p>
            <a:pPr>
              <a:lnSpc>
                <a:spcPct val="150000"/>
              </a:lnSpc>
            </a:pPr>
            <a:r>
              <a:rPr lang="en-US" sz="1725" b="1">
                <a:solidFill>
                  <a:srgbClr val="04342C"/>
                </a:solidFill>
                <a:latin typeface="Inter"/>
                <a:ea typeface="Inter"/>
              </a:rPr>
              <a:t>At any instant the system must state what it is doing, what it believes, and which of its in-flight actions are still valid — and it must never say something it cannot yet back with evidence.</a:t>
            </a:r>
            <a:endParaRPr/>
          </a:p>
        </p:txBody>
      </p:sp>
      <p:sp>
        <p:nvSpPr>
          <p:cNvPr id="157" name=""/>
          <p:cNvSpPr/>
          <p:nvPr/>
        </p:nvSpPr>
        <p:spPr>
          <a:xfrm rot="0" flipH="0" flipV="0">
            <a:off x="7686675" y="4953000"/>
            <a:ext cx="3533775" cy="9525"/>
          </a:xfrm>
          <a:prstGeom prst="rect">
            <a:avLst/>
          </a:prstGeom>
          <a:solidFill>
            <a:srgbClr val="0F6E56">
              <a:alpha val="25000"/>
            </a:srgbClr>
          </a:solidFill>
          <a:ln/>
        </p:spPr>
        <p:txBody>
          <a:bodyPr/>
          <a:p/>
        </p:txBody>
      </p:sp>
      <p:sp>
        <p:nvSpPr>
          <p:cNvPr id="158" name="" descr="{&quot;isTemplate&quot;:true,&quot;type&quot;:&quot;text&quot;}"/>
          <p:cNvSpPr txBox="1"/>
          <p:nvPr/>
        </p:nvSpPr>
        <p:spPr>
          <a:xfrm rot="0" flipH="0" flipV="0">
            <a:off x="7686675" y="5133975"/>
            <a:ext cx="3533775" cy="904875"/>
          </a:xfrm>
          <a:prstGeom prst="rect"/>
        </p:spPr>
        <p:txBody>
          <a:bodyPr wrap="square" lIns="0" tIns="0" rIns="0" bIns="0">
            <a:normAutofit/>
          </a:bodyPr>
          <a:p>
            <a:pPr>
              <a:lnSpc>
                <a:spcPct val="160000"/>
              </a:lnSpc>
            </a:pPr>
            <a:r>
              <a:rPr lang="en-US" sz="1275">
                <a:solidFill>
                  <a:srgbClr val="6B7280"/>
                </a:solidFill>
                <a:latin typeface="Inter"/>
                <a:ea typeface="Inter"/>
              </a:rPr>
              <a:t>“Be interruptible” is not testable.</a:t>
            </a:r>
            <a:endParaRPr/>
          </a:p>
          <a:p>
            <a:pPr>
              <a:lnSpc>
                <a:spcPct val="160000"/>
              </a:lnSpc>
            </a:pPr>
            <a:r>
              <a:rPr lang="en-US" sz="1125">
                <a:solidFill>
                  <a:srgbClr val="0F6E56"/>
                </a:solidFill>
                <a:latin typeface="Inter"/>
                <a:ea typeface="Inter"/>
              </a:rPr>
              <a:t>“Publish a snapshot on every event, and prove a revision cancels only the work it invalidated”</a:t>
            </a:r>
            <a:r>
              <a:rPr lang="en-US" sz="1275">
                <a:solidFill>
                  <a:srgbClr val="6B7280"/>
                </a:solidFill>
                <a:latin typeface="Inter"/>
                <a:ea typeface="Inter"/>
              </a:rPr>
              <a:t> is.</a:t>
            </a:r>
            <a:endParaRPr/>
          </a:p>
        </p:txBody>
      </p:sp>
      <p:sp>
        <p:nvSpPr>
          <p:cNvPr id="159"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160"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02 / 12</a:t>
            </a:r>
            <a:endParaRPr/>
          </a:p>
        </p:txBody>
      </p:sp>
    </p:spTree>
  </p:cSld>
</p:sld>
</file>

<file path=ppt/slides/slide3.xml><?xml version="1.0" encoding="utf-8"?>
<p:sld xmlns:a="http://schemas.openxmlformats.org/drawingml/2006/main" xmlns:p="http://schemas.openxmlformats.org/presentationml/2006/main">
  <p:cSld>
    <p:spTree>
      <p:nvGrpSpPr>
        <p:cNvPr id="161" name="" descr="&lt;Slide style={{&#10;    width: 1280,&#10;    height: 720,&#10;    padding: '0 72px',&#10;    background: '#FFFFFF',&#10;}}&gt;&#10;    &lt;Box style={{ width: '100%', height: 720, flexDirection: 'column' }}&gt;&#10;        &lt;Box style={{&#10;            height: 120,&#10;            paddingTop: 20,&#10;            paddingBottom: 16,&#10;            flexDirection: 'row',&#10;            alignItems: 'flex-end',&#10;            justifyContent: 'space-between',&#10;        }}&gt;&#10;            &lt;Box style={{ flexDirection: 'column', justifyContent: 'flex-end' }}&gt;&#10;                &lt;Box style={{ width: 56, height: 6, background: '#97C459', marginBottom: 14 }} /&gt;&#10;                &lt;Text style={{ fontFamily: 'Inter', fontSize: 34, fontWeight: 'bold', color: '#0B1F1A' }}&gt;&#10;                    It works, and here is the proof&#10;                &lt;/Text&gt;&#10;            &lt;/Box&gt;&#10;            &lt;Text style={{ fontFamily: 'JetBrains Mono', fontSize: 14, color: '#6B7280', letterSpacing: 1.4, paddingBottom: 6 }}&gt;&#10;                MEASURED, NOT ASSERTED&#10;            &lt;/Text&gt;&#10;        &lt;/Box&gt;&#10;&#10;        &lt;Box style={{ height: 540, flexDirection: 'column', gap: 40 }}&gt;&#10;            &lt;Box style={{ height: 350, flexDirection: 'row', gap: 60 }}&gt;&#10;                &lt;Box style={{ width: 392, flexDirection: 'column', justifyContent: 'center' }}&gt;&#10;                    &lt;Text style={{ fontFamily: 'JetBrains Mono', fontSize: 14, color: '#0F6E56', letterSpacing: 1.8 }}&gt;&#10;                        PYTEST SUITE&#10;                    &lt;/Text&gt;&#10;                    &lt;Text style={{&#10;                        fontFamily: 'JetBrains Mono',&#10;                        fontSize: 132,&#10;                        fontWeight: 'bold',&#10;                        lineHeight: 1.0,&#10;                        color: '#97C459',&#10;                        marginTop: 6,&#10;                    }}&gt;&#10;                        654&#10;                    &lt;/Text&gt;&#10;                    &lt;Text style={{ fontFamily: 'Inter', fontSize: 20, fontWeight: 600, color: '#0B1F1A', marginTop: 14 }}&gt;&#10;                        tests pass&#10;                    &lt;/Text&gt;&#10;                    &lt;Text style={{ fontFamily: 'Inter', fontSize: 18, lineHeight: 1.5, color: '#6B7280', marginTop: 6 }}&gt;&#10;                        0 failed, 0 errors. The interruption harness, the state&#10;                        machine and the agent surface are all under test.&#10;                    &lt;/Text&gt;&#10;                &lt;/Box&gt;&#10;&#10;                &lt;Box style={{ width: 2, background: '#E1F5EE' }} /&gt;&#10;&#10;                &lt;Box style={{ flex: 1, flexDirection: 'column', justifyContent: 'center', gap: 34 }}&gt;&#10;                    &lt;Box style={{ flexDirection: 'column' }}&gt;&#10;                        &lt;Text style={{&#10;                            fontFamily: 'JetBrains Mono',&#10;                            fontSize: 96,&#10;                            fontWeight: 'bold',&#10;                            lineHeight: 1.0,&#10;                            color: '#04342C',&#10;                        }}&gt;&#10;                            12 / 12&#10;                        &lt;/Text&gt;&#10;                        &lt;Text style={{ fontFamily: 'Inter', fontSize: 19, fontWeight: 600, color: '#0B1F1A', marginTop: 10 }}&gt;&#10;                            benchmark scenarios pass&#10;                        &lt;/Text&gt;&#10;                        &lt;Text style={{ fontFamily: 'Inter', fontSize: 17, lineHeight: 1.5, color: '#6B7280', marginTop: 5 }}&gt;&#10;                            Interruption, revision, retry, tool failure, dropped transport. The script exits non-zero if any of them fails.&#10;                        &lt;/Text&gt;&#10;                    &lt;/Box&gt;&#10;&#10;                    &lt;Box style={{ flexDirection: 'column' }}&gt;&#10;                        &lt;Text style={{&#10;                            fontFamily: 'JetBrains Mono',&#10;                            fontSize: 96,&#10;                            fontWeight: 'bold',&#10;                            lineHeight: 1.0,&#10;                            color: '#04342C',&#10;                        }}&gt;&#10;                            1.2 ms&#10;                        &lt;/Text&gt;&#10;                        &lt;Text style={{ fontFamily: 'Inter', fontSize: 19, fontWeight: 600, color: '#0B1F1A', marginTop: 10 }}&gt;&#10;                            first acknowledgement&#10;                        &lt;/Text&gt;&#10;                        &lt;Text style={{ fontFamily: 'Inter', fontSize: 17, lineHeight: 1.5, color: '#6B7280', marginTop: 5 }}&gt;&#10;                            Against a 250 ms budget. A repeat run measured 2.6 ms: only the two wall-clock metrics move, everything else replays bit-identically.&#10;                        &lt;/Text&gt;&#10;                        &lt;Box style={{ flexDirection: 'row', alignItems: 'center', gap: 14, marginTop: 12 }}&gt;&#10;                            &lt;Box style={{ flex: 1, height: 12, background: '#E1F5EE', borderRadius: 6, flexDirection: 'row' }}&gt;&#10;                                &lt;Box style={{ width: 12, height: 12, background: '#0F6E56', borderRadius: 6 }} /&gt;&#10;                            &lt;/Box&gt;&#10;                            &lt;Text style={{ fontFamily: 'JetBrains Mono', fontSize: 13, color: '#6B7280' }}&gt;&#10;                                250 ms budget&#10;                            &lt;/Text&gt;&#10;                        &lt;/Box&gt;&#10;                    &lt;/Box&gt;&#10;                &lt;/Box&gt;&#10;            &lt;/Box&gt;&#10;&#10;            &lt;Box style={{&#10;                height: 150,&#10;                background: 'linear-gradient(135deg, #04342C 0%, #0F6E56 100%)',&#10;                padding: '28px 34px',&#10;                flexDirection: 'row',&#10;                alignItems: 'center',&#10;                gap: 34,&#10;            }}&gt;&#10;                &lt;Box style={{ width: 6, height: 74, background: '#97C459' }} /&gt;&#10;                &lt;Box style={{ flexDirection: 'column', gap: 12, flex: 1 }}&gt;&#10;                    &lt;Text style={{ fontFamily: 'Inter', fontSize: 25, fontWeight: 'bold', color: '#FFFFFF', lineHeight: 1.35 }}&gt;&#10;                        Every number above was produced with no database running, no network access and no API key.&#10;                    &lt;/Text&gt;&#10;                    &lt;Text style={{ fontFamily: 'Inter', fontSize: 18, lineHeight: 1.5, color: 'rgba(225,245,238,0.86)' }}&gt;&#10;                        Port 5432 was closed on the machine that produced them. Reproducibility was designed in rather than&#10;                        asserted — a jury can clone the tag and get the same figures in one command.&#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3 / 12&#10;            &lt;/Text&gt;&#10;        &lt;/Box&gt;&#10;    &lt;/Box&gt;&#10;&lt;/Slide&gt;&#10;"/>
        <p:cNvGrpSpPr/>
        <p:nvPr/>
      </p:nvGrpSpPr>
      <p:grpSpPr>
        <a:xfrm>
          <a:off x="0" y="0"/>
          <a:ext cx="0" cy="0"/>
          <a:chOff x="0" y="0"/>
          <a:chExt cx="0" cy="0"/>
        </a:xfrm>
      </p:grpSpPr>
      <p:sp>
        <p:nvSpPr>
          <p:cNvPr id="162" name=""/>
          <p:cNvSpPr/>
          <p:nvPr/>
        </p:nvSpPr>
        <p:spPr>
          <a:xfrm rot="0" flipH="0" flipV="0">
            <a:off x="0" y="0"/>
            <a:ext cx="12192000" cy="6858000"/>
          </a:xfrm>
          <a:prstGeom prst="rect">
            <a:avLst/>
          </a:prstGeom>
          <a:solidFill>
            <a:srgbClr val="FFFFFF"/>
          </a:solidFill>
          <a:ln/>
        </p:spPr>
        <p:txBody>
          <a:bodyPr/>
          <a:p/>
        </p:txBody>
      </p:sp>
      <p:sp>
        <p:nvSpPr>
          <p:cNvPr id="163" name=""/>
          <p:cNvSpPr/>
          <p:nvPr/>
        </p:nvSpPr>
        <p:spPr>
          <a:xfrm rot="0" flipH="0" flipV="0">
            <a:off x="685800" y="409575"/>
            <a:ext cx="533400" cy="57150"/>
          </a:xfrm>
          <a:prstGeom prst="rect">
            <a:avLst/>
          </a:prstGeom>
          <a:solidFill>
            <a:srgbClr val="97C459"/>
          </a:solidFill>
          <a:ln/>
        </p:spPr>
        <p:txBody>
          <a:bodyPr/>
          <a:p/>
        </p:txBody>
      </p:sp>
      <p:sp>
        <p:nvSpPr>
          <p:cNvPr id="164" name="" descr="{&quot;isTemplate&quot;:true,&quot;type&quot;:&quot;text&quot;}"/>
          <p:cNvSpPr txBox="1"/>
          <p:nvPr/>
        </p:nvSpPr>
        <p:spPr>
          <a:xfrm rot="0" flipH="0" flipV="0">
            <a:off x="685800" y="600075"/>
            <a:ext cx="4610100" cy="390525"/>
          </a:xfrm>
          <a:prstGeom prst="rect"/>
        </p:spPr>
        <p:txBody>
          <a:bodyPr wrap="none" lIns="0" tIns="0" rIns="0" bIns="0"/>
          <a:p>
            <a:pPr>
              <a:lnSpc>
                <a:spcPct val="100000"/>
              </a:lnSpc>
            </a:pPr>
            <a:r>
              <a:rPr lang="en-US" sz="2550" b="1">
                <a:solidFill>
                  <a:srgbClr val="0B1F1A"/>
                </a:solidFill>
                <a:latin typeface="Inter"/>
                <a:ea typeface="Inter"/>
              </a:rPr>
              <a:t>It works, and here is the proof</a:t>
            </a:r>
            <a:endParaRPr/>
          </a:p>
        </p:txBody>
      </p:sp>
      <p:sp>
        <p:nvSpPr>
          <p:cNvPr id="165" name="" descr="{&quot;isTemplate&quot;:true,&quot;type&quot;:&quot;text&quot;}"/>
          <p:cNvSpPr txBox="1"/>
          <p:nvPr/>
        </p:nvSpPr>
        <p:spPr>
          <a:xfrm rot="0" flipH="0" flipV="0">
            <a:off x="9344025" y="771525"/>
            <a:ext cx="2162175" cy="219075"/>
          </a:xfrm>
          <a:prstGeom prst="rect"/>
        </p:spPr>
        <p:txBody>
          <a:bodyPr wrap="none" lIns="0" tIns="0" rIns="0" bIns="42863"/>
          <a:p>
            <a:pPr>
              <a:lnSpc>
                <a:spcPct val="100000"/>
              </a:lnSpc>
            </a:pPr>
            <a:r>
              <a:rPr lang="en-US" sz="1050" spc="105">
                <a:solidFill>
                  <a:srgbClr val="6B7280"/>
                </a:solidFill>
                <a:latin typeface="JetBrains Mono"/>
                <a:ea typeface="JetBrains Mono"/>
              </a:rPr>
              <a:t>MEASURED, NOT ASSERTED</a:t>
            </a:r>
            <a:endParaRPr/>
          </a:p>
        </p:txBody>
      </p:sp>
      <p:sp>
        <p:nvSpPr>
          <p:cNvPr id="166" name="" descr="{&quot;isTemplate&quot;:true,&quot;type&quot;:&quot;text&quot;}"/>
          <p:cNvSpPr txBox="1"/>
          <p:nvPr/>
        </p:nvSpPr>
        <p:spPr>
          <a:xfrm rot="0" flipH="0" flipV="0">
            <a:off x="685800" y="1266825"/>
            <a:ext cx="3733800" cy="161925"/>
          </a:xfrm>
          <a:prstGeom prst="rect"/>
        </p:spPr>
        <p:txBody>
          <a:bodyPr wrap="none" lIns="0" tIns="0" rIns="0" bIns="0"/>
          <a:p>
            <a:pPr>
              <a:lnSpc>
                <a:spcPct val="100000"/>
              </a:lnSpc>
            </a:pPr>
            <a:r>
              <a:rPr lang="en-US" sz="1050" spc="135">
                <a:solidFill>
                  <a:srgbClr val="0F6E56"/>
                </a:solidFill>
                <a:latin typeface="JetBrains Mono"/>
                <a:ea typeface="JetBrains Mono"/>
              </a:rPr>
              <a:t>PYTEST SUITE</a:t>
            </a:r>
            <a:endParaRPr/>
          </a:p>
        </p:txBody>
      </p:sp>
      <p:sp>
        <p:nvSpPr>
          <p:cNvPr id="167" name="" descr="{&quot;isTemplate&quot;:true,&quot;type&quot;:&quot;text&quot;}"/>
          <p:cNvSpPr txBox="1"/>
          <p:nvPr/>
        </p:nvSpPr>
        <p:spPr>
          <a:xfrm rot="0" flipH="0" flipV="0">
            <a:off x="685800" y="1485900"/>
            <a:ext cx="3733800" cy="1514475"/>
          </a:xfrm>
          <a:prstGeom prst="rect"/>
        </p:spPr>
        <p:txBody>
          <a:bodyPr wrap="none" lIns="0" tIns="0" rIns="0" bIns="0"/>
          <a:p>
            <a:pPr>
              <a:lnSpc>
                <a:spcPct val="100000"/>
              </a:lnSpc>
            </a:pPr>
            <a:r>
              <a:rPr lang="en-US" sz="9900" b="1">
                <a:solidFill>
                  <a:srgbClr val="97C459"/>
                </a:solidFill>
                <a:latin typeface="JetBrains Mono"/>
                <a:ea typeface="JetBrains Mono"/>
              </a:rPr>
              <a:t>654</a:t>
            </a:r>
            <a:endParaRPr/>
          </a:p>
        </p:txBody>
      </p:sp>
      <p:sp>
        <p:nvSpPr>
          <p:cNvPr id="168" name="" descr="{&quot;isTemplate&quot;:true,&quot;type&quot;:&quot;text&quot;}"/>
          <p:cNvSpPr txBox="1"/>
          <p:nvPr/>
        </p:nvSpPr>
        <p:spPr>
          <a:xfrm rot="0" flipH="0" flipV="0">
            <a:off x="685800" y="3133725"/>
            <a:ext cx="3733800" cy="228600"/>
          </a:xfrm>
          <a:prstGeom prst="rect"/>
        </p:spPr>
        <p:txBody>
          <a:bodyPr wrap="none" lIns="0" tIns="0" rIns="0" bIns="0"/>
          <a:p>
            <a:pPr>
              <a:lnSpc>
                <a:spcPct val="100000"/>
              </a:lnSpc>
            </a:pPr>
            <a:r>
              <a:rPr lang="en-US" sz="1500" b="1">
                <a:solidFill>
                  <a:srgbClr val="0B1F1A"/>
                </a:solidFill>
                <a:latin typeface="Inter"/>
                <a:ea typeface="Inter"/>
              </a:rPr>
              <a:t>tests pass</a:t>
            </a:r>
            <a:endParaRPr/>
          </a:p>
        </p:txBody>
      </p:sp>
      <p:sp>
        <p:nvSpPr>
          <p:cNvPr id="169" name="" descr="{&quot;isTemplate&quot;:true,&quot;type&quot;:&quot;text&quot;}"/>
          <p:cNvSpPr txBox="1"/>
          <p:nvPr/>
        </p:nvSpPr>
        <p:spPr>
          <a:xfrm rot="0" flipH="0" flipV="0">
            <a:off x="685800" y="3419475"/>
            <a:ext cx="3733800" cy="933450"/>
          </a:xfrm>
          <a:prstGeom prst="rect"/>
        </p:spPr>
        <p:txBody>
          <a:bodyPr wrap="square" lIns="0" tIns="0" rIns="0" bIns="0">
            <a:normAutofit/>
          </a:bodyPr>
          <a:p>
            <a:pPr>
              <a:lnSpc>
                <a:spcPct val="150000"/>
              </a:lnSpc>
            </a:pPr>
            <a:r>
              <a:rPr lang="en-US" sz="1350">
                <a:solidFill>
                  <a:srgbClr val="6B7280"/>
                </a:solidFill>
                <a:latin typeface="Inter"/>
                <a:ea typeface="Inter"/>
              </a:rPr>
              <a:t>0 failed, 0 errors. The interruption harness, the state machine and the agent surface are all under test.</a:t>
            </a:r>
            <a:endParaRPr/>
          </a:p>
        </p:txBody>
      </p:sp>
      <p:sp>
        <p:nvSpPr>
          <p:cNvPr id="170" name=""/>
          <p:cNvSpPr/>
          <p:nvPr/>
        </p:nvSpPr>
        <p:spPr>
          <a:xfrm rot="0" flipH="0" flipV="0">
            <a:off x="4991100" y="1143000"/>
            <a:ext cx="19050" cy="3333750"/>
          </a:xfrm>
          <a:prstGeom prst="rect">
            <a:avLst/>
          </a:prstGeom>
          <a:solidFill>
            <a:srgbClr val="E1F5EE"/>
          </a:solidFill>
          <a:ln/>
        </p:spPr>
        <p:txBody>
          <a:bodyPr/>
          <a:p/>
        </p:txBody>
      </p:sp>
      <p:sp>
        <p:nvSpPr>
          <p:cNvPr id="171" name="" descr="{&quot;isTemplate&quot;:true,&quot;type&quot;:&quot;text&quot;}"/>
          <p:cNvSpPr txBox="1"/>
          <p:nvPr/>
        </p:nvSpPr>
        <p:spPr>
          <a:xfrm rot="0" flipH="0" flipV="0">
            <a:off x="5581650" y="1143000"/>
            <a:ext cx="5924550" cy="1104900"/>
          </a:xfrm>
          <a:prstGeom prst="rect"/>
        </p:spPr>
        <p:txBody>
          <a:bodyPr wrap="none" lIns="0" tIns="0" rIns="0" bIns="0"/>
          <a:p>
            <a:pPr>
              <a:lnSpc>
                <a:spcPct val="100000"/>
              </a:lnSpc>
            </a:pPr>
            <a:r>
              <a:rPr lang="en-US" sz="7200" b="1">
                <a:solidFill>
                  <a:srgbClr val="04342C"/>
                </a:solidFill>
                <a:latin typeface="JetBrains Mono"/>
                <a:ea typeface="JetBrains Mono"/>
              </a:rPr>
              <a:t>12 / 12</a:t>
            </a:r>
            <a:endParaRPr/>
          </a:p>
        </p:txBody>
      </p:sp>
      <p:sp>
        <p:nvSpPr>
          <p:cNvPr id="172" name="" descr="{&quot;isTemplate&quot;:true,&quot;type&quot;:&quot;text&quot;}"/>
          <p:cNvSpPr txBox="1"/>
          <p:nvPr/>
        </p:nvSpPr>
        <p:spPr>
          <a:xfrm rot="0" flipH="0" flipV="0">
            <a:off x="5581650" y="2343150"/>
            <a:ext cx="5924550" cy="219075"/>
          </a:xfrm>
          <a:prstGeom prst="rect"/>
        </p:spPr>
        <p:txBody>
          <a:bodyPr wrap="none" lIns="0" tIns="0" rIns="0" bIns="0"/>
          <a:p>
            <a:pPr>
              <a:lnSpc>
                <a:spcPct val="100000"/>
              </a:lnSpc>
            </a:pPr>
            <a:r>
              <a:rPr lang="en-US" sz="1425" b="1">
                <a:solidFill>
                  <a:srgbClr val="0B1F1A"/>
                </a:solidFill>
                <a:latin typeface="Inter"/>
                <a:ea typeface="Inter"/>
              </a:rPr>
              <a:t>benchmark scenarios pass</a:t>
            </a:r>
            <a:endParaRPr/>
          </a:p>
        </p:txBody>
      </p:sp>
      <p:sp>
        <p:nvSpPr>
          <p:cNvPr id="173" name="" descr="{&quot;isTemplate&quot;:true,&quot;type&quot;:&quot;text&quot;}"/>
          <p:cNvSpPr txBox="1"/>
          <p:nvPr/>
        </p:nvSpPr>
        <p:spPr>
          <a:xfrm rot="0" flipH="0" flipV="0">
            <a:off x="5581650" y="2609850"/>
            <a:ext cx="5924550" cy="590550"/>
          </a:xfrm>
          <a:prstGeom prst="rect"/>
        </p:spPr>
        <p:txBody>
          <a:bodyPr wrap="square" lIns="0" tIns="0" rIns="0" bIns="0">
            <a:normAutofit/>
          </a:bodyPr>
          <a:p>
            <a:pPr>
              <a:lnSpc>
                <a:spcPct val="150000"/>
              </a:lnSpc>
            </a:pPr>
            <a:r>
              <a:rPr lang="en-US" sz="1275">
                <a:solidFill>
                  <a:srgbClr val="6B7280"/>
                </a:solidFill>
                <a:latin typeface="Inter"/>
                <a:ea typeface="Inter"/>
              </a:rPr>
              <a:t>Interruption, revision, retry, tool failure, dropped transport. The script exits non-zero if any of them fails.</a:t>
            </a:r>
            <a:endParaRPr/>
          </a:p>
        </p:txBody>
      </p:sp>
      <p:sp>
        <p:nvSpPr>
          <p:cNvPr id="174" name="" descr="{&quot;isTemplate&quot;:true,&quot;type&quot;:&quot;text&quot;}"/>
          <p:cNvSpPr txBox="1"/>
          <p:nvPr/>
        </p:nvSpPr>
        <p:spPr>
          <a:xfrm rot="0" flipH="0" flipV="0">
            <a:off x="5581650" y="3524250"/>
            <a:ext cx="5924550" cy="1104900"/>
          </a:xfrm>
          <a:prstGeom prst="rect"/>
        </p:spPr>
        <p:txBody>
          <a:bodyPr wrap="none" lIns="0" tIns="0" rIns="0" bIns="0"/>
          <a:p>
            <a:pPr>
              <a:lnSpc>
                <a:spcPct val="100000"/>
              </a:lnSpc>
            </a:pPr>
            <a:r>
              <a:rPr lang="en-US" sz="7200" b="1">
                <a:solidFill>
                  <a:srgbClr val="04342C"/>
                </a:solidFill>
                <a:latin typeface="JetBrains Mono"/>
                <a:ea typeface="JetBrains Mono"/>
              </a:rPr>
              <a:t>1.2 ms</a:t>
            </a:r>
            <a:endParaRPr/>
          </a:p>
        </p:txBody>
      </p:sp>
      <p:sp>
        <p:nvSpPr>
          <p:cNvPr id="175" name="" descr="{&quot;isTemplate&quot;:true,&quot;type&quot;:&quot;text&quot;}"/>
          <p:cNvSpPr txBox="1"/>
          <p:nvPr/>
        </p:nvSpPr>
        <p:spPr>
          <a:xfrm rot="0" flipH="0" flipV="0">
            <a:off x="5581650" y="4724400"/>
            <a:ext cx="5924550" cy="219075"/>
          </a:xfrm>
          <a:prstGeom prst="rect"/>
        </p:spPr>
        <p:txBody>
          <a:bodyPr wrap="none" lIns="0" tIns="0" rIns="0" bIns="0"/>
          <a:p>
            <a:pPr>
              <a:lnSpc>
                <a:spcPct val="100000"/>
              </a:lnSpc>
            </a:pPr>
            <a:r>
              <a:rPr lang="en-US" sz="1425" b="1">
                <a:solidFill>
                  <a:srgbClr val="0B1F1A"/>
                </a:solidFill>
                <a:latin typeface="Inter"/>
                <a:ea typeface="Inter"/>
              </a:rPr>
              <a:t>first acknowledgement</a:t>
            </a:r>
            <a:endParaRPr/>
          </a:p>
        </p:txBody>
      </p:sp>
      <p:sp>
        <p:nvSpPr>
          <p:cNvPr id="176" name="" descr="{&quot;isTemplate&quot;:true,&quot;type&quot;:&quot;text&quot;}"/>
          <p:cNvSpPr txBox="1"/>
          <p:nvPr/>
        </p:nvSpPr>
        <p:spPr>
          <a:xfrm rot="0" flipH="0" flipV="0">
            <a:off x="5581650" y="4991100"/>
            <a:ext cx="5924550" cy="590550"/>
          </a:xfrm>
          <a:prstGeom prst="rect"/>
        </p:spPr>
        <p:txBody>
          <a:bodyPr wrap="square" lIns="0" tIns="0" rIns="0" bIns="0">
            <a:normAutofit/>
          </a:bodyPr>
          <a:p>
            <a:pPr>
              <a:lnSpc>
                <a:spcPct val="150000"/>
              </a:lnSpc>
            </a:pPr>
            <a:r>
              <a:rPr lang="en-US" sz="1275">
                <a:solidFill>
                  <a:srgbClr val="6B7280"/>
                </a:solidFill>
                <a:latin typeface="Inter"/>
                <a:ea typeface="Inter"/>
              </a:rPr>
              <a:t>Against a 250 ms budget. A repeat run measured 2.6 ms: only the two wall-clock metrics move, everything else replays bit-identically.</a:t>
            </a:r>
            <a:endParaRPr/>
          </a:p>
        </p:txBody>
      </p:sp>
      <p:sp>
        <p:nvSpPr>
          <p:cNvPr id="177" name=""/>
          <p:cNvSpPr/>
          <p:nvPr/>
        </p:nvSpPr>
        <p:spPr>
          <a:xfrm rot="0" flipH="0" flipV="0">
            <a:off x="5581650" y="5715000"/>
            <a:ext cx="4962525" cy="114300"/>
          </a:xfrm>
          <a:prstGeom prst="roundRect">
            <a:avLst>
              <a:gd name="adj" fmla="val 50000"/>
            </a:avLst>
          </a:prstGeom>
          <a:solidFill>
            <a:srgbClr val="E1F5EE"/>
          </a:solidFill>
          <a:ln/>
        </p:spPr>
        <p:txBody>
          <a:bodyPr/>
          <a:p/>
        </p:txBody>
      </p:sp>
      <p:sp>
        <p:nvSpPr>
          <p:cNvPr id="178" name=""/>
          <p:cNvSpPr/>
          <p:nvPr/>
        </p:nvSpPr>
        <p:spPr>
          <a:xfrm rot="0" flipH="0" flipV="0">
            <a:off x="5581650" y="5715000"/>
            <a:ext cx="114300" cy="114300"/>
          </a:xfrm>
          <a:prstGeom prst="roundRect">
            <a:avLst>
              <a:gd name="adj" fmla="val 50000"/>
            </a:avLst>
          </a:prstGeom>
          <a:solidFill>
            <a:srgbClr val="0F6E56"/>
          </a:solidFill>
          <a:ln/>
        </p:spPr>
        <p:txBody>
          <a:bodyPr/>
          <a:p/>
        </p:txBody>
      </p:sp>
      <p:sp>
        <p:nvSpPr>
          <p:cNvPr id="179" name="" descr="{&quot;isTemplate&quot;:true,&quot;type&quot;:&quot;text&quot;}"/>
          <p:cNvSpPr txBox="1"/>
          <p:nvPr/>
        </p:nvSpPr>
        <p:spPr>
          <a:xfrm rot="0" flipH="0" flipV="0">
            <a:off x="10677525" y="5695950"/>
            <a:ext cx="828675" cy="152400"/>
          </a:xfrm>
          <a:prstGeom prst="rect"/>
        </p:spPr>
        <p:txBody>
          <a:bodyPr wrap="none" lIns="0" tIns="0" rIns="0" bIns="0"/>
          <a:p>
            <a:pPr>
              <a:lnSpc>
                <a:spcPct val="100000"/>
              </a:lnSpc>
            </a:pPr>
            <a:r>
              <a:rPr lang="en-US" sz="975">
                <a:solidFill>
                  <a:srgbClr val="6B7280"/>
                </a:solidFill>
                <a:latin typeface="JetBrains Mono"/>
                <a:ea typeface="JetBrains Mono"/>
              </a:rPr>
              <a:t>250 ms budget</a:t>
            </a:r>
            <a:endParaRPr/>
          </a:p>
        </p:txBody>
      </p:sp>
      <p:sp>
        <p:nvSpPr>
          <p:cNvPr id="180" name=""/>
          <p:cNvSpPr/>
          <p:nvPr/>
        </p:nvSpPr>
        <p:spPr>
          <a:xfrm rot="0" flipH="0" flipV="0">
            <a:off x="685800" y="4857750"/>
            <a:ext cx="10820400" cy="1428750"/>
          </a:xfrm>
          <a:prstGeom prst="rect">
            <a:avLst/>
          </a:prstGeom>
          <a:gradFill>
            <a:gsLst>
              <a:gs pos="0">
                <a:srgbClr val="04342C"/>
              </a:gs>
              <a:gs pos="100000">
                <a:srgbClr val="0F6E56"/>
              </a:gs>
            </a:gsLst>
            <a:lin ang="2700000" scaled="1"/>
          </a:gradFill>
          <a:ln/>
        </p:spPr>
        <p:txBody>
          <a:bodyPr/>
          <a:p/>
        </p:txBody>
      </p:sp>
      <p:sp>
        <p:nvSpPr>
          <p:cNvPr id="181" name=""/>
          <p:cNvSpPr/>
          <p:nvPr/>
        </p:nvSpPr>
        <p:spPr>
          <a:xfrm rot="0" flipH="0" flipV="0">
            <a:off x="1009650" y="5219700"/>
            <a:ext cx="57150" cy="704850"/>
          </a:xfrm>
          <a:prstGeom prst="rect">
            <a:avLst/>
          </a:prstGeom>
          <a:solidFill>
            <a:srgbClr val="97C459"/>
          </a:solidFill>
          <a:ln/>
        </p:spPr>
        <p:txBody>
          <a:bodyPr/>
          <a:p/>
        </p:txBody>
      </p:sp>
      <p:sp>
        <p:nvSpPr>
          <p:cNvPr id="182" name="" descr="{&quot;isTemplate&quot;:true,&quot;type&quot;:&quot;text&quot;}"/>
          <p:cNvSpPr txBox="1"/>
          <p:nvPr/>
        </p:nvSpPr>
        <p:spPr>
          <a:xfrm rot="0" flipH="0" flipV="0">
            <a:off x="1390650" y="4819650"/>
            <a:ext cx="9791700" cy="771525"/>
          </a:xfrm>
          <a:prstGeom prst="rect"/>
        </p:spPr>
        <p:txBody>
          <a:bodyPr wrap="square" lIns="0" tIns="0" rIns="0" bIns="0">
            <a:normAutofit/>
          </a:bodyPr>
          <a:p>
            <a:pPr>
              <a:lnSpc>
                <a:spcPct val="135000"/>
              </a:lnSpc>
            </a:pPr>
            <a:r>
              <a:rPr lang="en-US" sz="1875" b="1">
                <a:solidFill>
                  <a:srgbClr val="FFFFFF"/>
                </a:solidFill>
                <a:latin typeface="Inter"/>
                <a:ea typeface="Inter"/>
              </a:rPr>
              <a:t>Every number above was produced with no database running, no network access and no API key.</a:t>
            </a:r>
            <a:endParaRPr/>
          </a:p>
        </p:txBody>
      </p:sp>
      <p:sp>
        <p:nvSpPr>
          <p:cNvPr id="183" name="" descr="{&quot;isTemplate&quot;:true,&quot;type&quot;:&quot;text&quot;}"/>
          <p:cNvSpPr txBox="1"/>
          <p:nvPr/>
        </p:nvSpPr>
        <p:spPr>
          <a:xfrm rot="0" flipH="0" flipV="0">
            <a:off x="1390650" y="5705475"/>
            <a:ext cx="9791700" cy="619125"/>
          </a:xfrm>
          <a:prstGeom prst="rect"/>
        </p:spPr>
        <p:txBody>
          <a:bodyPr wrap="square" lIns="0" tIns="0" rIns="0" bIns="0">
            <a:normAutofit/>
          </a:bodyPr>
          <a:p>
            <a:pPr>
              <a:lnSpc>
                <a:spcPct val="150000"/>
              </a:lnSpc>
            </a:pPr>
            <a:r>
              <a:rPr lang="en-US" sz="1350">
                <a:solidFill>
                  <a:srgbClr val="E1F5EE">
                    <a:alpha val="86000"/>
                  </a:srgbClr>
                </a:solidFill>
                <a:latin typeface="Inter"/>
                <a:ea typeface="Inter"/>
              </a:rPr>
              <a:t>Port 5432 was closed on the machine that produced them. Reproducibility was designed in rather than asserted — a jury can clone the tag and get the same figures in one command.</a:t>
            </a:r>
            <a:endParaRPr/>
          </a:p>
        </p:txBody>
      </p:sp>
      <p:sp>
        <p:nvSpPr>
          <p:cNvPr id="184"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185"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03 / 12</a:t>
            </a:r>
            <a:endParaRPr/>
          </a:p>
        </p:txBody>
      </p:sp>
    </p:spTree>
  </p:cSld>
</p:sld>
</file>

<file path=ppt/slides/slide4.xml><?xml version="1.0" encoding="utf-8"?>
<p:sld xmlns:a="http://schemas.openxmlformats.org/drawingml/2006/main" xmlns:p="http://schemas.openxmlformats.org/presentationml/2006/main">
  <p:cSld>
    <p:spTree>
      <p:nvGrpSpPr>
        <p:cNvPr id="186"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What the brief asks, what answers it&#10;            &lt;/Text&gt;&#10;        &lt;/Box&gt;&#10;&#10;        &lt;Box style={{ height: 540, flexDirection: 'row', gap: 34 }}&gt;&#10;            &lt;Box style={{&#10;                width: 292,&#10;                background: 'linear-gradient(160deg, #04342C 0%, #0F6E56 100%)',&#10;                padding: '30px 26px',&#10;                flexDirection: 'column',&#10;            }}&gt;&#10;                &lt;Text style={{ fontFamily: 'JetBrains Mono', fontSize: 13, color: '#97C459', letterSpacing: 1.8 }}&gt;&#10;                    THEME 05 · REQUIREMENTS&#10;                &lt;/Text&gt;&#10;                &lt;Text style={{&#10;                    fontFamily: 'Inter',&#10;                    fontSize: 23,&#10;                    fontWeight: 'bold',&#10;                    lineHeight: 1.45,&#10;                    color: '#FFFFFF',&#10;                    marginTop: 20,&#10;                }}&gt;&#10;                    Eight asks from the brief. Each one has a mechanism, and each mechanism has a named check that fails the build when it regresses.&#10;                &lt;/Text&gt;&#10;                &lt;Box style={{ marginTop: 'auto', paddingTop: 20 }}&gt;&#10;                    &lt;Box style={{ height: 1, background: 'rgba(225,245,238,0.28)', marginBottom: 16 }} /&gt;&#10;                    &lt;Text style={{ fontFamily: 'Inter', fontSize: 16, lineHeight: 1.55, color: 'rgba(225,245,238,0.86)' }}&gt;&#10;                        No row here is a claim without an executable test behind it. The check names are the ones printed by the benchmark and the evaluation script.&#10;                    &lt;/Text&gt;&#10;                &lt;/Box&gt;&#10;            &lt;/Box&gt;&#10;&#10;            &lt;Box style={{ width: 810, flexDirection: 'column' }}&gt;&#10;                &lt;Box style={{ flexDirection: 'row', paddingBottom: 10, borderBottom: '2px solid #04342C' }}&gt;&#10;                    &lt;Text style={{ fontFamily: 'JetBrains Mono', fontSize: 12, color: '#6B7280', letterSpacing: 1.5, width: 246 }}&gt;&#10;                        REQUIREMENT&#10;                    &lt;/Text&gt;&#10;                    &lt;Text style={{ fontFamily: 'JetBrains Mono', fontSize: 12, color: '#6B7280', letterSpacing: 1.5, flex: 1, paddingLeft: 18 }}&gt;&#10;                        MECHANISM&#10;                    &lt;/Text&gt;&#10;                    &lt;Text style={{ fontFamily: 'JetBrains Mono', fontSize: 12, color: '#6B7280', letterSpacing: 1.5, width: 244, paddingLeft: 18 }}&gt;&#10;                        ENFORCED BY&#10;                    &lt;/Text&gt;&#10;                &lt;/Box&gt;&#10;&#10;                &lt;Box style={{ flexDirection: 'row', alignItems: 'center', height: 59, borderBottom: '1px solid #E1F5EE' }}&gt;&#10;                    &lt;Text style={{ fontFamily: 'Inter', fontSize: 16.5, fontWeight: 600, color: '#0B1F1A', width: 246, lineHeight: 1.35 }}&gt;&#10;                        Retrieve before the utterance ends&#10;                    &lt;/Text&gt;&#10;                    &lt;Text style={{ fontFamily: 'Inter', fontSize: 15.5, color: '#6B7280', flex: 1, paddingLeft: 18, lineHeight: 1.4 }}&gt;&#10;                        Retrieval starts from a settled transcript prefix, ahead of the model's tool call.&#10;                    &lt;/Text&gt;&#10;                    &lt;Box style={{ width: 244, paddingLeft: 18 }}&gt;&#10;                        &lt;Text style={{ fontFamily: 'JetBrains Mono', fontSize: 12.5, color: '#0F6E56' }}&gt;&#10;                            speculative_retrieval_start&#10;                        &lt;/Text&gt;&#10;                    &lt;/Box&gt;&#10;                &lt;/Box&gt;&#10;&#10;                &lt;Box style={{ flexDirection: 'row', alignItems: 'center', height: 59, borderBottom: '1px solid #E1F5EE' }}&gt;&#10;                    &lt;Text style={{ fontFamily: 'Inter', fontSize: 16.5, fontWeight: 600, color: '#0B1F1A', width: 246, lineHeight: 1.35 }}&gt;&#10;                        Stay alive without losing depth&#10;                    &lt;/Text&gt;&#10;                    &lt;Text style={{ fontFamily: 'Inter', fontSize: 15.5, color: '#6B7280', flex: 1, paddingLeft: 18, lineHeight: 1.4 }}&gt;&#10;                        The acknowledgement comes from the instruction diff, never the corpus, and is audited.&#10;                    &lt;/Text&gt;&#10;                    &lt;Box style={{ width: 244, paddingLeft: 18 }}&gt;&#10;                        &lt;Text style={{ fontFamily: 'JetBrains Mono', fontSize: 12.5, color: '#0F6E56' }}&gt;&#10;                            fast_path_acknowledgement&#10;                        &lt;/Text&gt;&#10;                    &lt;/Box&gt;&#10;                &lt;/Box&gt;&#10;&#10;                &lt;Box style={{ flexDirection: 'row', alignItems: 'center', height: 59, borderBottom: '1px solid #E1F5EE' }}&gt;&#10;                    &lt;Text style={{ fontFamily: 'Inter', fontSize: 16.5, fontWeight: 600, color: '#0B1F1A', width: 246, lineHeight: 1.35 }}&gt;&#10;                        Recover from interruptions&#10;                    &lt;/Text&gt;&#10;                    &lt;Text style={{ fontFamily: 'Inter', fontSize: 15.5, color: '#6B7280', flex: 1, paddingLeft: 18, lineHeight: 1.4 }}&gt;&#10;                        Cancellation is branch-granular. Three barge-ins cause no cancellation and no restart.&#10;                    &lt;/Text&gt;&#10;                    &lt;Box style={{ width: 244, paddingLeft: 18 }}&gt;&#10;                        &lt;Text style={{ fontFamily: 'JetBrains Mono', fontSize: 12.5, color: '#0F6E56' }}&gt;&#10;                            selective_cancellation · burst_barge_in&#10;                        &lt;/Text&gt;&#10;                    &lt;/Box&gt;&#10;                &lt;/Box&gt;&#10;&#10;                &lt;Box style={{ flexDirection: 'row', alignItems: 'center', height: 59, borderBottom: '1px solid #E1F5EE' }}&gt;&#10;                    &lt;Text style={{ fontFamily: 'Inter', fontSize: 16.5, fontWeight: 600, color: '#0B1F1A', width: 246, lineHeight: 1.35 }}&gt;&#10;                        Goal changes keep context&#10;                    &lt;/Text&gt;&#10;                    &lt;Text style={{ fontFamily: 'Inter', fontSize: 15.5, color: '#6B7280', flex: 1, paddingLeft: 18, lineHeight: 1.4 }}&gt;&#10;                        A refinement patches the plan; a replacement starts clean but carries what was surfaced.&#10;                    &lt;/Text&gt;&#10;                    &lt;Box style={{ width: 244, paddingLeft: 18 }}&gt;&#10;                        &lt;Text style={{ fontFamily: 'JetBrains Mono', fontSize: 12.5, color: '#0F6E56' }}&gt;&#10;                            slot_retention&#10;                        &lt;/Text&gt;&#10;                    &lt;/Box&gt;&#10;                &lt;/Box&gt;&#10;&#10;                &lt;Box style={{ flexDirection: 'row', alignItems: 'center', height: 59, borderBottom: '1px solid #E1F5EE' }}&gt;&#10;                    &lt;Text style={{ fontFamily: 'Inter', fontSize: 16.5, fontWeight: 600, color: '#0B1F1A', width: 246, lineHeight: 1.35 }}&gt;&#10;                        Drive toward the end goal&#10;                    &lt;/Text&gt;&#10;                    &lt;Text style={{ fontFamily: 'Inter', fontSize: 15.5, color: '#6B7280', flex: 1, paddingLeft: 18, lineHeight: 1.4 }}&gt;&#10;                        The manifest splits retrieval from anything that answers a question and must block.&#10;                    &lt;/Text&gt;&#10;                    &lt;Box style={{ width: 244, paddingLeft: 18 }}&gt;&#10;                        &lt;Text style={{ fontFamily: 'JetBrains Mono', fontSize: 12.5, color: '#0F6E56' }}&gt;&#10;                            tool_behavior&#10;                        &lt;/Text&gt;&#10;                    &lt;/Box&gt;&#10;                &lt;/Box&gt;&#10;&#10;                &lt;Box style={{ flexDirection: 'row', alignItems: 'center', height: 59, borderBottom: '1px solid #E1F5EE' }}&gt;&#10;                    &lt;Text style={{ fontFamily: 'Inter', fontSize: 16.5, fontWeight: 600, color: '#0B1F1A', width: 246, lineHeight: 1.35 }}&gt;&#10;                        A harness safe with state&#10;                    &lt;/Text&gt;&#10;                    &lt;Text style={{ fontFamily: 'Inter', fontSize: 15.5, color: '#6B7280', flex: 1, paddingLeft: 18, lineHeight: 1.4 }}&gt;&#10;                        Typed bounded tools, one idempotent write, scope supersession, and an audit log.&#10;                    &lt;/Text&gt;&#10;                    &lt;Box style={{ width: 244, paddingLeft: 18 }}&gt;&#10;                        &lt;Text style={{ fontFamily: 'JetBrains Mono', fontSize: 12.5, color: '#0F6E56' }}&gt;&#10;                            idempotent_write · superseded_write&#10;                        &lt;/Text&gt;&#10;                    &lt;/Box&gt;&#10;                &lt;/Box&gt;&#10;&#10;                &lt;Box style={{ flexDirection: 'row', alignItems: 'center', height: 59, borderBottom: '1px solid #E1F5EE' }}&gt;&#10;                    &lt;Text style={{ fontFamily: 'Inter', fontSize: 16.5, fontWeight: 600, color: '#0B1F1A', width: 246, lineHeight: 1.35 }}&gt;&#10;                        Low latency, full reasoning&#10;                    &lt;/Text&gt;&#10;                    &lt;Text style={{ fontFamily: 'Inter', fontSize: 15.5, color: '#6B7280', flex: 1, paddingLeft: 18, lineHeight: 1.4 }}&gt;&#10;                        The fast path is measured against a budget; cancellation latency runs on a virtual clock.&#10;                    &lt;/Text&gt;&#10;                    &lt;Box style={{ width: 244, paddingLeft: 18 }}&gt;&#10;                        &lt;Text style={{ fontFamily: 'JetBrains Mono', fontSize: 12.5, color: '#0F6E56' }}&gt;&#10;                            fast_path · selective_cancellation&#10;                        &lt;/Text&gt;&#10;                    &lt;/Box&gt;&#10;                &lt;/Box&gt;&#10;&#10;                &lt;Box style={{ flexDirection: 'row', alignItems: 'center', height: 59, borderBottom: '1px solid #E1F5EE' }}&gt;&#10;                    &lt;Text style={{ fontFamily: 'Inter', fontSize: 16.5, fontWeight: 600, color: '#0B1F1A', width: 246, lineHeight: 1.35 }}&gt;&#10;                        Multimodal, scoped, fault-tolerant&#10;                    &lt;/Text&gt;&#10;                    &lt;Text style={{ fontFamily: 'Inter', fontSize: 15.5, color: '#6B7280', flex: 1, paddingLeft: 18, lineHeight: 1.4 }}&gt;&#10;                        Image into slots; no profile reaches the engine; malformed calls rejected before touching state.&#10;                    &lt;/Text&gt;&#10;                    &lt;Box style={{ width: 244, paddingLeft: 18 }}&gt;&#10;                        &lt;Text style={{ fontFamily: 'JetBrains Mono', fontSize: 12.5, color: '#0F6E56' }}&gt;&#10;                            vision · dropped_transport · malformed&#10;                        &lt;/Text&gt;&#10;                    &lt;/Box&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4 / 12&#10;            &lt;/Text&gt;&#10;        &lt;/Box&gt;&#10;    &lt;/Box&gt;&#10;&lt;/Slide&gt;&#10;"/>
        <p:cNvGrpSpPr/>
        <p:nvPr/>
      </p:nvGrpSpPr>
      <p:grpSpPr>
        <a:xfrm>
          <a:off x="0" y="0"/>
          <a:ext cx="0" cy="0"/>
          <a:chOff x="0" y="0"/>
          <a:chExt cx="0" cy="0"/>
        </a:xfrm>
      </p:grpSpPr>
      <p:sp>
        <p:nvSpPr>
          <p:cNvPr id="187" name=""/>
          <p:cNvSpPr/>
          <p:nvPr/>
        </p:nvSpPr>
        <p:spPr>
          <a:xfrm rot="0" flipH="0" flipV="0">
            <a:off x="0" y="0"/>
            <a:ext cx="12192000" cy="6858000"/>
          </a:xfrm>
          <a:prstGeom prst="rect">
            <a:avLst/>
          </a:prstGeom>
          <a:solidFill>
            <a:srgbClr val="FFFFFF"/>
          </a:solidFill>
          <a:ln/>
        </p:spPr>
        <p:txBody>
          <a:bodyPr/>
          <a:p/>
        </p:txBody>
      </p:sp>
      <p:sp>
        <p:nvSpPr>
          <p:cNvPr id="188" name=""/>
          <p:cNvSpPr/>
          <p:nvPr/>
        </p:nvSpPr>
        <p:spPr>
          <a:xfrm rot="0" flipH="0" flipV="0">
            <a:off x="685800" y="409575"/>
            <a:ext cx="533400" cy="57150"/>
          </a:xfrm>
          <a:prstGeom prst="rect">
            <a:avLst/>
          </a:prstGeom>
          <a:solidFill>
            <a:srgbClr val="97C459"/>
          </a:solidFill>
          <a:ln/>
        </p:spPr>
        <p:txBody>
          <a:bodyPr/>
          <a:p/>
        </p:txBody>
      </p:sp>
      <p:sp>
        <p:nvSpPr>
          <p:cNvPr id="189"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What the brief asks, what answers it</a:t>
            </a:r>
            <a:endParaRPr/>
          </a:p>
        </p:txBody>
      </p:sp>
      <p:sp>
        <p:nvSpPr>
          <p:cNvPr id="190" name=""/>
          <p:cNvSpPr/>
          <p:nvPr/>
        </p:nvSpPr>
        <p:spPr>
          <a:xfrm rot="0" flipH="0" flipV="0">
            <a:off x="685800" y="1143000"/>
            <a:ext cx="2781300" cy="5362575"/>
          </a:xfrm>
          <a:prstGeom prst="rect">
            <a:avLst/>
          </a:prstGeom>
          <a:gradFill>
            <a:gsLst>
              <a:gs pos="0">
                <a:srgbClr val="04342C"/>
              </a:gs>
              <a:gs pos="100000">
                <a:srgbClr val="0F6E56"/>
              </a:gs>
            </a:gsLst>
            <a:lin ang="4200000" scaled="1"/>
          </a:gradFill>
          <a:ln/>
        </p:spPr>
        <p:txBody>
          <a:bodyPr/>
          <a:p/>
        </p:txBody>
      </p:sp>
      <p:sp>
        <p:nvSpPr>
          <p:cNvPr id="191" name="" descr="{&quot;isTemplate&quot;:true,&quot;type&quot;:&quot;text&quot;}"/>
          <p:cNvSpPr txBox="1"/>
          <p:nvPr/>
        </p:nvSpPr>
        <p:spPr>
          <a:xfrm rot="0" flipH="0" flipV="0">
            <a:off x="933450" y="1428750"/>
            <a:ext cx="2286000" cy="152400"/>
          </a:xfrm>
          <a:prstGeom prst="rect"/>
        </p:spPr>
        <p:txBody>
          <a:bodyPr wrap="none" lIns="0" tIns="0" rIns="0" bIns="0"/>
          <a:p>
            <a:pPr>
              <a:lnSpc>
                <a:spcPct val="100000"/>
              </a:lnSpc>
            </a:pPr>
            <a:r>
              <a:rPr lang="en-US" sz="975" spc="135">
                <a:solidFill>
                  <a:srgbClr val="97C459"/>
                </a:solidFill>
                <a:latin typeface="JetBrains Mono"/>
                <a:ea typeface="JetBrains Mono"/>
              </a:rPr>
              <a:t>THEME 05 · REQUIREMENTS</a:t>
            </a:r>
            <a:endParaRPr/>
          </a:p>
        </p:txBody>
      </p:sp>
      <p:sp>
        <p:nvSpPr>
          <p:cNvPr id="192" name="" descr="{&quot;isTemplate&quot;:true,&quot;type&quot;:&quot;text&quot;}"/>
          <p:cNvSpPr txBox="1"/>
          <p:nvPr/>
        </p:nvSpPr>
        <p:spPr>
          <a:xfrm rot="0" flipH="0" flipV="0">
            <a:off x="933450" y="1771650"/>
            <a:ext cx="2286000" cy="2676525"/>
          </a:xfrm>
          <a:prstGeom prst="rect"/>
        </p:spPr>
        <p:txBody>
          <a:bodyPr wrap="square" lIns="0" tIns="0" rIns="0" bIns="0">
            <a:normAutofit/>
          </a:bodyPr>
          <a:p>
            <a:pPr>
              <a:lnSpc>
                <a:spcPct val="145000"/>
              </a:lnSpc>
            </a:pPr>
            <a:r>
              <a:rPr lang="en-US" sz="1725" b="1">
                <a:solidFill>
                  <a:srgbClr val="FFFFFF"/>
                </a:solidFill>
                <a:latin typeface="Inter"/>
                <a:ea typeface="Inter"/>
              </a:rPr>
              <a:t>Eight asks from the brief. Each one has a mechanism, and each mechanism has a named check that fails the build when it regresses.</a:t>
            </a:r>
            <a:endParaRPr/>
          </a:p>
        </p:txBody>
      </p:sp>
      <p:sp>
        <p:nvSpPr>
          <p:cNvPr id="193" name=""/>
          <p:cNvSpPr/>
          <p:nvPr/>
        </p:nvSpPr>
        <p:spPr>
          <a:xfrm rot="0" flipH="0" flipV="0">
            <a:off x="933450" y="4638675"/>
            <a:ext cx="2286000" cy="9525"/>
          </a:xfrm>
          <a:prstGeom prst="rect">
            <a:avLst/>
          </a:prstGeom>
          <a:solidFill>
            <a:srgbClr val="E1F5EE">
              <a:alpha val="28000"/>
            </a:srgbClr>
          </a:solidFill>
          <a:ln/>
        </p:spPr>
        <p:txBody>
          <a:bodyPr/>
          <a:p/>
        </p:txBody>
      </p:sp>
      <p:sp>
        <p:nvSpPr>
          <p:cNvPr id="194" name="" descr="{&quot;isTemplate&quot;:true,&quot;type&quot;:&quot;text&quot;}"/>
          <p:cNvSpPr txBox="1"/>
          <p:nvPr/>
        </p:nvSpPr>
        <p:spPr>
          <a:xfrm rot="0" flipH="0" flipV="0">
            <a:off x="933450" y="4800600"/>
            <a:ext cx="2286000" cy="1419225"/>
          </a:xfrm>
          <a:prstGeom prst="rect"/>
        </p:spPr>
        <p:txBody>
          <a:bodyPr wrap="square" lIns="0" tIns="0" rIns="0" bIns="0">
            <a:normAutofit/>
          </a:bodyPr>
          <a:p>
            <a:pPr>
              <a:lnSpc>
                <a:spcPct val="155000"/>
              </a:lnSpc>
            </a:pPr>
            <a:r>
              <a:rPr lang="en-US" sz="1200">
                <a:solidFill>
                  <a:srgbClr val="E1F5EE">
                    <a:alpha val="86000"/>
                  </a:srgbClr>
                </a:solidFill>
                <a:latin typeface="Inter"/>
                <a:ea typeface="Inter"/>
              </a:rPr>
              <a:t>No row here is a claim without an executable test behind it. The check names are the ones printed by the benchmark and the evaluation script.</a:t>
            </a:r>
            <a:endParaRPr/>
          </a:p>
        </p:txBody>
      </p:sp>
      <p:sp>
        <p:nvSpPr>
          <p:cNvPr id="195" name=""/>
          <p:cNvSpPr/>
          <p:nvPr/>
        </p:nvSpPr>
        <p:spPr>
          <a:xfrm rot="0" flipH="0" flipV="0">
            <a:off x="3790950" y="1143000"/>
            <a:ext cx="7715250" cy="276225"/>
          </a:xfrm>
          <a:custGeom>
            <a:pathLst>
              <a:path w="810" h="29">
                <a:moveTo>
                  <a:pt x="0" y="27"/>
                </a:moveTo>
                <a:lnTo>
                  <a:pt x="810" y="27"/>
                </a:lnTo>
                <a:lnTo>
                  <a:pt x="810" y="29"/>
                </a:lnTo>
                <a:lnTo>
                  <a:pt x="0" y="29"/>
                </a:lnTo>
                <a:close/>
              </a:path>
            </a:pathLst>
          </a:custGeom>
          <a:solidFill>
            <a:srgbClr val="04342C"/>
          </a:solidFill>
          <a:ln/>
        </p:spPr>
        <p:txBody>
          <a:bodyPr/>
          <a:p/>
        </p:txBody>
      </p:sp>
      <p:sp>
        <p:nvSpPr>
          <p:cNvPr id="196" name="" descr="{&quot;isTemplate&quot;:true,&quot;type&quot;:&quot;text&quot;}"/>
          <p:cNvSpPr txBox="1"/>
          <p:nvPr/>
        </p:nvSpPr>
        <p:spPr>
          <a:xfrm rot="0" flipH="0" flipV="0">
            <a:off x="3790950" y="1143000"/>
            <a:ext cx="2343150" cy="142875"/>
          </a:xfrm>
          <a:prstGeom prst="rect"/>
        </p:spPr>
        <p:txBody>
          <a:bodyPr wrap="none" lIns="0" tIns="0" rIns="0" bIns="0"/>
          <a:p>
            <a:pPr>
              <a:lnSpc>
                <a:spcPct val="100000"/>
              </a:lnSpc>
            </a:pPr>
            <a:r>
              <a:rPr lang="en-US" sz="900" spc="113">
                <a:solidFill>
                  <a:srgbClr val="6B7280"/>
                </a:solidFill>
                <a:latin typeface="JetBrains Mono"/>
                <a:ea typeface="JetBrains Mono"/>
              </a:rPr>
              <a:t>REQUIREMENT</a:t>
            </a:r>
            <a:endParaRPr/>
          </a:p>
        </p:txBody>
      </p:sp>
      <p:sp>
        <p:nvSpPr>
          <p:cNvPr id="197" name="" descr="{&quot;isTemplate&quot;:true,&quot;type&quot;:&quot;text&quot;}"/>
          <p:cNvSpPr txBox="1"/>
          <p:nvPr/>
        </p:nvSpPr>
        <p:spPr>
          <a:xfrm rot="0" flipH="0" flipV="0">
            <a:off x="6134100" y="1143000"/>
            <a:ext cx="3048000" cy="142875"/>
          </a:xfrm>
          <a:prstGeom prst="rect"/>
        </p:spPr>
        <p:txBody>
          <a:bodyPr wrap="none" lIns="128588" tIns="0" rIns="0" bIns="0"/>
          <a:p>
            <a:pPr>
              <a:lnSpc>
                <a:spcPct val="100000"/>
              </a:lnSpc>
            </a:pPr>
            <a:r>
              <a:rPr lang="en-US" sz="900" spc="113">
                <a:solidFill>
                  <a:srgbClr val="6B7280"/>
                </a:solidFill>
                <a:latin typeface="JetBrains Mono"/>
                <a:ea typeface="JetBrains Mono"/>
              </a:rPr>
              <a:t>MECHANISM</a:t>
            </a:r>
            <a:endParaRPr/>
          </a:p>
        </p:txBody>
      </p:sp>
      <p:sp>
        <p:nvSpPr>
          <p:cNvPr id="198" name="" descr="{&quot;isTemplate&quot;:true,&quot;type&quot;:&quot;text&quot;}"/>
          <p:cNvSpPr txBox="1"/>
          <p:nvPr/>
        </p:nvSpPr>
        <p:spPr>
          <a:xfrm rot="0" flipH="0" flipV="0">
            <a:off x="9182100" y="1143000"/>
            <a:ext cx="2324100" cy="142875"/>
          </a:xfrm>
          <a:prstGeom prst="rect"/>
        </p:spPr>
        <p:txBody>
          <a:bodyPr wrap="none" lIns="128588" tIns="0" rIns="0" bIns="0"/>
          <a:p>
            <a:pPr>
              <a:lnSpc>
                <a:spcPct val="100000"/>
              </a:lnSpc>
            </a:pPr>
            <a:r>
              <a:rPr lang="en-US" sz="900" spc="113">
                <a:solidFill>
                  <a:srgbClr val="6B7280"/>
                </a:solidFill>
                <a:latin typeface="JetBrains Mono"/>
                <a:ea typeface="JetBrains Mono"/>
              </a:rPr>
              <a:t>ENFORCED BY</a:t>
            </a:r>
            <a:endParaRPr/>
          </a:p>
        </p:txBody>
      </p:sp>
      <p:sp>
        <p:nvSpPr>
          <p:cNvPr id="199" name=""/>
          <p:cNvSpPr/>
          <p:nvPr/>
        </p:nvSpPr>
        <p:spPr>
          <a:xfrm rot="0" flipH="0" flipV="0">
            <a:off x="3790950" y="1400175"/>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00" name="" descr="{&quot;isTemplate&quot;:true,&quot;type&quot;:&quot;text&quot;}"/>
          <p:cNvSpPr txBox="1"/>
          <p:nvPr/>
        </p:nvSpPr>
        <p:spPr>
          <a:xfrm rot="0" flipH="0" flipV="0">
            <a:off x="3790950" y="1419225"/>
            <a:ext cx="2343150" cy="514350"/>
          </a:xfrm>
          <a:prstGeom prst="rect"/>
        </p:spPr>
        <p:txBody>
          <a:bodyPr wrap="square" lIns="0" tIns="0" rIns="0" bIns="0">
            <a:normAutofit/>
          </a:bodyPr>
          <a:p>
            <a:pPr>
              <a:lnSpc>
                <a:spcPct val="135000"/>
              </a:lnSpc>
            </a:pPr>
            <a:r>
              <a:rPr lang="en-US" sz="1238" b="1">
                <a:solidFill>
                  <a:srgbClr val="0B1F1A"/>
                </a:solidFill>
                <a:latin typeface="Inter"/>
                <a:ea typeface="Inter"/>
              </a:rPr>
              <a:t>Retrieve before the utterance ends</a:t>
            </a:r>
            <a:endParaRPr/>
          </a:p>
        </p:txBody>
      </p:sp>
      <p:sp>
        <p:nvSpPr>
          <p:cNvPr id="201" name="" descr="{&quot;isTemplate&quot;:true,&quot;type&quot;:&quot;text&quot;}"/>
          <p:cNvSpPr txBox="1"/>
          <p:nvPr/>
        </p:nvSpPr>
        <p:spPr>
          <a:xfrm rot="0" flipH="0" flipV="0">
            <a:off x="6134100" y="1428750"/>
            <a:ext cx="3048000" cy="504825"/>
          </a:xfrm>
          <a:prstGeom prst="rect"/>
        </p:spPr>
        <p:txBody>
          <a:bodyPr wrap="square" lIns="128588" tIns="0" rIns="0" bIns="0">
            <a:normAutofit/>
          </a:bodyPr>
          <a:p>
            <a:pPr>
              <a:lnSpc>
                <a:spcPct val="140000"/>
              </a:lnSpc>
            </a:pPr>
            <a:r>
              <a:rPr lang="en-US" sz="1163">
                <a:solidFill>
                  <a:srgbClr val="6B7280"/>
                </a:solidFill>
                <a:latin typeface="Inter"/>
                <a:ea typeface="Inter"/>
              </a:rPr>
              <a:t>Retrieval starts from a settled transcript prefix, ahead of the model's tool call.</a:t>
            </a:r>
            <a:endParaRPr/>
          </a:p>
        </p:txBody>
      </p:sp>
      <p:sp>
        <p:nvSpPr>
          <p:cNvPr id="202" name="" descr="{&quot;isTemplate&quot;:true,&quot;type&quot;:&quot;text&quot;}"/>
          <p:cNvSpPr txBox="1"/>
          <p:nvPr/>
        </p:nvSpPr>
        <p:spPr>
          <a:xfrm rot="0" flipH="0" flipV="0">
            <a:off x="9353550" y="1609725"/>
            <a:ext cx="2152650" cy="142875"/>
          </a:xfrm>
          <a:prstGeom prst="rect"/>
        </p:spPr>
        <p:txBody>
          <a:bodyPr wrap="none" lIns="0" tIns="0" rIns="0" bIns="0"/>
          <a:p>
            <a:pPr>
              <a:lnSpc>
                <a:spcPct val="100000"/>
              </a:lnSpc>
            </a:pPr>
            <a:r>
              <a:rPr lang="en-US" sz="938">
                <a:solidFill>
                  <a:srgbClr val="0F6E56"/>
                </a:solidFill>
                <a:latin typeface="JetBrains Mono"/>
                <a:ea typeface="JetBrains Mono"/>
              </a:rPr>
              <a:t>speculative_retrieval_start</a:t>
            </a:r>
            <a:endParaRPr/>
          </a:p>
        </p:txBody>
      </p:sp>
      <p:sp>
        <p:nvSpPr>
          <p:cNvPr id="203" name=""/>
          <p:cNvSpPr/>
          <p:nvPr/>
        </p:nvSpPr>
        <p:spPr>
          <a:xfrm rot="0" flipH="0" flipV="0">
            <a:off x="3790950" y="1962150"/>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04" name="" descr="{&quot;isTemplate&quot;:true,&quot;type&quot;:&quot;text&quot;}"/>
          <p:cNvSpPr txBox="1"/>
          <p:nvPr/>
        </p:nvSpPr>
        <p:spPr>
          <a:xfrm rot="0" flipH="0" flipV="0">
            <a:off x="3790950" y="2114550"/>
            <a:ext cx="2343150" cy="257175"/>
          </a:xfrm>
          <a:prstGeom prst="rect"/>
        </p:spPr>
        <p:txBody>
          <a:bodyPr wrap="none" lIns="0" tIns="0" rIns="0" bIns="0"/>
          <a:p>
            <a:pPr>
              <a:lnSpc>
                <a:spcPct val="135000"/>
              </a:lnSpc>
            </a:pPr>
            <a:r>
              <a:rPr lang="en-US" sz="1238" b="1">
                <a:solidFill>
                  <a:srgbClr val="0B1F1A"/>
                </a:solidFill>
                <a:latin typeface="Inter"/>
                <a:ea typeface="Inter"/>
              </a:rPr>
              <a:t>Stay alive without losing depth</a:t>
            </a:r>
            <a:endParaRPr/>
          </a:p>
        </p:txBody>
      </p:sp>
      <p:sp>
        <p:nvSpPr>
          <p:cNvPr id="205" name="" descr="{&quot;isTemplate&quot;:true,&quot;type&quot;:&quot;text&quot;}"/>
          <p:cNvSpPr txBox="1"/>
          <p:nvPr/>
        </p:nvSpPr>
        <p:spPr>
          <a:xfrm rot="0" flipH="0" flipV="0">
            <a:off x="6134100" y="1866900"/>
            <a:ext cx="3048000" cy="752475"/>
          </a:xfrm>
          <a:prstGeom prst="rect"/>
        </p:spPr>
        <p:txBody>
          <a:bodyPr wrap="square" lIns="128588" tIns="0" rIns="0" bIns="0">
            <a:normAutofit/>
          </a:bodyPr>
          <a:p>
            <a:pPr>
              <a:lnSpc>
                <a:spcPct val="140000"/>
              </a:lnSpc>
            </a:pPr>
            <a:r>
              <a:rPr lang="en-US" sz="1163">
                <a:solidFill>
                  <a:srgbClr val="6B7280"/>
                </a:solidFill>
                <a:latin typeface="Inter"/>
                <a:ea typeface="Inter"/>
              </a:rPr>
              <a:t>The acknowledgement comes from the instruction diff, never the corpus, and is audited.</a:t>
            </a:r>
            <a:endParaRPr/>
          </a:p>
        </p:txBody>
      </p:sp>
      <p:sp>
        <p:nvSpPr>
          <p:cNvPr id="206" name="" descr="{&quot;isTemplate&quot;:true,&quot;type&quot;:&quot;text&quot;}"/>
          <p:cNvSpPr txBox="1"/>
          <p:nvPr/>
        </p:nvSpPr>
        <p:spPr>
          <a:xfrm rot="0" flipH="0" flipV="0">
            <a:off x="9353550" y="2171700"/>
            <a:ext cx="2152650" cy="142875"/>
          </a:xfrm>
          <a:prstGeom prst="rect"/>
        </p:spPr>
        <p:txBody>
          <a:bodyPr wrap="none" lIns="0" tIns="0" rIns="0" bIns="0"/>
          <a:p>
            <a:pPr>
              <a:lnSpc>
                <a:spcPct val="100000"/>
              </a:lnSpc>
            </a:pPr>
            <a:r>
              <a:rPr lang="en-US" sz="938">
                <a:solidFill>
                  <a:srgbClr val="0F6E56"/>
                </a:solidFill>
                <a:latin typeface="JetBrains Mono"/>
                <a:ea typeface="JetBrains Mono"/>
              </a:rPr>
              <a:t>fast_path_acknowledgement</a:t>
            </a:r>
            <a:endParaRPr/>
          </a:p>
        </p:txBody>
      </p:sp>
      <p:sp>
        <p:nvSpPr>
          <p:cNvPr id="207" name=""/>
          <p:cNvSpPr/>
          <p:nvPr/>
        </p:nvSpPr>
        <p:spPr>
          <a:xfrm rot="0" flipH="0" flipV="0">
            <a:off x="3790950" y="2524125"/>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08" name="" descr="{&quot;isTemplate&quot;:true,&quot;type&quot;:&quot;text&quot;}"/>
          <p:cNvSpPr txBox="1"/>
          <p:nvPr/>
        </p:nvSpPr>
        <p:spPr>
          <a:xfrm rot="0" flipH="0" flipV="0">
            <a:off x="3790950" y="2676525"/>
            <a:ext cx="2343150" cy="257175"/>
          </a:xfrm>
          <a:prstGeom prst="rect"/>
        </p:spPr>
        <p:txBody>
          <a:bodyPr wrap="none" lIns="0" tIns="0" rIns="0" bIns="0"/>
          <a:p>
            <a:pPr>
              <a:lnSpc>
                <a:spcPct val="135000"/>
              </a:lnSpc>
            </a:pPr>
            <a:r>
              <a:rPr lang="en-US" sz="1238" b="1">
                <a:solidFill>
                  <a:srgbClr val="0B1F1A"/>
                </a:solidFill>
                <a:latin typeface="Inter"/>
                <a:ea typeface="Inter"/>
              </a:rPr>
              <a:t>Recover from interruptions</a:t>
            </a:r>
            <a:endParaRPr/>
          </a:p>
        </p:txBody>
      </p:sp>
      <p:sp>
        <p:nvSpPr>
          <p:cNvPr id="209" name="" descr="{&quot;isTemplate&quot;:true,&quot;type&quot;:&quot;text&quot;}"/>
          <p:cNvSpPr txBox="1"/>
          <p:nvPr/>
        </p:nvSpPr>
        <p:spPr>
          <a:xfrm rot="0" flipH="0" flipV="0">
            <a:off x="6134100" y="2428875"/>
            <a:ext cx="3048000" cy="752475"/>
          </a:xfrm>
          <a:prstGeom prst="rect"/>
        </p:spPr>
        <p:txBody>
          <a:bodyPr wrap="square" lIns="128588" tIns="0" rIns="0" bIns="0">
            <a:normAutofit/>
          </a:bodyPr>
          <a:p>
            <a:pPr>
              <a:lnSpc>
                <a:spcPct val="140000"/>
              </a:lnSpc>
            </a:pPr>
            <a:r>
              <a:rPr lang="en-US" sz="1163">
                <a:solidFill>
                  <a:srgbClr val="6B7280"/>
                </a:solidFill>
                <a:latin typeface="Inter"/>
                <a:ea typeface="Inter"/>
              </a:rPr>
              <a:t>Cancellation is branch-granular. Three barge-ins cause no cancellation and no restart.</a:t>
            </a:r>
            <a:endParaRPr/>
          </a:p>
        </p:txBody>
      </p:sp>
      <p:sp>
        <p:nvSpPr>
          <p:cNvPr id="210" name="" descr="{&quot;isTemplate&quot;:true,&quot;type&quot;:&quot;text&quot;}"/>
          <p:cNvSpPr txBox="1"/>
          <p:nvPr/>
        </p:nvSpPr>
        <p:spPr>
          <a:xfrm rot="0" flipH="0" flipV="0">
            <a:off x="9353550" y="2733675"/>
            <a:ext cx="2152650" cy="142875"/>
          </a:xfrm>
          <a:prstGeom prst="rect"/>
        </p:spPr>
        <p:txBody>
          <a:bodyPr wrap="none" lIns="0" tIns="0" rIns="0" bIns="0"/>
          <a:p>
            <a:pPr>
              <a:lnSpc>
                <a:spcPct val="100000"/>
              </a:lnSpc>
            </a:pPr>
            <a:r>
              <a:rPr lang="en-US" sz="938">
                <a:solidFill>
                  <a:srgbClr val="0F6E56"/>
                </a:solidFill>
                <a:latin typeface="JetBrains Mono"/>
                <a:ea typeface="JetBrains Mono"/>
              </a:rPr>
              <a:t>selective_cancellation · burst_barge_in</a:t>
            </a:r>
            <a:endParaRPr/>
          </a:p>
        </p:txBody>
      </p:sp>
      <p:sp>
        <p:nvSpPr>
          <p:cNvPr id="211" name=""/>
          <p:cNvSpPr/>
          <p:nvPr/>
        </p:nvSpPr>
        <p:spPr>
          <a:xfrm rot="0" flipH="0" flipV="0">
            <a:off x="3790950" y="3086100"/>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12" name="" descr="{&quot;isTemplate&quot;:true,&quot;type&quot;:&quot;text&quot;}"/>
          <p:cNvSpPr txBox="1"/>
          <p:nvPr/>
        </p:nvSpPr>
        <p:spPr>
          <a:xfrm rot="0" flipH="0" flipV="0">
            <a:off x="3790950" y="3238500"/>
            <a:ext cx="2343150" cy="257175"/>
          </a:xfrm>
          <a:prstGeom prst="rect"/>
        </p:spPr>
        <p:txBody>
          <a:bodyPr wrap="none" lIns="0" tIns="0" rIns="0" bIns="0"/>
          <a:p>
            <a:pPr>
              <a:lnSpc>
                <a:spcPct val="135000"/>
              </a:lnSpc>
            </a:pPr>
            <a:r>
              <a:rPr lang="en-US" sz="1238" b="1">
                <a:solidFill>
                  <a:srgbClr val="0B1F1A"/>
                </a:solidFill>
                <a:latin typeface="Inter"/>
                <a:ea typeface="Inter"/>
              </a:rPr>
              <a:t>Goal changes keep context</a:t>
            </a:r>
            <a:endParaRPr/>
          </a:p>
        </p:txBody>
      </p:sp>
      <p:sp>
        <p:nvSpPr>
          <p:cNvPr id="213" name="" descr="{&quot;isTemplate&quot;:true,&quot;type&quot;:&quot;text&quot;}"/>
          <p:cNvSpPr txBox="1"/>
          <p:nvPr/>
        </p:nvSpPr>
        <p:spPr>
          <a:xfrm rot="0" flipH="0" flipV="0">
            <a:off x="6134100" y="2990850"/>
            <a:ext cx="3048000" cy="752475"/>
          </a:xfrm>
          <a:prstGeom prst="rect"/>
        </p:spPr>
        <p:txBody>
          <a:bodyPr wrap="square" lIns="128588" tIns="0" rIns="0" bIns="0">
            <a:normAutofit/>
          </a:bodyPr>
          <a:p>
            <a:pPr>
              <a:lnSpc>
                <a:spcPct val="140000"/>
              </a:lnSpc>
            </a:pPr>
            <a:r>
              <a:rPr lang="en-US" sz="1163">
                <a:solidFill>
                  <a:srgbClr val="6B7280"/>
                </a:solidFill>
                <a:latin typeface="Inter"/>
                <a:ea typeface="Inter"/>
              </a:rPr>
              <a:t>A refinement patches the plan; a replacement starts clean but carries what was surfaced.</a:t>
            </a:r>
            <a:endParaRPr/>
          </a:p>
        </p:txBody>
      </p:sp>
      <p:sp>
        <p:nvSpPr>
          <p:cNvPr id="214" name="" descr="{&quot;isTemplate&quot;:true,&quot;type&quot;:&quot;text&quot;}"/>
          <p:cNvSpPr txBox="1"/>
          <p:nvPr/>
        </p:nvSpPr>
        <p:spPr>
          <a:xfrm rot="0" flipH="0" flipV="0">
            <a:off x="9353550" y="3295650"/>
            <a:ext cx="2152650" cy="142875"/>
          </a:xfrm>
          <a:prstGeom prst="rect"/>
        </p:spPr>
        <p:txBody>
          <a:bodyPr wrap="none" lIns="0" tIns="0" rIns="0" bIns="0"/>
          <a:p>
            <a:pPr>
              <a:lnSpc>
                <a:spcPct val="100000"/>
              </a:lnSpc>
            </a:pPr>
            <a:r>
              <a:rPr lang="en-US" sz="938">
                <a:solidFill>
                  <a:srgbClr val="0F6E56"/>
                </a:solidFill>
                <a:latin typeface="JetBrains Mono"/>
                <a:ea typeface="JetBrains Mono"/>
              </a:rPr>
              <a:t>slot_retention</a:t>
            </a:r>
            <a:endParaRPr/>
          </a:p>
        </p:txBody>
      </p:sp>
      <p:sp>
        <p:nvSpPr>
          <p:cNvPr id="215" name=""/>
          <p:cNvSpPr/>
          <p:nvPr/>
        </p:nvSpPr>
        <p:spPr>
          <a:xfrm rot="0" flipH="0" flipV="0">
            <a:off x="3790950" y="3648075"/>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16" name="" descr="{&quot;isTemplate&quot;:true,&quot;type&quot;:&quot;text&quot;}"/>
          <p:cNvSpPr txBox="1"/>
          <p:nvPr/>
        </p:nvSpPr>
        <p:spPr>
          <a:xfrm rot="0" flipH="0" flipV="0">
            <a:off x="3790950" y="3800475"/>
            <a:ext cx="2343150" cy="257175"/>
          </a:xfrm>
          <a:prstGeom prst="rect"/>
        </p:spPr>
        <p:txBody>
          <a:bodyPr wrap="none" lIns="0" tIns="0" rIns="0" bIns="0"/>
          <a:p>
            <a:pPr>
              <a:lnSpc>
                <a:spcPct val="135000"/>
              </a:lnSpc>
            </a:pPr>
            <a:r>
              <a:rPr lang="en-US" sz="1238" b="1">
                <a:solidFill>
                  <a:srgbClr val="0B1F1A"/>
                </a:solidFill>
                <a:latin typeface="Inter"/>
                <a:ea typeface="Inter"/>
              </a:rPr>
              <a:t>Drive toward the end goal</a:t>
            </a:r>
            <a:endParaRPr/>
          </a:p>
        </p:txBody>
      </p:sp>
      <p:sp>
        <p:nvSpPr>
          <p:cNvPr id="217" name="" descr="{&quot;isTemplate&quot;:true,&quot;type&quot;:&quot;text&quot;}"/>
          <p:cNvSpPr txBox="1"/>
          <p:nvPr/>
        </p:nvSpPr>
        <p:spPr>
          <a:xfrm rot="0" flipH="0" flipV="0">
            <a:off x="6134100" y="3676650"/>
            <a:ext cx="3048000" cy="504825"/>
          </a:xfrm>
          <a:prstGeom prst="rect"/>
        </p:spPr>
        <p:txBody>
          <a:bodyPr wrap="square" lIns="128588" tIns="0" rIns="0" bIns="0">
            <a:normAutofit/>
          </a:bodyPr>
          <a:p>
            <a:pPr>
              <a:lnSpc>
                <a:spcPct val="140000"/>
              </a:lnSpc>
            </a:pPr>
            <a:r>
              <a:rPr lang="en-US" sz="1163">
                <a:solidFill>
                  <a:srgbClr val="6B7280"/>
                </a:solidFill>
                <a:latin typeface="Inter"/>
                <a:ea typeface="Inter"/>
              </a:rPr>
              <a:t>The manifest splits retrieval from anything that answers a question and must block.</a:t>
            </a:r>
            <a:endParaRPr/>
          </a:p>
        </p:txBody>
      </p:sp>
      <p:sp>
        <p:nvSpPr>
          <p:cNvPr id="218" name="" descr="{&quot;isTemplate&quot;:true,&quot;type&quot;:&quot;text&quot;}"/>
          <p:cNvSpPr txBox="1"/>
          <p:nvPr/>
        </p:nvSpPr>
        <p:spPr>
          <a:xfrm rot="0" flipH="0" flipV="0">
            <a:off x="9353550" y="3857625"/>
            <a:ext cx="2152650" cy="142875"/>
          </a:xfrm>
          <a:prstGeom prst="rect"/>
        </p:spPr>
        <p:txBody>
          <a:bodyPr wrap="none" lIns="0" tIns="0" rIns="0" bIns="0"/>
          <a:p>
            <a:pPr>
              <a:lnSpc>
                <a:spcPct val="100000"/>
              </a:lnSpc>
            </a:pPr>
            <a:r>
              <a:rPr lang="en-US" sz="938">
                <a:solidFill>
                  <a:srgbClr val="0F6E56"/>
                </a:solidFill>
                <a:latin typeface="JetBrains Mono"/>
                <a:ea typeface="JetBrains Mono"/>
              </a:rPr>
              <a:t>tool_behavior</a:t>
            </a:r>
            <a:endParaRPr/>
          </a:p>
        </p:txBody>
      </p:sp>
      <p:sp>
        <p:nvSpPr>
          <p:cNvPr id="219" name=""/>
          <p:cNvSpPr/>
          <p:nvPr/>
        </p:nvSpPr>
        <p:spPr>
          <a:xfrm rot="0" flipH="0" flipV="0">
            <a:off x="3790950" y="4210050"/>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20" name="" descr="{&quot;isTemplate&quot;:true,&quot;type&quot;:&quot;text&quot;}"/>
          <p:cNvSpPr txBox="1"/>
          <p:nvPr/>
        </p:nvSpPr>
        <p:spPr>
          <a:xfrm rot="0" flipH="0" flipV="0">
            <a:off x="3790950" y="4362450"/>
            <a:ext cx="2343150" cy="257175"/>
          </a:xfrm>
          <a:prstGeom prst="rect"/>
        </p:spPr>
        <p:txBody>
          <a:bodyPr wrap="none" lIns="0" tIns="0" rIns="0" bIns="0"/>
          <a:p>
            <a:pPr>
              <a:lnSpc>
                <a:spcPct val="135000"/>
              </a:lnSpc>
            </a:pPr>
            <a:r>
              <a:rPr lang="en-US" sz="1238" b="1">
                <a:solidFill>
                  <a:srgbClr val="0B1F1A"/>
                </a:solidFill>
                <a:latin typeface="Inter"/>
                <a:ea typeface="Inter"/>
              </a:rPr>
              <a:t>A harness safe with state</a:t>
            </a:r>
            <a:endParaRPr/>
          </a:p>
        </p:txBody>
      </p:sp>
      <p:sp>
        <p:nvSpPr>
          <p:cNvPr id="221" name="" descr="{&quot;isTemplate&quot;:true,&quot;type&quot;:&quot;text&quot;}"/>
          <p:cNvSpPr txBox="1"/>
          <p:nvPr/>
        </p:nvSpPr>
        <p:spPr>
          <a:xfrm rot="0" flipH="0" flipV="0">
            <a:off x="6134100" y="4238625"/>
            <a:ext cx="3048000" cy="504825"/>
          </a:xfrm>
          <a:prstGeom prst="rect"/>
        </p:spPr>
        <p:txBody>
          <a:bodyPr wrap="square" lIns="128588" tIns="0" rIns="0" bIns="0">
            <a:normAutofit/>
          </a:bodyPr>
          <a:p>
            <a:pPr>
              <a:lnSpc>
                <a:spcPct val="140000"/>
              </a:lnSpc>
            </a:pPr>
            <a:r>
              <a:rPr lang="en-US" sz="1163">
                <a:solidFill>
                  <a:srgbClr val="6B7280"/>
                </a:solidFill>
                <a:latin typeface="Inter"/>
                <a:ea typeface="Inter"/>
              </a:rPr>
              <a:t>Typed bounded tools, one idempotent write, scope supersession, and an audit log.</a:t>
            </a:r>
            <a:endParaRPr/>
          </a:p>
        </p:txBody>
      </p:sp>
      <p:sp>
        <p:nvSpPr>
          <p:cNvPr id="222" name="" descr="{&quot;isTemplate&quot;:true,&quot;type&quot;:&quot;text&quot;}"/>
          <p:cNvSpPr txBox="1"/>
          <p:nvPr/>
        </p:nvSpPr>
        <p:spPr>
          <a:xfrm rot="0" flipH="0" flipV="0">
            <a:off x="9353550" y="4419600"/>
            <a:ext cx="2152650" cy="142875"/>
          </a:xfrm>
          <a:prstGeom prst="rect"/>
        </p:spPr>
        <p:txBody>
          <a:bodyPr wrap="none" lIns="0" tIns="0" rIns="0" bIns="0"/>
          <a:p>
            <a:pPr>
              <a:lnSpc>
                <a:spcPct val="100000"/>
              </a:lnSpc>
            </a:pPr>
            <a:r>
              <a:rPr lang="en-US" sz="938">
                <a:solidFill>
                  <a:srgbClr val="0F6E56"/>
                </a:solidFill>
                <a:latin typeface="JetBrains Mono"/>
                <a:ea typeface="JetBrains Mono"/>
              </a:rPr>
              <a:t>idempotent_write · superseded_write</a:t>
            </a:r>
            <a:endParaRPr/>
          </a:p>
        </p:txBody>
      </p:sp>
      <p:sp>
        <p:nvSpPr>
          <p:cNvPr id="223" name=""/>
          <p:cNvSpPr/>
          <p:nvPr/>
        </p:nvSpPr>
        <p:spPr>
          <a:xfrm rot="0" flipH="0" flipV="0">
            <a:off x="3790950" y="4772025"/>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24" name="" descr="{&quot;isTemplate&quot;:true,&quot;type&quot;:&quot;text&quot;}"/>
          <p:cNvSpPr txBox="1"/>
          <p:nvPr/>
        </p:nvSpPr>
        <p:spPr>
          <a:xfrm rot="0" flipH="0" flipV="0">
            <a:off x="3790950" y="4924425"/>
            <a:ext cx="2343150" cy="257175"/>
          </a:xfrm>
          <a:prstGeom prst="rect"/>
        </p:spPr>
        <p:txBody>
          <a:bodyPr wrap="none" lIns="0" tIns="0" rIns="0" bIns="0"/>
          <a:p>
            <a:pPr>
              <a:lnSpc>
                <a:spcPct val="135000"/>
              </a:lnSpc>
            </a:pPr>
            <a:r>
              <a:rPr lang="en-US" sz="1238" b="1">
                <a:solidFill>
                  <a:srgbClr val="0B1F1A"/>
                </a:solidFill>
                <a:latin typeface="Inter"/>
                <a:ea typeface="Inter"/>
              </a:rPr>
              <a:t>Low latency, full reasoning</a:t>
            </a:r>
            <a:endParaRPr/>
          </a:p>
        </p:txBody>
      </p:sp>
      <p:sp>
        <p:nvSpPr>
          <p:cNvPr id="225" name="" descr="{&quot;isTemplate&quot;:true,&quot;type&quot;:&quot;text&quot;}"/>
          <p:cNvSpPr txBox="1"/>
          <p:nvPr/>
        </p:nvSpPr>
        <p:spPr>
          <a:xfrm rot="0" flipH="0" flipV="0">
            <a:off x="6134100" y="4676775"/>
            <a:ext cx="3048000" cy="752475"/>
          </a:xfrm>
          <a:prstGeom prst="rect"/>
        </p:spPr>
        <p:txBody>
          <a:bodyPr wrap="square" lIns="128588" tIns="0" rIns="0" bIns="0">
            <a:normAutofit/>
          </a:bodyPr>
          <a:p>
            <a:pPr>
              <a:lnSpc>
                <a:spcPct val="140000"/>
              </a:lnSpc>
            </a:pPr>
            <a:r>
              <a:rPr lang="en-US" sz="1163">
                <a:solidFill>
                  <a:srgbClr val="6B7280"/>
                </a:solidFill>
                <a:latin typeface="Inter"/>
                <a:ea typeface="Inter"/>
              </a:rPr>
              <a:t>The fast path is measured against a budget; cancellation latency runs on a virtual clock.</a:t>
            </a:r>
            <a:endParaRPr/>
          </a:p>
        </p:txBody>
      </p:sp>
      <p:sp>
        <p:nvSpPr>
          <p:cNvPr id="226" name="" descr="{&quot;isTemplate&quot;:true,&quot;type&quot;:&quot;text&quot;}"/>
          <p:cNvSpPr txBox="1"/>
          <p:nvPr/>
        </p:nvSpPr>
        <p:spPr>
          <a:xfrm rot="0" flipH="0" flipV="0">
            <a:off x="9353550" y="4981575"/>
            <a:ext cx="2152650" cy="142875"/>
          </a:xfrm>
          <a:prstGeom prst="rect"/>
        </p:spPr>
        <p:txBody>
          <a:bodyPr wrap="none" lIns="0" tIns="0" rIns="0" bIns="0"/>
          <a:p>
            <a:pPr>
              <a:lnSpc>
                <a:spcPct val="100000"/>
              </a:lnSpc>
            </a:pPr>
            <a:r>
              <a:rPr lang="en-US" sz="938">
                <a:solidFill>
                  <a:srgbClr val="0F6E56"/>
                </a:solidFill>
                <a:latin typeface="JetBrains Mono"/>
                <a:ea typeface="JetBrains Mono"/>
              </a:rPr>
              <a:t>fast_path · selective_cancellation</a:t>
            </a:r>
            <a:endParaRPr/>
          </a:p>
        </p:txBody>
      </p:sp>
      <p:sp>
        <p:nvSpPr>
          <p:cNvPr id="227" name=""/>
          <p:cNvSpPr/>
          <p:nvPr/>
        </p:nvSpPr>
        <p:spPr>
          <a:xfrm rot="0" flipH="0" flipV="0">
            <a:off x="3790950" y="5334000"/>
            <a:ext cx="7715250" cy="561975"/>
          </a:xfrm>
          <a:custGeom>
            <a:pathLst>
              <a:path w="810" h="59">
                <a:moveTo>
                  <a:pt x="0" y="58"/>
                </a:moveTo>
                <a:lnTo>
                  <a:pt x="810" y="58"/>
                </a:lnTo>
                <a:lnTo>
                  <a:pt x="810" y="59"/>
                </a:lnTo>
                <a:lnTo>
                  <a:pt x="0" y="59"/>
                </a:lnTo>
                <a:close/>
              </a:path>
            </a:pathLst>
          </a:custGeom>
          <a:solidFill>
            <a:srgbClr val="E1F5EE"/>
          </a:solidFill>
          <a:ln/>
        </p:spPr>
        <p:txBody>
          <a:bodyPr/>
          <a:p/>
        </p:txBody>
      </p:sp>
      <p:sp>
        <p:nvSpPr>
          <p:cNvPr id="228" name="" descr="{&quot;isTemplate&quot;:true,&quot;type&quot;:&quot;text&quot;}"/>
          <p:cNvSpPr txBox="1"/>
          <p:nvPr/>
        </p:nvSpPr>
        <p:spPr>
          <a:xfrm rot="0" flipH="0" flipV="0">
            <a:off x="3790950" y="5353050"/>
            <a:ext cx="2343150" cy="514350"/>
          </a:xfrm>
          <a:prstGeom prst="rect"/>
        </p:spPr>
        <p:txBody>
          <a:bodyPr wrap="square" lIns="0" tIns="0" rIns="0" bIns="0">
            <a:normAutofit/>
          </a:bodyPr>
          <a:p>
            <a:pPr>
              <a:lnSpc>
                <a:spcPct val="135000"/>
              </a:lnSpc>
            </a:pPr>
            <a:r>
              <a:rPr lang="en-US" sz="1238" b="1">
                <a:solidFill>
                  <a:srgbClr val="0B1F1A"/>
                </a:solidFill>
                <a:latin typeface="Inter"/>
                <a:ea typeface="Inter"/>
              </a:rPr>
              <a:t>Multimodal, scoped, fault-tolerant</a:t>
            </a:r>
            <a:endParaRPr/>
          </a:p>
        </p:txBody>
      </p:sp>
      <p:sp>
        <p:nvSpPr>
          <p:cNvPr id="229" name="" descr="{&quot;isTemplate&quot;:true,&quot;type&quot;:&quot;text&quot;}"/>
          <p:cNvSpPr txBox="1"/>
          <p:nvPr/>
        </p:nvSpPr>
        <p:spPr>
          <a:xfrm rot="0" flipH="0" flipV="0">
            <a:off x="6134100" y="5238750"/>
            <a:ext cx="3048000" cy="752475"/>
          </a:xfrm>
          <a:prstGeom prst="rect"/>
        </p:spPr>
        <p:txBody>
          <a:bodyPr wrap="square" lIns="128588" tIns="0" rIns="0" bIns="0">
            <a:normAutofit/>
          </a:bodyPr>
          <a:p>
            <a:pPr>
              <a:lnSpc>
                <a:spcPct val="140000"/>
              </a:lnSpc>
            </a:pPr>
            <a:r>
              <a:rPr lang="en-US" sz="1163">
                <a:solidFill>
                  <a:srgbClr val="6B7280"/>
                </a:solidFill>
                <a:latin typeface="Inter"/>
                <a:ea typeface="Inter"/>
              </a:rPr>
              <a:t>Image into slots; no profile reaches the engine; malformed calls rejected before touching state.</a:t>
            </a:r>
            <a:endParaRPr/>
          </a:p>
        </p:txBody>
      </p:sp>
      <p:sp>
        <p:nvSpPr>
          <p:cNvPr id="230" name="" descr="{&quot;isTemplate&quot;:true,&quot;type&quot;:&quot;text&quot;}"/>
          <p:cNvSpPr txBox="1"/>
          <p:nvPr/>
        </p:nvSpPr>
        <p:spPr>
          <a:xfrm rot="0" flipH="0" flipV="0">
            <a:off x="9353550" y="5543550"/>
            <a:ext cx="2152650" cy="142875"/>
          </a:xfrm>
          <a:prstGeom prst="rect"/>
        </p:spPr>
        <p:txBody>
          <a:bodyPr wrap="none" lIns="0" tIns="0" rIns="0" bIns="0"/>
          <a:p>
            <a:pPr>
              <a:lnSpc>
                <a:spcPct val="100000"/>
              </a:lnSpc>
            </a:pPr>
            <a:r>
              <a:rPr lang="en-US" sz="938">
                <a:solidFill>
                  <a:srgbClr val="0F6E56"/>
                </a:solidFill>
                <a:latin typeface="JetBrains Mono"/>
                <a:ea typeface="JetBrains Mono"/>
              </a:rPr>
              <a:t>vision · dropped_transport · malformed</a:t>
            </a:r>
            <a:endParaRPr/>
          </a:p>
        </p:txBody>
      </p:sp>
      <p:sp>
        <p:nvSpPr>
          <p:cNvPr id="231"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232"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04 / 12</a:t>
            </a:r>
            <a:endParaRPr/>
          </a:p>
        </p:txBody>
      </p:sp>
    </p:spTree>
  </p:cSld>
</p:sld>
</file>

<file path=ppt/slides/slide5.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233" name="" descr="&lt;Slide style={{&#10;    width: 1280,&#10;    height: 720,&#10;    padding: '0 72px',&#10;    background: '#FFFFFF',&#10;}}&gt;&#10;    &lt;Box style={{ width: '100%', height: 720, flexDirection: 'column' }}&gt;&#10;        &lt;Box style={{&#10;            height: 120,&#10;            paddingTop: 20,&#10;            paddingBottom: 16,&#10;            flexDirection: 'row',&#10;            alignItems: 'flex-end',&#10;            justifyContent: 'space-between',&#10;        }}&gt;&#10;            &lt;Box style={{ flexDirection: 'column', justifyContent: 'flex-end' }}&gt;&#10;                &lt;Box style={{ width: 56, height: 6, background: '#97C459', marginBottom: 14 }} /&gt;&#10;                &lt;Text style={{ fontFamily: 'Inter', fontSize: 34, fontWeight: 'bold', color: '#0B1F1A' }}&gt;&#10;                    Architecture&#10;                &lt;/Text&gt;&#10;            &lt;/Box&gt;&#10;            &lt;Text style={{ fontFamily: 'JetBrains Mono', fontSize: 14, color: '#6B7280', letterSpacing: 1.4, paddingBottom: 6 }}&gt;&#10;                END-TO-END PIPELINE&#10;            &lt;/Text&gt;&#10;        &lt;/Box&gt;&#10;&#10;        &lt;Box style={{ height: 540, flexDirection: 'column', gap: 16 }}&gt;&#10;            &lt;svg width={1136} height={300} viewBox='0 0 1136 300'&gt;&#10;                &lt;rect x='0' y='8' width='266' height='136' rx='7' fill='#E1F5EE' stroke='#0F6E56' strokeWidth='1' /&gt;&#10;                &lt;text x='16' y='40' fill='#0F6E56' fontSize='13' fontFamily='JetBrains Mono' letterSpacing='1.4'&gt;INPUTS&lt;/text&gt;&#10;                &lt;text x='16' y='72' fill='#0B1F1A' fontSize='14' fontFamily='Inter'&gt;audio · transcript&lt;/text&gt;&#10;                &lt;text x='16' y='96' fill='#0B1F1A' fontSize='14' fontFamily='Inter'&gt;role image&lt;/text&gt;&#10;&#10;                &lt;rect x='0' y='156' width='266' height='136' rx='7' fill='#E1F5EE' stroke='#0F6E56' strokeWidth='1' /&gt;&#10;                &lt;text x='16' y='188' fill='#0F6E56' fontSize='13' fontFamily='JetBrains Mono' letterSpacing='1.4'&gt;GEMINI LIVE&lt;/text&gt;&#10;                &lt;text x='16' y='220' fill='#0B1F1A' fontSize='14' fontFamily='Inter'&gt;full duplex,&lt;/text&gt;&#10;                &lt;text x='16' y='244' fill='#0B1F1A' fontSize='14' fontFamily='Inter'&gt;interruptible transport&lt;/text&gt;&#10;&#10;                &lt;rect x='290' y='8' width='266' height='136' rx='7' fill='#E1F5EE' stroke='#0F6E56' strokeWidth='1' /&gt;&#10;                &lt;text x='306' y='40' fill='#0F6E56' fontSize='13' fontFamily='JetBrains Mono' letterSpacing='1.4'&gt;TOOL DISPATCHER&lt;/text&gt;&#10;                &lt;text x='306' y='72' fill='#0B1F1A' fontSize='14' fontFamily='Inter'&gt;manifest · validate&lt;/text&gt;&#10;                &lt;text x='306' y='96' fill='#0B1F1A' fontSize='14' fontFamily='Inter'&gt;dedupe · supersede&lt;/text&gt;&#10;&#10;                &lt;rect x='290' y='156' width='266' height='136' rx='7' fill='#E1F5EE' stroke='#0F6E56' strokeWidth='1' /&gt;&#10;                &lt;text x='306' y='188' fill='#0F6E56' fontSize='13' fontFamily='JetBrains Mono' letterSpacing='1.4'&gt;PLAN REVISION&lt;/text&gt;&#10;                &lt;text x='306' y='220' fill='#0B1F1A' fontSize='14' fontFamily='Inter'&gt;filter_fingerprint&lt;/text&gt;&#10;                &lt;text x='306' y='244' fill='#0B1F1A' fontSize='14' fontFamily='Inter'&gt;+ 4 branch fingerprints&lt;/text&gt;&#10;&#10;                &lt;rect x='580' y='8' width='266' height='136' rx='7' fill='#E1F5EE' stroke='#0F6E56' strokeWidth='1' /&gt;&#10;                &lt;text x='596' y='40' fill='#0F6E56' fontSize='13' fontFamily='JetBrains Mono' letterSpacing='1.4'&gt;BRANCH EXECUTOR&lt;/text&gt;&#10;                &lt;text x='596' y='72' fill='#0B1F1A' fontSize='14' fontFamily='Inter'&gt;reuse · preserve&lt;/text&gt;&#10;                &lt;text x='596' y='96' fill='#0B1F1A' fontSize='14' fontFamily='Inter'&gt;cancel · start&lt;/text&gt;&#10;&#10;                &lt;rect x='580' y='156' width='266' height='136' rx='7' fill='#FFFFFF' stroke='#97C459' strokeWidth='2.5' /&gt;&#10;                &lt;text x='596' y='188' fill='#0F6E56' fontSize='13' fontFamily='JetBrains Mono' letterSpacing='1.4'&gt;HYBRID RETRIEVAL&lt;/text&gt;&#10;                &lt;text x='596' y='220' fill='#0B1F1A' fontSize='14' fontFamily='Inter'&gt;one shared eligibility CTE,&lt;/text&gt;&#10;                &lt;text x='596' y='244' fill='#0B1F1A' fontSize='14' fontFamily='Inter'&gt;inlined into every branch&lt;/text&gt;&#10;&#10;                &lt;rect x='870' y='8' width='266' height='136' rx='7' fill='#E1F5EE' stroke='#0F6E56' strokeWidth='1' /&gt;&#10;                &lt;text x='886' y='40' fill='#0F6E56' fontSize='13' fontFamily='JetBrains Mono' letterSpacing='1.4'&gt;FUSION&lt;/text&gt;&#10;                &lt;text x='886' y='72' fill='#0B1F1A' fontSize='14' fontFamily='Inter'&gt;RRF → rerank →&lt;/text&gt;&#10;                &lt;text x='886' y='96' fill='#0B1F1A' fontSize='14' fontFamily='Inter'&gt;diversity&lt;/text&gt;&#10;&#10;                &lt;rect x='870' y='156' width='266' height='136' rx='7' fill='#E1F5EE' stroke='#0F6E56' strokeWidth='1' /&gt;&#10;                &lt;text x='886' y='188' fill='#0F6E56' fontSize='13' fontFamily='JetBrains Mono' letterSpacing='1.4'&gt;STATE + PROTOCOL&lt;/text&gt;&#10;                &lt;text x='886' y='220' fill='#0B1F1A' fontSize='14' fontFamily='Inter'&gt;StateSnapshot → Journal&lt;/text&gt;&#10;                &lt;text x='886' y='244' fill='#0B1F1A' fontSize='14' fontFamily='Inter'&gt;→ ProtocolAdapter&lt;/text&gt;&#10;&#10;                &lt;path d='M270 76 L286 76' stroke='#0F6E56' strokeWidth='2' /&gt;&#10;                &lt;path d='M286 76 L279 72 L279 80 Z' fill='#0F6E56' /&gt;&#10;                &lt;path d='M270 224 L286 224' stroke='#0F6E56' strokeWidth='2' /&gt;&#10;                &lt;path d='M286 224 L279 220 L279 228 Z' fill='#0F6E56' /&gt;&#10;&#10;                &lt;path d='M560 76 L576 76' stroke='#0F6E56' strokeWidth='2' /&gt;&#10;                &lt;path d='M576 76 L569 72 L569 80 Z' fill='#0F6E56' /&gt;&#10;                &lt;path d='M560 224 L576 224' stroke='#0F6E56' strokeWidth='2' /&gt;&#10;                &lt;path d='M576 224 L569 220 L569 228 Z' fill='#0F6E56' /&gt;&#10;&#10;                &lt;path d='M850 76 L866 76' stroke='#0F6E56' strokeWidth='2' /&gt;&#10;                &lt;path d='M866 76 L859 72 L859 80 Z' fill='#0F6E56' /&gt;&#10;                &lt;path d='M850 224 L866 224' stroke='#0F6E56' strokeWidth='2' /&gt;&#10;                &lt;path d='M866 224 L859 220 L859 228 Z' fill='#0F6E56' /&gt;&#10;&#10;                &lt;path d='M133 148 L133 152' stroke='#0F6E56' strokeWidth='2' /&gt;&#10;                &lt;path d='M133 152 L129 145 L137 145 Z' fill='#0F6E56' /&gt;&#10;                &lt;path d='M423 148 L423 152' stroke='#0F6E56' strokeWidth='2' /&gt;&#10;                &lt;path d='M423 152 L419 145 L427 145 Z' fill='#0F6E56' /&gt;&#10;                &lt;path d='M713 148 L713 152' stroke='#0F6E56' strokeWidth='2' /&gt;&#10;                &lt;path d='M713 152 L709 145 L717 145 Z' fill='#0F6E56' /&gt;&#10;                &lt;path d='M1003 148 L1003 152' stroke='#0F6E56' strokeWidth='2' /&gt;&#10;                &lt;path d='M1003 152 L999 145 L1007 145 Z' fill='#0F6E56' /&gt;&#10;            &lt;/svg&gt;&#10;&#10;            &lt;Box style={{ height: 224, flexDirection: 'row', gap: 24 }}&gt;&#10;                &lt;Box style={{&#10;                    flex: 1,&#10;                    background: '#E1F5EE',&#10;                    borderLeft: '5px solid #0F6E56',&#10;                    padding: '24px 26px',&#10;                    flexDirection: 'column',&#10;                }}&gt;&#10;                    &lt;Text style={{ fontFamily: 'JetBrains Mono', fontSize: 13, color: '#0F6E56', letterSpacing: 1.5 }}&gt;&#10;                        DECISION 01&#10;                    &lt;/Text&gt;&#10;                    &lt;Text style={{ fontFamily: 'Inter', fontSize: 21, fontWeight: 'bold', color: '#04342C', lineHeight: 1.4, marginTop: 12 }}&gt;&#10;                        The shared eligibility clause is a cross-branch dependency&#10;                    &lt;/Text&gt;&#10;                    &lt;Text style={{ fontFamily: 'Inter', fontSize: 17, lineHeight: 1.55, color: '#0B1F1A', marginTop: 10 }}&gt;&#10;                        The hard filter is built once and inlined as a CTE into every branch query. The fingerprint model says&#10;                        so out loud: &lt;span style={{ fontFamily: 'JetBrains Mono', fontSize: 15, color: '#0F6E56' }}&gt;filter_fingerprint&lt;/span&gt; is&#10;                        folded into each branch fingerprint, so a filter change invalidates all four branches while a query&#10;                        rewrite invalidates only two.&#10;                    &lt;/Text&gt;&#10;                &lt;/Box&gt;&#10;&#10;                &lt;Box style={{&#10;                    flex: 1,&#10;                    background: '#E1F5EE',&#10;                    borderLeft: '5px solid #0F6E56',&#10;                    padding: '24px 26px',&#10;                    flexDirection: 'column',&#10;                }}&gt;&#10;                    &lt;Text style={{ fontFamily: 'JetBrains Mono', fontSize: 13, color: '#0F6E56', letterSpacing: 1.5 }}&gt;&#10;                        DECISION 02&#10;                    &lt;/Text&gt;&#10;                    &lt;Text style={{ fontFamily: 'Inter', fontSize: 21, fontWeight: 'bold', color: '#04342C', lineHeight: 1.4, marginTop: 12 }}&gt;&#10;                        A snapshot is either authoritative or it is not&#10;                    &lt;/Text&gt;&#10;                    &lt;Text style={{ fontFamily: 'Inter', fontSize: 17, lineHeight: 1.55, color: '#0B1F1A', marginTop: 10 }}&gt;&#10;                        Speculative work — retrieval started from a partial transcript — publishes&#10;                        &lt;span style={{ fontFamily: 'JetBrains Mono', fontSize: 15, color: '#0F6E56' }}&gt; authoritative=False&lt;/span&gt;.&#10;                        A guess about what the user is about to say can never be mistaken for a decision they made, and the&#10;                        turn cannot be closed on one.&#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5 / 12&#10;            &lt;/Text&gt;&#10;        &lt;/Box&gt;&#10;    &lt;/Box&gt;&#10;&lt;/Slide&gt;&#10;"/>
        <p:cNvGrpSpPr/>
        <p:nvPr/>
      </p:nvGrpSpPr>
      <p:grpSpPr>
        <a:xfrm>
          <a:off x="0" y="0"/>
          <a:ext cx="0" cy="0"/>
          <a:chOff x="0" y="0"/>
          <a:chExt cx="0" cy="0"/>
        </a:xfrm>
      </p:grpSpPr>
      <p:sp>
        <p:nvSpPr>
          <p:cNvPr id="234" name=""/>
          <p:cNvSpPr/>
          <p:nvPr/>
        </p:nvSpPr>
        <p:spPr>
          <a:xfrm rot="0" flipH="0" flipV="0">
            <a:off x="0" y="0"/>
            <a:ext cx="12192000" cy="6858000"/>
          </a:xfrm>
          <a:prstGeom prst="rect">
            <a:avLst/>
          </a:prstGeom>
          <a:solidFill>
            <a:srgbClr val="FFFFFF"/>
          </a:solidFill>
          <a:ln/>
        </p:spPr>
        <p:txBody>
          <a:bodyPr/>
          <a:p/>
        </p:txBody>
      </p:sp>
      <p:sp>
        <p:nvSpPr>
          <p:cNvPr id="235" name=""/>
          <p:cNvSpPr/>
          <p:nvPr/>
        </p:nvSpPr>
        <p:spPr>
          <a:xfrm rot="0" flipH="0" flipV="0">
            <a:off x="685800" y="409575"/>
            <a:ext cx="533400" cy="57150"/>
          </a:xfrm>
          <a:prstGeom prst="rect">
            <a:avLst/>
          </a:prstGeom>
          <a:solidFill>
            <a:srgbClr val="97C459"/>
          </a:solidFill>
          <a:ln/>
        </p:spPr>
        <p:txBody>
          <a:bodyPr/>
          <a:p/>
        </p:txBody>
      </p:sp>
      <p:sp>
        <p:nvSpPr>
          <p:cNvPr id="236" name="" descr="{&quot;isTemplate&quot;:true,&quot;type&quot;:&quot;text&quot;}"/>
          <p:cNvSpPr txBox="1"/>
          <p:nvPr/>
        </p:nvSpPr>
        <p:spPr>
          <a:xfrm rot="0" flipH="0" flipV="0">
            <a:off x="685800" y="600075"/>
            <a:ext cx="1914525" cy="390525"/>
          </a:xfrm>
          <a:prstGeom prst="rect"/>
        </p:spPr>
        <p:txBody>
          <a:bodyPr wrap="none" lIns="0" tIns="0" rIns="0" bIns="0"/>
          <a:p>
            <a:pPr>
              <a:lnSpc>
                <a:spcPct val="100000"/>
              </a:lnSpc>
            </a:pPr>
            <a:r>
              <a:rPr lang="en-US" sz="2550" b="1">
                <a:solidFill>
                  <a:srgbClr val="0B1F1A"/>
                </a:solidFill>
                <a:latin typeface="Inter"/>
                <a:ea typeface="Inter"/>
              </a:rPr>
              <a:t>Architecture</a:t>
            </a:r>
            <a:endParaRPr/>
          </a:p>
        </p:txBody>
      </p:sp>
      <p:sp>
        <p:nvSpPr>
          <p:cNvPr id="237" name="" descr="{&quot;isTemplate&quot;:true,&quot;type&quot;:&quot;text&quot;}"/>
          <p:cNvSpPr txBox="1"/>
          <p:nvPr/>
        </p:nvSpPr>
        <p:spPr>
          <a:xfrm rot="0" flipH="0" flipV="0">
            <a:off x="9772650" y="771525"/>
            <a:ext cx="1733550" cy="219075"/>
          </a:xfrm>
          <a:prstGeom prst="rect"/>
        </p:spPr>
        <p:txBody>
          <a:bodyPr wrap="none" lIns="0" tIns="0" rIns="0" bIns="42863"/>
          <a:p>
            <a:pPr>
              <a:lnSpc>
                <a:spcPct val="100000"/>
              </a:lnSpc>
            </a:pPr>
            <a:r>
              <a:rPr lang="en-US" sz="1050" spc="105">
                <a:solidFill>
                  <a:srgbClr val="6B7280"/>
                </a:solidFill>
                <a:latin typeface="JetBrains Mono"/>
                <a:ea typeface="JetBrains Mono"/>
              </a:rPr>
              <a:t>END-TO-END PIPELINE</a:t>
            </a:r>
            <a:endParaRPr/>
          </a:p>
        </p:txBody>
      </p:sp>
      <p:pic>
        <p:nvPicPr>
          <p:cNvPr id="238" name=""/>
          <p:cNvPicPr>
            <a:picLocks noChangeAspect="1"/>
          </p:cNvPicPr>
          <p:nvPr/>
        </p:nvPicPr>
        <p:blipFill>
          <a:blip>
            <a:extLst>
              <a:ext uri="{96DAC541-7B7A-43D3-8B79-37D633B846F1}">
                <asvg:svgBlip r:embed="rId1"/>
              </a:ext>
            </a:extLst>
          </a:blip>
          <a:stretch>
            <a:fillRect/>
          </a:stretch>
        </p:blipFill>
        <p:spPr>
          <a:xfrm rot="0" flipH="0" flipV="0">
            <a:off x="685800" y="1143000"/>
            <a:ext cx="10820400" cy="2857500"/>
          </a:xfrm>
          <a:prstGeom prst="rect">
            <a:avLst/>
          </a:prstGeom>
          <a:ln/>
        </p:spPr>
      </p:pic>
      <p:sp>
        <p:nvSpPr>
          <p:cNvPr id="239" name=""/>
          <p:cNvSpPr/>
          <p:nvPr/>
        </p:nvSpPr>
        <p:spPr>
          <a:xfrm rot="0" flipH="0" flipV="0">
            <a:off x="733425" y="4152900"/>
            <a:ext cx="5295900" cy="2705100"/>
          </a:xfrm>
          <a:prstGeom prst="rect">
            <a:avLst/>
          </a:prstGeom>
          <a:solidFill>
            <a:srgbClr val="E1F5EE"/>
          </a:solidFill>
          <a:ln/>
        </p:spPr>
        <p:txBody>
          <a:bodyPr/>
          <a:p/>
        </p:txBody>
      </p:sp>
      <p:sp>
        <p:nvSpPr>
          <p:cNvPr id="240" name=""/>
          <p:cNvSpPr/>
          <p:nvPr/>
        </p:nvSpPr>
        <p:spPr>
          <a:xfrm rot="0" flipH="0" flipV="0">
            <a:off x="685800" y="4152900"/>
            <a:ext cx="5343525" cy="2705100"/>
          </a:xfrm>
          <a:custGeom>
            <a:pathLst>
              <a:path w="561" h="284">
                <a:moveTo>
                  <a:pt x="0" y="0"/>
                </a:moveTo>
                <a:lnTo>
                  <a:pt x="5" y="0"/>
                </a:lnTo>
                <a:lnTo>
                  <a:pt x="5" y="284"/>
                </a:lnTo>
                <a:lnTo>
                  <a:pt x="0" y="284"/>
                </a:lnTo>
                <a:close/>
              </a:path>
            </a:pathLst>
          </a:custGeom>
          <a:solidFill>
            <a:srgbClr val="0F6E56"/>
          </a:solidFill>
          <a:ln/>
        </p:spPr>
        <p:txBody>
          <a:bodyPr/>
          <a:p/>
        </p:txBody>
      </p:sp>
      <p:sp>
        <p:nvSpPr>
          <p:cNvPr id="241" name="" descr="{&quot;isTemplate&quot;:true,&quot;type&quot;:&quot;text&quot;}"/>
          <p:cNvSpPr txBox="1"/>
          <p:nvPr/>
        </p:nvSpPr>
        <p:spPr>
          <a:xfrm rot="0" flipH="0" flipV="0">
            <a:off x="981075" y="4381500"/>
            <a:ext cx="4752975" cy="152400"/>
          </a:xfrm>
          <a:prstGeom prst="rect"/>
        </p:spPr>
        <p:txBody>
          <a:bodyPr wrap="none" lIns="0" tIns="0" rIns="0" bIns="0"/>
          <a:p>
            <a:pPr>
              <a:lnSpc>
                <a:spcPct val="100000"/>
              </a:lnSpc>
            </a:pPr>
            <a:r>
              <a:rPr lang="en-US" sz="975" spc="113">
                <a:solidFill>
                  <a:srgbClr val="0F6E56"/>
                </a:solidFill>
                <a:latin typeface="JetBrains Mono"/>
                <a:ea typeface="JetBrains Mono"/>
              </a:rPr>
              <a:t>DECISION 01</a:t>
            </a:r>
            <a:endParaRPr/>
          </a:p>
        </p:txBody>
      </p:sp>
      <p:sp>
        <p:nvSpPr>
          <p:cNvPr id="242" name="" descr="{&quot;isTemplate&quot;:true,&quot;type&quot;:&quot;text&quot;}"/>
          <p:cNvSpPr txBox="1"/>
          <p:nvPr/>
        </p:nvSpPr>
        <p:spPr>
          <a:xfrm rot="0" flipH="0" flipV="0">
            <a:off x="981075" y="4648200"/>
            <a:ext cx="4752975" cy="676275"/>
          </a:xfrm>
          <a:prstGeom prst="rect"/>
        </p:spPr>
        <p:txBody>
          <a:bodyPr wrap="square" lIns="0" tIns="0" rIns="0" bIns="0">
            <a:normAutofit/>
          </a:bodyPr>
          <a:p>
            <a:pPr>
              <a:lnSpc>
                <a:spcPct val="140000"/>
              </a:lnSpc>
            </a:pPr>
            <a:r>
              <a:rPr lang="en-US" sz="1575" b="1">
                <a:solidFill>
                  <a:srgbClr val="04342C"/>
                </a:solidFill>
                <a:latin typeface="Inter"/>
                <a:ea typeface="Inter"/>
              </a:rPr>
              <a:t>The shared eligibility clause is a cross-branch dependency</a:t>
            </a:r>
            <a:endParaRPr/>
          </a:p>
        </p:txBody>
      </p:sp>
      <p:sp>
        <p:nvSpPr>
          <p:cNvPr id="243" name="" descr="{&quot;isTemplate&quot;:true,&quot;type&quot;:&quot;text&quot;}"/>
          <p:cNvSpPr txBox="1"/>
          <p:nvPr/>
        </p:nvSpPr>
        <p:spPr>
          <a:xfrm rot="0" flipH="0" flipV="0">
            <a:off x="981075" y="5419725"/>
            <a:ext cx="4752975" cy="1209675"/>
          </a:xfrm>
          <a:prstGeom prst="rect"/>
        </p:spPr>
        <p:txBody>
          <a:bodyPr wrap="square" lIns="0" tIns="0" rIns="0" bIns="0">
            <a:normAutofit/>
          </a:bodyPr>
          <a:p>
            <a:pPr>
              <a:lnSpc>
                <a:spcPct val="155000"/>
              </a:lnSpc>
            </a:pPr>
            <a:r>
              <a:rPr lang="en-US" sz="1275">
                <a:solidFill>
                  <a:srgbClr val="0B1F1A"/>
                </a:solidFill>
                <a:latin typeface="Inter"/>
                <a:ea typeface="Inter"/>
              </a:rPr>
              <a:t>The hard filter is built once and inlined as a CTE into every branch query. The fingerprint model says so out loud: </a:t>
            </a:r>
            <a:r>
              <a:rPr lang="en-US" sz="1125">
                <a:solidFill>
                  <a:srgbClr val="0F6E56"/>
                </a:solidFill>
                <a:latin typeface="Inter"/>
                <a:ea typeface="Inter"/>
              </a:rPr>
              <a:t>filter_fingerprint</a:t>
            </a:r>
            <a:r>
              <a:rPr lang="en-US" sz="1275">
                <a:solidFill>
                  <a:srgbClr val="0B1F1A"/>
                </a:solidFill>
                <a:latin typeface="Inter"/>
                <a:ea typeface="Inter"/>
              </a:rPr>
              <a:t> is folded into each branch fingerprint, so a filter change invalidates all four branches while a query rewrite invalidates only two.</a:t>
            </a:r>
            <a:endParaRPr/>
          </a:p>
        </p:txBody>
      </p:sp>
      <p:sp>
        <p:nvSpPr>
          <p:cNvPr id="244" name=""/>
          <p:cNvSpPr/>
          <p:nvPr/>
        </p:nvSpPr>
        <p:spPr>
          <a:xfrm rot="0" flipH="0" flipV="0">
            <a:off x="6257925" y="4152900"/>
            <a:ext cx="5295900" cy="2371725"/>
          </a:xfrm>
          <a:prstGeom prst="rect">
            <a:avLst/>
          </a:prstGeom>
          <a:solidFill>
            <a:srgbClr val="E1F5EE"/>
          </a:solidFill>
          <a:ln/>
        </p:spPr>
        <p:txBody>
          <a:bodyPr/>
          <a:p/>
        </p:txBody>
      </p:sp>
      <p:sp>
        <p:nvSpPr>
          <p:cNvPr id="245" name=""/>
          <p:cNvSpPr/>
          <p:nvPr/>
        </p:nvSpPr>
        <p:spPr>
          <a:xfrm rot="0" flipH="0" flipV="0">
            <a:off x="6210300" y="4152900"/>
            <a:ext cx="5343525" cy="2371725"/>
          </a:xfrm>
          <a:custGeom>
            <a:pathLst>
              <a:path w="561" h="249">
                <a:moveTo>
                  <a:pt x="0" y="0"/>
                </a:moveTo>
                <a:lnTo>
                  <a:pt x="5" y="0"/>
                </a:lnTo>
                <a:lnTo>
                  <a:pt x="5" y="249"/>
                </a:lnTo>
                <a:lnTo>
                  <a:pt x="0" y="249"/>
                </a:lnTo>
                <a:close/>
              </a:path>
            </a:pathLst>
          </a:custGeom>
          <a:solidFill>
            <a:srgbClr val="0F6E56"/>
          </a:solidFill>
          <a:ln/>
        </p:spPr>
        <p:txBody>
          <a:bodyPr/>
          <a:p/>
        </p:txBody>
      </p:sp>
      <p:sp>
        <p:nvSpPr>
          <p:cNvPr id="246" name="" descr="{&quot;isTemplate&quot;:true,&quot;type&quot;:&quot;text&quot;}"/>
          <p:cNvSpPr txBox="1"/>
          <p:nvPr/>
        </p:nvSpPr>
        <p:spPr>
          <a:xfrm rot="0" flipH="0" flipV="0">
            <a:off x="6505575" y="4381500"/>
            <a:ext cx="4752975" cy="152400"/>
          </a:xfrm>
          <a:prstGeom prst="rect"/>
        </p:spPr>
        <p:txBody>
          <a:bodyPr wrap="none" lIns="0" tIns="0" rIns="0" bIns="0"/>
          <a:p>
            <a:pPr>
              <a:lnSpc>
                <a:spcPct val="100000"/>
              </a:lnSpc>
            </a:pPr>
            <a:r>
              <a:rPr lang="en-US" sz="975" spc="113">
                <a:solidFill>
                  <a:srgbClr val="0F6E56"/>
                </a:solidFill>
                <a:latin typeface="JetBrains Mono"/>
                <a:ea typeface="JetBrains Mono"/>
              </a:rPr>
              <a:t>DECISION 02</a:t>
            </a:r>
            <a:endParaRPr/>
          </a:p>
        </p:txBody>
      </p:sp>
      <p:sp>
        <p:nvSpPr>
          <p:cNvPr id="247" name="" descr="{&quot;isTemplate&quot;:true,&quot;type&quot;:&quot;text&quot;}"/>
          <p:cNvSpPr txBox="1"/>
          <p:nvPr/>
        </p:nvSpPr>
        <p:spPr>
          <a:xfrm rot="0" flipH="0" flipV="0">
            <a:off x="6505575" y="4648200"/>
            <a:ext cx="4752975" cy="342900"/>
          </a:xfrm>
          <a:prstGeom prst="rect"/>
        </p:spPr>
        <p:txBody>
          <a:bodyPr wrap="none" lIns="0" tIns="0" rIns="0" bIns="0"/>
          <a:p>
            <a:pPr>
              <a:lnSpc>
                <a:spcPct val="140000"/>
              </a:lnSpc>
            </a:pPr>
            <a:r>
              <a:rPr lang="en-US" sz="1575" b="1">
                <a:solidFill>
                  <a:srgbClr val="04342C"/>
                </a:solidFill>
                <a:latin typeface="Inter"/>
                <a:ea typeface="Inter"/>
              </a:rPr>
              <a:t>A snapshot is either authoritative or it is not</a:t>
            </a:r>
            <a:endParaRPr/>
          </a:p>
        </p:txBody>
      </p:sp>
      <p:sp>
        <p:nvSpPr>
          <p:cNvPr id="248" name="" descr="{&quot;isTemplate&quot;:true,&quot;type&quot;:&quot;text&quot;}"/>
          <p:cNvSpPr txBox="1"/>
          <p:nvPr/>
        </p:nvSpPr>
        <p:spPr>
          <a:xfrm rot="0" flipH="0" flipV="0">
            <a:off x="6505575" y="5086350"/>
            <a:ext cx="4752975" cy="1209675"/>
          </a:xfrm>
          <a:prstGeom prst="rect"/>
        </p:spPr>
        <p:txBody>
          <a:bodyPr wrap="square" lIns="0" tIns="0" rIns="0" bIns="0">
            <a:normAutofit/>
          </a:bodyPr>
          <a:p>
            <a:pPr>
              <a:lnSpc>
                <a:spcPct val="155000"/>
              </a:lnSpc>
            </a:pPr>
            <a:r>
              <a:rPr lang="en-US" sz="1275">
                <a:solidFill>
                  <a:srgbClr val="0B1F1A"/>
                </a:solidFill>
                <a:latin typeface="Inter"/>
                <a:ea typeface="Inter"/>
              </a:rPr>
              <a:t>Speculative work — retrieval started from a partial transcript — publishes</a:t>
            </a:r>
            <a:r>
              <a:rPr lang="en-US" sz="1125">
                <a:solidFill>
                  <a:srgbClr val="0F6E56"/>
                </a:solidFill>
                <a:latin typeface="Inter"/>
                <a:ea typeface="Inter"/>
              </a:rPr>
              <a:t> authoritative=False</a:t>
            </a:r>
            <a:r>
              <a:rPr lang="en-US" sz="1275">
                <a:solidFill>
                  <a:srgbClr val="0B1F1A"/>
                </a:solidFill>
                <a:latin typeface="Inter"/>
                <a:ea typeface="Inter"/>
              </a:rPr>
              <a:t>. A guess about what the user is about to say can never be mistaken for a decision they made, and the turn cannot be closed on one.</a:t>
            </a:r>
            <a:endParaRPr/>
          </a:p>
        </p:txBody>
      </p:sp>
      <p:sp>
        <p:nvSpPr>
          <p:cNvPr id="249"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250"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05 / 12</a:t>
            </a:r>
            <a:endParaRPr/>
          </a:p>
        </p:txBody>
      </p:sp>
    </p:spTree>
  </p:cSld>
</p:sld>
</file>

<file path=ppt/slides/slide6.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251"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Cancel only what the revision invalidated&#10;            &lt;/Text&gt;&#10;        &lt;/Box&gt;&#10;&#10;        &lt;Box style={{ height: 540, flexDirection: 'row', gap: 40 }}&gt;&#10;            &lt;Box style={{ width: 712, flexDirection: 'column' }}&gt;&#10;                &lt;svg width={712} height={404} viewBox='0 0 712 404'&gt;&#10;                    &lt;text x='300' y='16' fill='#6B7280' fontSize='13' fontFamily='JetBrains Mono' letterSpacing='1.4'&gt;REVISION&lt;/text&gt;&#10;                    &lt;path d='M300 26 L300 392' stroke='#6B7280' strokeWidth='1.5' strokeDasharray='6 5' /&gt;&#10;&#10;                    &lt;text x='0' y='92' fill='#0B1F1A' fontSize='15' fontFamily='JetBrains Mono'&gt;vector&lt;/text&gt;&#10;                    &lt;rect x='84' y='60' width='216' height='52' rx='5' fill='#0F6E56' /&gt;&#10;                    &lt;rect x='300' y='60' width='320' height='52' rx='5' fill='#FFFFFF' stroke='#97C459' strokeWidth='2.5' strokeDasharray='7 5' /&gt;&#10;                    &lt;text x='460' y='92' fill='#0F6E56' fontSize='14' fontFamily='JetBrains Mono' textAnchor='middle'&gt;cancelled&lt;/text&gt;&#10;&#10;                    &lt;text x='0' y='172' fill='#0B1F1A' fontSize='15' fontFamily='JetBrains Mono'&gt;bm25&lt;/text&gt;&#10;                    &lt;rect x='84' y='140' width='216' height='52' rx='5' fill='#0F6E56' /&gt;&#10;                    &lt;rect x='300' y='140' width='320' height='52' rx='5' fill='#FFFFFF' stroke='#97C459' strokeWidth='2.5' strokeDasharray='7 5' /&gt;&#10;                    &lt;text x='460' y='172' fill='#0F6E56' fontSize='14' fontFamily='JetBrains Mono' textAnchor='middle'&gt;cancelled&lt;/text&gt;&#10;&#10;                    &lt;text x='0' y='252' fill='#0B1F1A' fontSize='15' fontFamily='JetBrains Mono'&gt;skills&lt;/text&gt;&#10;                    &lt;rect x='84' y='220' width='536' height='52' rx='5' fill='#0F6E56' /&gt;&#10;&#10;                    &lt;text x='0' y='332' fill='#0B1F1A' fontSize='15' fontFamily='JetBrains Mono'&gt;sql&lt;/text&gt;&#10;                    &lt;rect x='84' y='300' width='536' height='52' rx='5' fill='#0F6E56' /&gt;&#10;&#10;                    &lt;text x='84' y='392' fill='#6B7280' fontSize='13' fontFamily='Inter'&gt;started&lt;/text&gt;&#10;                    &lt;text x='352' y='392' fill='#6B7280' fontSize='13' fontFamily='Inter' textAnchor='middle'&gt;work avoided&lt;/text&gt;&#10;                    &lt;text x='620' y='392' fill='#6B7280' fontSize='13' fontFamily='Inter' textAnchor='end'&gt;would have finished&lt;/text&gt;&#10;                &lt;/svg&gt;&#10;                &lt;Text style={{ fontFamily: 'Inter', fontSize: 17, lineHeight: 1.5, color: '#6B7280', marginTop: 14 }}&gt;&#10;                    A query rewrite moves &lt;span style={{ fontFamily: 'JetBrains Mono', fontSize: 15, color: '#0F6E56' }}&gt;vector&lt;/span&gt; and&#10;                    &lt;span style={{ fontFamily: 'JetBrains Mono', fontSize: 15, color: '#0F6E56' }}&gt; bm25&lt;/span&gt;. The count branch and the&#10;                    skill branch were answering questions the rewrite did not change, so they keep running.&#10;                &lt;/Text&gt;&#10;            &lt;/Box&gt;&#10;&#10;            &lt;Box style={{ width: 384, flexDirection: 'column' }}&gt;&#10;                &lt;Text style={{ fontFamily: 'JetBrains Mono', fontSize: 13, color: '#0F6E56', letterSpacing: 1.6 }}&gt;&#10;                    SELECTIVE CANCELLATION&#10;                &lt;/Text&gt;&#10;                &lt;Text style={{ fontFamily: 'Inter', fontSize: 23, fontWeight: 'bold', color: '#04342C', lineHeight: 1.4, marginTop: 14 }}&gt;&#10;                    Two branches, not four&#10;                &lt;/Text&gt;&#10;                &lt;Text style={{ fontFamily: 'Inter', fontSize: 17, lineHeight: 1.55, color: '#0B1F1A', marginTop: 12 }}&gt;&#10;                    Cancelling everything destroys work that is still valid. Preserving everything runs queries the user already&#10;                    invalidated. The only way to choose is to know what each branch actually depends on — so the dependency is&#10;                    explicit in the code rather than implied by a call graph.&#10;                &lt;/Text&gt;&#10;&#10;                &lt;Box style={{ marginTop: 22, flexDirection: 'column', gap: 12 }}&gt;&#10;                    &lt;Box style={{ flexDirection: 'row', justifyContent: 'space-between', paddingBottom: 8, borderBottom: '1px solid #E1F5EE' }}&gt;&#10;                        &lt;Text style={{ fontFamily: 'Inter', fontSize: 16, color: '#6B7280' }}&gt;branches cancelled&lt;/Text&gt;&#10;                        &lt;Text style={{ fontFamily: 'JetBrains Mono', fontSize: 16, color: '#0B1F1A' }}&gt;1 of 4&lt;/Text&gt;&#10;                    &lt;/Box&gt;&#10;                    &lt;Box style={{ flexDirection: 'row', justifyContent: 'space-between', paddingBottom: 8, borderBottom: '1px solid #E1F5EE' }}&gt;&#10;                        &lt;Text style={{ fontFamily: 'Inter', fontSize: 16, color: '#6B7280' }}&gt;work avoided&lt;/Text&gt;&#10;                        &lt;Text style={{ fontFamily: 'JetBrains Mono', fontSize: 16, color: '#0B1F1A' }}&gt;120 ms&lt;/Text&gt;&#10;                    &lt;/Box&gt;&#10;                    &lt;Box style={{ flexDirection: 'row', justifyContent: 'space-between', paddingBottom: 8, borderBottom: '1px solid #E1F5EE' }}&gt;&#10;                        &lt;Text style={{ fontFamily: 'Inter', fontSize: 16, color: '#6B7280' }}&gt;cancellation latency&lt;/Text&gt;&#10;                        &lt;Text style={{ fontFamily: 'JetBrains Mono', fontSize: 16, color: '#0B1F1A' }}&gt;0.0 ms&lt;/Text&gt;&#10;                    &lt;/Box&gt;&#10;                    &lt;Box style={{ flexDirection: 'row', justifyContent: 'space-between', paddingBottom: 8, borderBottom: '1px solid #E1F5EE' }}&gt;&#10;                        &lt;Text style={{ fontFamily: 'Inter', fontSize: 16, color: '#6B7280' }}&gt;branch calls after&lt;/Text&gt;&#10;                        &lt;Text style={{ fontFamily: 'JetBrains Mono', fontSize: 16, color: '#0B1F1A' }}&gt;vector 2 · bm25 1&lt;/Text&gt;&#10;                    &lt;/Box&gt;&#10;                &lt;/Box&gt;&#10;&#10;                &lt;Box style={{&#10;                    marginTop: 'auto',&#10;                    background: '#E1F5EE',&#10;                    borderLeft: '5px solid #0F6E56',&#10;                    padding: '18px 20px',&#10;                }}&gt;&#10;                    &lt;Text style={{ fontFamily: 'Inter', fontSize: 16, lineHeight: 1.5, color: '#04342C' }}&gt;&#10;                        Change the &lt;span style={{ fontWeight: 'bold' }}&gt;hard filter&lt;/span&gt; instead and all four branches move — rows fetched&#10;                        under a different eligibility clause are not the same rows.&#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6 / 12&#10;            &lt;/Text&gt;&#10;        &lt;/Box&gt;&#10;    &lt;/Box&gt;&#10;&lt;/Slide&gt;&#10;"/>
        <p:cNvGrpSpPr/>
        <p:nvPr/>
      </p:nvGrpSpPr>
      <p:grpSpPr>
        <a:xfrm>
          <a:off x="0" y="0"/>
          <a:ext cx="0" cy="0"/>
          <a:chOff x="0" y="0"/>
          <a:chExt cx="0" cy="0"/>
        </a:xfrm>
      </p:grpSpPr>
      <p:sp>
        <p:nvSpPr>
          <p:cNvPr id="252" name=""/>
          <p:cNvSpPr/>
          <p:nvPr/>
        </p:nvSpPr>
        <p:spPr>
          <a:xfrm rot="0" flipH="0" flipV="0">
            <a:off x="0" y="0"/>
            <a:ext cx="12192000" cy="6858000"/>
          </a:xfrm>
          <a:prstGeom prst="rect">
            <a:avLst/>
          </a:prstGeom>
          <a:solidFill>
            <a:srgbClr val="FFFFFF"/>
          </a:solidFill>
          <a:ln/>
        </p:spPr>
        <p:txBody>
          <a:bodyPr/>
          <a:p/>
        </p:txBody>
      </p:sp>
      <p:sp>
        <p:nvSpPr>
          <p:cNvPr id="253" name=""/>
          <p:cNvSpPr/>
          <p:nvPr/>
        </p:nvSpPr>
        <p:spPr>
          <a:xfrm rot="0" flipH="0" flipV="0">
            <a:off x="685800" y="409575"/>
            <a:ext cx="533400" cy="57150"/>
          </a:xfrm>
          <a:prstGeom prst="rect">
            <a:avLst/>
          </a:prstGeom>
          <a:solidFill>
            <a:srgbClr val="97C459"/>
          </a:solidFill>
          <a:ln/>
        </p:spPr>
        <p:txBody>
          <a:bodyPr/>
          <a:p/>
        </p:txBody>
      </p:sp>
      <p:sp>
        <p:nvSpPr>
          <p:cNvPr id="254"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Cancel only what the revision invalidated</a:t>
            </a:r>
            <a:endParaRPr/>
          </a:p>
        </p:txBody>
      </p:sp>
      <p:pic>
        <p:nvPicPr>
          <p:cNvPr id="255" name=""/>
          <p:cNvPicPr>
            <a:picLocks noChangeAspect="1"/>
          </p:cNvPicPr>
          <p:nvPr/>
        </p:nvPicPr>
        <p:blipFill>
          <a:blip>
            <a:extLst>
              <a:ext uri="{96DAC541-7B7A-43D3-8B79-37D633B846F1}">
                <asvg:svgBlip r:embed="rId1"/>
              </a:ext>
            </a:extLst>
          </a:blip>
          <a:stretch>
            <a:fillRect/>
          </a:stretch>
        </p:blipFill>
        <p:spPr>
          <a:xfrm rot="0" flipH="0" flipV="0">
            <a:off x="685800" y="1143000"/>
            <a:ext cx="6781800" cy="3848100"/>
          </a:xfrm>
          <a:prstGeom prst="rect">
            <a:avLst/>
          </a:prstGeom>
          <a:ln/>
        </p:spPr>
      </p:pic>
      <p:sp>
        <p:nvSpPr>
          <p:cNvPr id="256" name="" descr="{&quot;isTemplate&quot;:true,&quot;type&quot;:&quot;text&quot;}"/>
          <p:cNvSpPr txBox="1"/>
          <p:nvPr/>
        </p:nvSpPr>
        <p:spPr>
          <a:xfrm rot="0" flipH="0" flipV="0">
            <a:off x="685800" y="5124450"/>
            <a:ext cx="6781800" cy="590550"/>
          </a:xfrm>
          <a:prstGeom prst="rect"/>
        </p:spPr>
        <p:txBody>
          <a:bodyPr wrap="square" lIns="0" tIns="0" rIns="0" bIns="0">
            <a:normAutofit/>
          </a:bodyPr>
          <a:p>
            <a:pPr>
              <a:lnSpc>
                <a:spcPct val="150000"/>
              </a:lnSpc>
            </a:pPr>
            <a:r>
              <a:rPr lang="en-US" sz="1275">
                <a:solidFill>
                  <a:srgbClr val="6B7280"/>
                </a:solidFill>
                <a:latin typeface="Inter"/>
                <a:ea typeface="Inter"/>
              </a:rPr>
              <a:t>A query rewrite moves </a:t>
            </a:r>
            <a:r>
              <a:rPr lang="en-US" sz="1125">
                <a:solidFill>
                  <a:srgbClr val="0F6E56"/>
                </a:solidFill>
                <a:latin typeface="Inter"/>
                <a:ea typeface="Inter"/>
              </a:rPr>
              <a:t>vector</a:t>
            </a:r>
            <a:r>
              <a:rPr lang="en-US" sz="1275">
                <a:solidFill>
                  <a:srgbClr val="6B7280"/>
                </a:solidFill>
                <a:latin typeface="Inter"/>
                <a:ea typeface="Inter"/>
              </a:rPr>
              <a:t> and</a:t>
            </a:r>
            <a:r>
              <a:rPr lang="en-US" sz="1125">
                <a:solidFill>
                  <a:srgbClr val="0F6E56"/>
                </a:solidFill>
                <a:latin typeface="Inter"/>
                <a:ea typeface="Inter"/>
              </a:rPr>
              <a:t> bm25</a:t>
            </a:r>
            <a:r>
              <a:rPr lang="en-US" sz="1275">
                <a:solidFill>
                  <a:srgbClr val="6B7280"/>
                </a:solidFill>
                <a:latin typeface="Inter"/>
                <a:ea typeface="Inter"/>
              </a:rPr>
              <a:t>. The count branch and the skill branch were answering questions the rewrite did not change, so they keep running.</a:t>
            </a:r>
            <a:endParaRPr/>
          </a:p>
        </p:txBody>
      </p:sp>
      <p:sp>
        <p:nvSpPr>
          <p:cNvPr id="257" name="" descr="{&quot;isTemplate&quot;:true,&quot;type&quot;:&quot;text&quot;}"/>
          <p:cNvSpPr txBox="1"/>
          <p:nvPr/>
        </p:nvSpPr>
        <p:spPr>
          <a:xfrm rot="0" flipH="0" flipV="0">
            <a:off x="7848600" y="1143000"/>
            <a:ext cx="3657600" cy="152400"/>
          </a:xfrm>
          <a:prstGeom prst="rect"/>
        </p:spPr>
        <p:txBody>
          <a:bodyPr wrap="none" lIns="0" tIns="0" rIns="0" bIns="0"/>
          <a:p>
            <a:pPr>
              <a:lnSpc>
                <a:spcPct val="100000"/>
              </a:lnSpc>
            </a:pPr>
            <a:r>
              <a:rPr lang="en-US" sz="975" spc="120">
                <a:solidFill>
                  <a:srgbClr val="0F6E56"/>
                </a:solidFill>
                <a:latin typeface="JetBrains Mono"/>
                <a:ea typeface="JetBrains Mono"/>
              </a:rPr>
              <a:t>SELECTIVE CANCELLATION</a:t>
            </a:r>
            <a:endParaRPr/>
          </a:p>
        </p:txBody>
      </p:sp>
      <p:sp>
        <p:nvSpPr>
          <p:cNvPr id="258" name="" descr="{&quot;isTemplate&quot;:true,&quot;type&quot;:&quot;text&quot;}"/>
          <p:cNvSpPr txBox="1"/>
          <p:nvPr/>
        </p:nvSpPr>
        <p:spPr>
          <a:xfrm rot="0" flipH="0" flipV="0">
            <a:off x="7848600" y="1428750"/>
            <a:ext cx="3657600" cy="371475"/>
          </a:xfrm>
          <a:prstGeom prst="rect"/>
        </p:spPr>
        <p:txBody>
          <a:bodyPr wrap="none" lIns="0" tIns="0" rIns="0" bIns="0"/>
          <a:p>
            <a:pPr>
              <a:lnSpc>
                <a:spcPct val="140000"/>
              </a:lnSpc>
            </a:pPr>
            <a:r>
              <a:rPr lang="en-US" sz="1725" b="1">
                <a:solidFill>
                  <a:srgbClr val="04342C"/>
                </a:solidFill>
                <a:latin typeface="Inter"/>
                <a:ea typeface="Inter"/>
              </a:rPr>
              <a:t>Two branches, not four</a:t>
            </a:r>
            <a:endParaRPr/>
          </a:p>
        </p:txBody>
      </p:sp>
      <p:sp>
        <p:nvSpPr>
          <p:cNvPr id="259" name="" descr="{&quot;isTemplate&quot;:true,&quot;type&quot;:&quot;text&quot;}"/>
          <p:cNvSpPr txBox="1"/>
          <p:nvPr/>
        </p:nvSpPr>
        <p:spPr>
          <a:xfrm rot="0" flipH="0" flipV="0">
            <a:off x="7848600" y="1914525"/>
            <a:ext cx="3657600" cy="1809750"/>
          </a:xfrm>
          <a:prstGeom prst="rect"/>
        </p:spPr>
        <p:txBody>
          <a:bodyPr wrap="square" lIns="0" tIns="0" rIns="0" bIns="0">
            <a:normAutofit/>
          </a:bodyPr>
          <a:p>
            <a:pPr>
              <a:lnSpc>
                <a:spcPct val="155000"/>
              </a:lnSpc>
            </a:pPr>
            <a:r>
              <a:rPr lang="en-US" sz="1275">
                <a:solidFill>
                  <a:srgbClr val="0B1F1A"/>
                </a:solidFill>
                <a:latin typeface="Inter"/>
                <a:ea typeface="Inter"/>
              </a:rPr>
              <a:t>Cancelling everything destroys work that is still valid. Preserving everything runs queries the user already invalidated. The only way to choose is to know what each branch actually depends on — so the dependency is explicit in the code rather than implied by a call graph.</a:t>
            </a:r>
            <a:endParaRPr/>
          </a:p>
        </p:txBody>
      </p:sp>
      <p:sp>
        <p:nvSpPr>
          <p:cNvPr id="260" name=""/>
          <p:cNvSpPr/>
          <p:nvPr/>
        </p:nvSpPr>
        <p:spPr>
          <a:xfrm rot="0" flipH="0" flipV="0">
            <a:off x="7848600" y="3933825"/>
            <a:ext cx="3657600" cy="285750"/>
          </a:xfrm>
          <a:custGeom>
            <a:pathLst>
              <a:path w="384" h="30">
                <a:moveTo>
                  <a:pt x="0" y="29"/>
                </a:moveTo>
                <a:lnTo>
                  <a:pt x="384" y="29"/>
                </a:lnTo>
                <a:lnTo>
                  <a:pt x="384" y="30"/>
                </a:lnTo>
                <a:lnTo>
                  <a:pt x="0" y="30"/>
                </a:lnTo>
                <a:close/>
              </a:path>
            </a:pathLst>
          </a:custGeom>
          <a:solidFill>
            <a:srgbClr val="E1F5EE"/>
          </a:solidFill>
          <a:ln/>
        </p:spPr>
        <p:txBody>
          <a:bodyPr/>
          <a:p/>
        </p:txBody>
      </p:sp>
      <p:sp>
        <p:nvSpPr>
          <p:cNvPr id="261" name="" descr="{&quot;isTemplate&quot;:true,&quot;type&quot;:&quot;text&quot;}"/>
          <p:cNvSpPr txBox="1"/>
          <p:nvPr/>
        </p:nvSpPr>
        <p:spPr>
          <a:xfrm rot="0" flipH="0" flipV="0">
            <a:off x="7848600" y="3933825"/>
            <a:ext cx="1314450" cy="190500"/>
          </a:xfrm>
          <a:prstGeom prst="rect"/>
        </p:spPr>
        <p:txBody>
          <a:bodyPr wrap="none" lIns="0" tIns="0" rIns="0" bIns="0"/>
          <a:p>
            <a:pPr>
              <a:lnSpc>
                <a:spcPct val="100000"/>
              </a:lnSpc>
            </a:pPr>
            <a:r>
              <a:rPr lang="en-US" sz="1200">
                <a:solidFill>
                  <a:srgbClr val="6B7280"/>
                </a:solidFill>
                <a:latin typeface="Inter"/>
                <a:ea typeface="Inter"/>
              </a:rPr>
              <a:t>branches cancelled</a:t>
            </a:r>
            <a:endParaRPr/>
          </a:p>
        </p:txBody>
      </p:sp>
      <p:sp>
        <p:nvSpPr>
          <p:cNvPr id="262" name="" descr="{&quot;isTemplate&quot;:true,&quot;type&quot;:&quot;text&quot;}"/>
          <p:cNvSpPr txBox="1"/>
          <p:nvPr/>
        </p:nvSpPr>
        <p:spPr>
          <a:xfrm rot="0" flipH="0" flipV="0">
            <a:off x="11115675" y="3933825"/>
            <a:ext cx="390525" cy="190500"/>
          </a:xfrm>
          <a:prstGeom prst="rect"/>
        </p:spPr>
        <p:txBody>
          <a:bodyPr wrap="none" lIns="0" tIns="0" rIns="0" bIns="0"/>
          <a:p>
            <a:pPr>
              <a:lnSpc>
                <a:spcPct val="100000"/>
              </a:lnSpc>
            </a:pPr>
            <a:r>
              <a:rPr lang="en-US" sz="1200">
                <a:solidFill>
                  <a:srgbClr val="0B1F1A"/>
                </a:solidFill>
                <a:latin typeface="JetBrains Mono"/>
                <a:ea typeface="JetBrains Mono"/>
              </a:rPr>
              <a:t>1 of 4</a:t>
            </a:r>
            <a:endParaRPr/>
          </a:p>
        </p:txBody>
      </p:sp>
      <p:sp>
        <p:nvSpPr>
          <p:cNvPr id="263" name=""/>
          <p:cNvSpPr/>
          <p:nvPr/>
        </p:nvSpPr>
        <p:spPr>
          <a:xfrm rot="0" flipH="0" flipV="0">
            <a:off x="7848600" y="4324350"/>
            <a:ext cx="3657600" cy="285750"/>
          </a:xfrm>
          <a:custGeom>
            <a:pathLst>
              <a:path w="384" h="30">
                <a:moveTo>
                  <a:pt x="0" y="29"/>
                </a:moveTo>
                <a:lnTo>
                  <a:pt x="384" y="29"/>
                </a:lnTo>
                <a:lnTo>
                  <a:pt x="384" y="30"/>
                </a:lnTo>
                <a:lnTo>
                  <a:pt x="0" y="30"/>
                </a:lnTo>
                <a:close/>
              </a:path>
            </a:pathLst>
          </a:custGeom>
          <a:solidFill>
            <a:srgbClr val="E1F5EE"/>
          </a:solidFill>
          <a:ln/>
        </p:spPr>
        <p:txBody>
          <a:bodyPr/>
          <a:p/>
        </p:txBody>
      </p:sp>
      <p:sp>
        <p:nvSpPr>
          <p:cNvPr id="264" name="" descr="{&quot;isTemplate&quot;:true,&quot;type&quot;:&quot;text&quot;}"/>
          <p:cNvSpPr txBox="1"/>
          <p:nvPr/>
        </p:nvSpPr>
        <p:spPr>
          <a:xfrm rot="0" flipH="0" flipV="0">
            <a:off x="7848600" y="4324350"/>
            <a:ext cx="904875" cy="190500"/>
          </a:xfrm>
          <a:prstGeom prst="rect"/>
        </p:spPr>
        <p:txBody>
          <a:bodyPr wrap="none" lIns="0" tIns="0" rIns="0" bIns="0"/>
          <a:p>
            <a:pPr>
              <a:lnSpc>
                <a:spcPct val="100000"/>
              </a:lnSpc>
            </a:pPr>
            <a:r>
              <a:rPr lang="en-US" sz="1200">
                <a:solidFill>
                  <a:srgbClr val="6B7280"/>
                </a:solidFill>
                <a:latin typeface="Inter"/>
                <a:ea typeface="Inter"/>
              </a:rPr>
              <a:t>work avoided</a:t>
            </a:r>
            <a:endParaRPr/>
          </a:p>
        </p:txBody>
      </p:sp>
      <p:sp>
        <p:nvSpPr>
          <p:cNvPr id="265" name="" descr="{&quot;isTemplate&quot;:true,&quot;type&quot;:&quot;text&quot;}"/>
          <p:cNvSpPr txBox="1"/>
          <p:nvPr/>
        </p:nvSpPr>
        <p:spPr>
          <a:xfrm rot="0" flipH="0" flipV="0">
            <a:off x="11001375" y="4324350"/>
            <a:ext cx="504825" cy="190500"/>
          </a:xfrm>
          <a:prstGeom prst="rect"/>
        </p:spPr>
        <p:txBody>
          <a:bodyPr wrap="none" lIns="0" tIns="0" rIns="0" bIns="0"/>
          <a:p>
            <a:pPr>
              <a:lnSpc>
                <a:spcPct val="100000"/>
              </a:lnSpc>
            </a:pPr>
            <a:r>
              <a:rPr lang="en-US" sz="1200">
                <a:solidFill>
                  <a:srgbClr val="0B1F1A"/>
                </a:solidFill>
                <a:latin typeface="JetBrains Mono"/>
                <a:ea typeface="JetBrains Mono"/>
              </a:rPr>
              <a:t>120 ms</a:t>
            </a:r>
            <a:endParaRPr/>
          </a:p>
        </p:txBody>
      </p:sp>
      <p:sp>
        <p:nvSpPr>
          <p:cNvPr id="266" name=""/>
          <p:cNvSpPr/>
          <p:nvPr/>
        </p:nvSpPr>
        <p:spPr>
          <a:xfrm rot="0" flipH="0" flipV="0">
            <a:off x="7848600" y="4714875"/>
            <a:ext cx="3657600" cy="285750"/>
          </a:xfrm>
          <a:custGeom>
            <a:pathLst>
              <a:path w="384" h="30">
                <a:moveTo>
                  <a:pt x="0" y="29"/>
                </a:moveTo>
                <a:lnTo>
                  <a:pt x="384" y="29"/>
                </a:lnTo>
                <a:lnTo>
                  <a:pt x="384" y="30"/>
                </a:lnTo>
                <a:lnTo>
                  <a:pt x="0" y="30"/>
                </a:lnTo>
                <a:close/>
              </a:path>
            </a:pathLst>
          </a:custGeom>
          <a:solidFill>
            <a:srgbClr val="E1F5EE"/>
          </a:solidFill>
          <a:ln/>
        </p:spPr>
        <p:txBody>
          <a:bodyPr/>
          <a:p/>
        </p:txBody>
      </p:sp>
      <p:sp>
        <p:nvSpPr>
          <p:cNvPr id="267" name="" descr="{&quot;isTemplate&quot;:true,&quot;type&quot;:&quot;text&quot;}"/>
          <p:cNvSpPr txBox="1"/>
          <p:nvPr/>
        </p:nvSpPr>
        <p:spPr>
          <a:xfrm rot="0" flipH="0" flipV="0">
            <a:off x="7848600" y="4714875"/>
            <a:ext cx="1333500" cy="190500"/>
          </a:xfrm>
          <a:prstGeom prst="rect"/>
        </p:spPr>
        <p:txBody>
          <a:bodyPr wrap="none" lIns="0" tIns="0" rIns="0" bIns="0"/>
          <a:p>
            <a:pPr>
              <a:lnSpc>
                <a:spcPct val="100000"/>
              </a:lnSpc>
            </a:pPr>
            <a:r>
              <a:rPr lang="en-US" sz="1200">
                <a:solidFill>
                  <a:srgbClr val="6B7280"/>
                </a:solidFill>
                <a:latin typeface="Inter"/>
                <a:ea typeface="Inter"/>
              </a:rPr>
              <a:t>cancellation latency</a:t>
            </a:r>
            <a:endParaRPr/>
          </a:p>
        </p:txBody>
      </p:sp>
      <p:sp>
        <p:nvSpPr>
          <p:cNvPr id="268" name="" descr="{&quot;isTemplate&quot;:true,&quot;type&quot;:&quot;text&quot;}"/>
          <p:cNvSpPr txBox="1"/>
          <p:nvPr/>
        </p:nvSpPr>
        <p:spPr>
          <a:xfrm rot="0" flipH="0" flipV="0">
            <a:off x="11039475" y="4714875"/>
            <a:ext cx="466725" cy="190500"/>
          </a:xfrm>
          <a:prstGeom prst="rect"/>
        </p:spPr>
        <p:txBody>
          <a:bodyPr wrap="none" lIns="0" tIns="0" rIns="0" bIns="0"/>
          <a:p>
            <a:pPr>
              <a:lnSpc>
                <a:spcPct val="100000"/>
              </a:lnSpc>
            </a:pPr>
            <a:r>
              <a:rPr lang="en-US" sz="1200">
                <a:solidFill>
                  <a:srgbClr val="0B1F1A"/>
                </a:solidFill>
                <a:latin typeface="JetBrains Mono"/>
                <a:ea typeface="JetBrains Mono"/>
              </a:rPr>
              <a:t>0.0 ms</a:t>
            </a:r>
            <a:endParaRPr/>
          </a:p>
        </p:txBody>
      </p:sp>
      <p:sp>
        <p:nvSpPr>
          <p:cNvPr id="269" name=""/>
          <p:cNvSpPr/>
          <p:nvPr/>
        </p:nvSpPr>
        <p:spPr>
          <a:xfrm rot="0" flipH="0" flipV="0">
            <a:off x="7848600" y="5105400"/>
            <a:ext cx="3657600" cy="285750"/>
          </a:xfrm>
          <a:custGeom>
            <a:pathLst>
              <a:path w="384" h="30">
                <a:moveTo>
                  <a:pt x="0" y="29"/>
                </a:moveTo>
                <a:lnTo>
                  <a:pt x="384" y="29"/>
                </a:lnTo>
                <a:lnTo>
                  <a:pt x="384" y="30"/>
                </a:lnTo>
                <a:lnTo>
                  <a:pt x="0" y="30"/>
                </a:lnTo>
                <a:close/>
              </a:path>
            </a:pathLst>
          </a:custGeom>
          <a:solidFill>
            <a:srgbClr val="E1F5EE"/>
          </a:solidFill>
          <a:ln/>
        </p:spPr>
        <p:txBody>
          <a:bodyPr/>
          <a:p/>
        </p:txBody>
      </p:sp>
      <p:sp>
        <p:nvSpPr>
          <p:cNvPr id="270" name="" descr="{&quot;isTemplate&quot;:true,&quot;type&quot;:&quot;text&quot;}"/>
          <p:cNvSpPr txBox="1"/>
          <p:nvPr/>
        </p:nvSpPr>
        <p:spPr>
          <a:xfrm rot="0" flipH="0" flipV="0">
            <a:off x="7848600" y="5105400"/>
            <a:ext cx="1162050" cy="190500"/>
          </a:xfrm>
          <a:prstGeom prst="rect"/>
        </p:spPr>
        <p:txBody>
          <a:bodyPr wrap="none" lIns="0" tIns="0" rIns="0" bIns="0"/>
          <a:p>
            <a:pPr>
              <a:lnSpc>
                <a:spcPct val="100000"/>
              </a:lnSpc>
            </a:pPr>
            <a:r>
              <a:rPr lang="en-US" sz="1200">
                <a:solidFill>
                  <a:srgbClr val="6B7280"/>
                </a:solidFill>
                <a:latin typeface="Inter"/>
                <a:ea typeface="Inter"/>
              </a:rPr>
              <a:t>branch calls after</a:t>
            </a:r>
            <a:endParaRPr/>
          </a:p>
        </p:txBody>
      </p:sp>
      <p:sp>
        <p:nvSpPr>
          <p:cNvPr id="271" name="" descr="{&quot;isTemplate&quot;:true,&quot;type&quot;:&quot;text&quot;}"/>
          <p:cNvSpPr txBox="1"/>
          <p:nvPr/>
        </p:nvSpPr>
        <p:spPr>
          <a:xfrm rot="0" flipH="0" flipV="0">
            <a:off x="10325100" y="5105400"/>
            <a:ext cx="1181100" cy="190500"/>
          </a:xfrm>
          <a:prstGeom prst="rect"/>
        </p:spPr>
        <p:txBody>
          <a:bodyPr wrap="none" lIns="0" tIns="0" rIns="0" bIns="0"/>
          <a:p>
            <a:pPr>
              <a:lnSpc>
                <a:spcPct val="100000"/>
              </a:lnSpc>
            </a:pPr>
            <a:r>
              <a:rPr lang="en-US" sz="1200">
                <a:solidFill>
                  <a:srgbClr val="0B1F1A"/>
                </a:solidFill>
                <a:latin typeface="JetBrains Mono"/>
                <a:ea typeface="JetBrains Mono"/>
              </a:rPr>
              <a:t>vector 2 · bm25 1</a:t>
            </a:r>
            <a:endParaRPr/>
          </a:p>
        </p:txBody>
      </p:sp>
      <p:sp>
        <p:nvSpPr>
          <p:cNvPr id="272" name=""/>
          <p:cNvSpPr/>
          <p:nvPr/>
        </p:nvSpPr>
        <p:spPr>
          <a:xfrm rot="0" flipH="0" flipV="0">
            <a:off x="7896225" y="5381625"/>
            <a:ext cx="3657600" cy="1447800"/>
          </a:xfrm>
          <a:prstGeom prst="rect">
            <a:avLst/>
          </a:prstGeom>
          <a:solidFill>
            <a:srgbClr val="E1F5EE"/>
          </a:solidFill>
          <a:ln/>
        </p:spPr>
        <p:txBody>
          <a:bodyPr/>
          <a:p/>
        </p:txBody>
      </p:sp>
      <p:sp>
        <p:nvSpPr>
          <p:cNvPr id="273" name=""/>
          <p:cNvSpPr/>
          <p:nvPr/>
        </p:nvSpPr>
        <p:spPr>
          <a:xfrm rot="0" flipH="0" flipV="0">
            <a:off x="7848600" y="5381625"/>
            <a:ext cx="3705225" cy="1447800"/>
          </a:xfrm>
          <a:custGeom>
            <a:pathLst>
              <a:path w="389" h="152">
                <a:moveTo>
                  <a:pt x="0" y="0"/>
                </a:moveTo>
                <a:lnTo>
                  <a:pt x="5" y="0"/>
                </a:lnTo>
                <a:lnTo>
                  <a:pt x="5" y="152"/>
                </a:lnTo>
                <a:lnTo>
                  <a:pt x="0" y="152"/>
                </a:lnTo>
                <a:close/>
              </a:path>
            </a:pathLst>
          </a:custGeom>
          <a:solidFill>
            <a:srgbClr val="0F6E56"/>
          </a:solidFill>
          <a:ln/>
        </p:spPr>
        <p:txBody>
          <a:bodyPr/>
          <a:p/>
        </p:txBody>
      </p:sp>
      <p:sp>
        <p:nvSpPr>
          <p:cNvPr id="274" name="" descr="{&quot;isTemplate&quot;:true,&quot;type&quot;:&quot;text&quot;}"/>
          <p:cNvSpPr txBox="1"/>
          <p:nvPr/>
        </p:nvSpPr>
        <p:spPr>
          <a:xfrm rot="0" flipH="0" flipV="0">
            <a:off x="8086725" y="5553075"/>
            <a:ext cx="3228975" cy="1104900"/>
          </a:xfrm>
          <a:prstGeom prst="rect"/>
        </p:spPr>
        <p:txBody>
          <a:bodyPr wrap="square" lIns="0" tIns="0" rIns="0" bIns="0">
            <a:normAutofit/>
          </a:bodyPr>
          <a:p>
            <a:pPr>
              <a:lnSpc>
                <a:spcPct val="150000"/>
              </a:lnSpc>
            </a:pPr>
            <a:r>
              <a:rPr lang="en-US" sz="1200">
                <a:solidFill>
                  <a:srgbClr val="04342C"/>
                </a:solidFill>
                <a:latin typeface="Inter"/>
                <a:ea typeface="Inter"/>
              </a:rPr>
              <a:t>Change the </a:t>
            </a:r>
            <a:r>
              <a:rPr lang="en-US" sz="1200" b="1">
                <a:solidFill>
                  <a:srgbClr val="04342C"/>
                </a:solidFill>
                <a:latin typeface="Inter"/>
                <a:ea typeface="Inter"/>
              </a:rPr>
              <a:t>hard filter</a:t>
            </a:r>
            <a:r>
              <a:rPr lang="en-US" sz="1200">
                <a:solidFill>
                  <a:srgbClr val="04342C"/>
                </a:solidFill>
                <a:latin typeface="Inter"/>
                <a:ea typeface="Inter"/>
              </a:rPr>
              <a:t> instead and all four branches move — rows fetched under a different eligibility clause are not the same rows.</a:t>
            </a:r>
            <a:endParaRPr/>
          </a:p>
        </p:txBody>
      </p:sp>
      <p:sp>
        <p:nvSpPr>
          <p:cNvPr id="275"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276"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06 / 12</a:t>
            </a:r>
            <a:endParaRPr/>
          </a:p>
        </p:txBody>
      </p:sp>
    </p:spTree>
  </p:cSld>
</p:sld>
</file>

<file path=ppt/slides/slide7.xml><?xml version="1.0" encoding="utf-8"?>
<p:sld xmlns:a="http://schemas.openxmlformats.org/drawingml/2006/main" xmlns:p="http://schemas.openxmlformats.org/presentationml/2006/main">
  <p:cSld>
    <p:spTree>
      <p:nvGrpSpPr>
        <p:cNvPr id="277"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What the system believes, on every event&#10;            &lt;/Text&gt;&#10;        &lt;/Box&gt;&#10;&#10;        &lt;Box style={{ height: 540, flexDirection: 'row', gap: 34 }}&gt;&#10;            &lt;Box style={{&#10;                width: 300,&#10;                background: 'linear-gradient(160deg, #04342C 0%, #0F6E56 100%)',&#10;                padding: '28px 24px',&#10;                flexDirection: 'column',&#10;            }}&gt;&#10;                &lt;Text style={{ fontFamily: 'JetBrains Mono', fontSize: 13, color: '#97C459', letterSpacing: 1.6 }}&gt;&#10;                    STATE SNAPSHOTS&#10;                &lt;/Text&gt;&#10;                &lt;Text style={{ fontFamily: 'Inter', fontSize: 22, fontWeight: 'bold', color: '#FFFFFF', lineHeight: 1.45, marginTop: 18 }}&gt;&#10;                    Every turn event publishes what the system currently believes, precisely enough to act on.&#10;                &lt;/Text&gt;&#10;                &lt;Text style={{ fontFamily: 'Inter', fontSize: 16, lineHeight: 1.55, color: 'rgba(225,245,238,0.88)', marginTop: 16 }}&gt;&#10;                    An interruption then stops being a special case. It is a comparison of two states, and the difference says&#10;                    exactly what to re-run.&#10;                &lt;/Text&gt;&#10;                &lt;Box style={{ marginTop: 'auto', paddingTop: 18 }}&gt;&#10;                    &lt;Box style={{ height: 1, background: 'rgba(225,245,238,0.28)', marginBottom: 14 }} /&gt;&#10;                    &lt;Text style={{ fontFamily: 'JetBrains Mono', fontSize: 13, color: '#97C459' }}&gt;&#10;                        SnapshotJournal&#10;                    &lt;/Text&gt;&#10;                    &lt;Text style={{ fontFamily: 'Inter', fontSize: 15, lineHeight: 1.5, color: 'rgba(225,245,238,0.82)', marginTop: 6 }}&gt;&#10;                        holds every event in order, so a turn can be replayed rather than guessed at.&#10;                    &lt;/Text&gt;&#10;                &lt;/Box&gt;&#10;            &lt;/Box&gt;&#10;&#10;            &lt;Box style={{ width: 802, flexDirection: 'column', gap: 24 }}&gt;&#10;                &lt;Box style={{&#10;                    height: 250,&#10;                    background: '#E1F5EE',&#10;                    padding: '18px 24px',&#10;                    flexDirection: 'column',&#10;                    justifyContent: 'space-between',&#10;                }}&gt;&#10;                    &lt;Box style={{ flexDirection: 'row' }}&gt;&#10;                        &lt;Text style={{ fontFamily: 'JetBrains Mono', fontSize: 12, color: '#0F6E56', letterSpacing: 1.5, width: 200 }}&gt;&#10;                            FIELD&#10;                        &lt;/Text&gt;&#10;                        &lt;Text style={{ fontFamily: 'JetBrains Mono', fontSize: 12, color: '#0F6E56', letterSpacing: 1.5, flex: 1 }}&gt;&#10;                            VALUE AFTER “CHANGE THE CITY TO BANGALORE”&#10;                        &lt;/Text&gt;&#10;                    &lt;/Box&gt;&#10;&#10;                    &lt;Box style={{ flexDirection: 'row' }}&gt;&#10;                        &lt;Text style={{ fontFamily: 'JetBrains Mono', fontSize: 15, color: '#0F6E56', width: 200 }}&gt;intent&lt;/Text&gt;&#10;                        &lt;Text style={{ fontFamily: 'JetBrains Mono', fontSize: 15, color: '#0B1F1A', flex: 1 }}&gt;&quot;python backend engineer&quot;&lt;/Text&gt;&#10;                    &lt;/Box&gt;&#10;                    &lt;Box style={{ flexDirection: 'row' }}&gt;&#10;                        &lt;Text style={{ fontFamily: 'JetBrains Mono', fontSize: 15, color: '#0F6E56', width: 200 }}&gt;slots.city&lt;/Text&gt;&#10;                        &lt;Text style={{ fontFamily: 'JetBrains Mono', fontSize: 15, color: '#0B1F1A', flex: 1 }}&gt;&quot;bangalore&quot;&lt;/Text&gt;&#10;                    &lt;/Box&gt;&#10;                    &lt;Box style={{ flexDirection: 'row' }}&gt;&#10;                        &lt;Text style={{ fontFamily: 'JetBrains Mono', fontSize: 15, color: '#0F6E56', width: 200 }}&gt;slots.must_skills&lt;/Text&gt;&#10;                        &lt;Text style={{ fontFamily: 'JetBrains Mono', fontSize: 15, color: '#0B1F1A', flex: 1 }}&gt;[&quot;python&quot;]&lt;/Text&gt;&#10;                    &lt;/Box&gt;&#10;                    &lt;Box style={{ flexDirection: 'row' }}&gt;&#10;                        &lt;Text style={{ fontFamily: 'JetBrains Mono', fontSize: 15, color: '#0F6E56', width: 200 }}&gt;slots.min_years_exp&lt;/Text&gt;&#10;                        &lt;Text style={{ fontFamily: 'JetBrains Mono', fontSize: 15, color: '#0B1F1A', flex: 1 }}&gt;5&lt;/Text&gt;&#10;                    &lt;/Box&gt;&#10;                    &lt;Box style={{ flexDirection: 'row' }}&gt;&#10;                        &lt;Text style={{ fontFamily: 'JetBrains Mono', fontSize: 15, color: '#0F6E56', width: 200 }}&gt;changed_fields&lt;/Text&gt;&#10;                        &lt;Text style={{ fontFamily: 'JetBrains Mono', fontSize: 15, color: '#97C459', fontWeight: 'bold', flex: 1 }}&gt;[&quot;city&quot;]&lt;/Text&gt;&#10;                    &lt;/Box&gt;&#10;                    &lt;Box style={{ flexDirection: 'row' }}&gt;&#10;                        &lt;Text style={{ fontFamily: 'JetBrains Mono', fontSize: 15, color: '#0F6E56', width: 200 }}&gt;unset_slots&lt;/Text&gt;&#10;                        &lt;Text style={{ fontFamily: 'JetBrains Mono', fontSize: 13, color: '#6B7280', flex: 1 }}&gt;&#10;                            7 named: country · max_years_exp · should_skills · should_themes · should_roles · should_locations · excluded_skills&#10;                        &lt;/Text&gt;&#10;                    &lt;/Box&gt;&#10;                &lt;/Box&gt;&#10;&#10;                &lt;Box style={{ height: 266, flexDirection: 'row', gap: 24 }}&gt;&#10;                    &lt;Box style={{&#10;                        flex: 1,&#10;                        border: '1px solid #E1F5EE',&#10;                        borderTop: '5px solid #0F6E56',&#10;                        padding: '22px 24px',&#10;                        flexDirection: 'column',&#10;                    }}&gt;&#10;                        &lt;Text style={{ fontFamily: 'Inter', fontSize: 21, fontWeight: 'bold', color: '#04342C', lineHeight: 1.35 }}&gt;&#10;                            Slots are total, not sparse&#10;                        &lt;/Text&gt;&#10;                        &lt;Text style={{ fontFamily: 'Inter', fontSize: 16.5, lineHeight: 1.55, color: '#0B1F1A', marginTop: 12 }}&gt;&#10;                            A snapshot names every constraint slot, including the empty ones. A clarification decision has to tell&#10;                            “the user never mentioned a country” apart from “we dropped the country they gave us” — and an absent&#10;                            field cannot express that difference.&#10;                        &lt;/Text&gt;&#10;                    &lt;/Box&gt;&#10;                    &lt;Box style={{&#10;                        flex: 1,&#10;                        border: '1px solid #E1F5EE',&#10;                        borderTop: '5px solid #0F6E56',&#10;                        padding: '22px 24px',&#10;                        flexDirection: 'column',&#10;                    }}&gt;&#10;                        &lt;Text style={{ fontFamily: 'Inter', fontSize: 21, fontWeight: 'bold', color: '#04342C', lineHeight: 1.35 }}&gt;&#10;                            The panel shows the diff, not the state&#10;                        &lt;/Text&gt;&#10;                        &lt;Text style={{ fontFamily: 'Inter', fontSize: 16.5, lineHeight: 1.55, color: '#0B1F1A', marginTop: 12 }}&gt;&#10;                            Every event carries a snapshot, so rendering all of them would bury the conversation. The panel draws&#10;                            one only when &lt;span style={{ fontFamily: 'JetBrains Mono', fontSize: 15, color: '#0F6E56' }}&gt;changed_fields&lt;/span&gt; is&#10;                            non-empty or the phase is final — which is why an interruption reads as a visible event rather than noise.&#10;                        &lt;/Text&gt;&#10;                    &lt;/Box&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7 / 12&#10;            &lt;/Text&gt;&#10;        &lt;/Box&gt;&#10;    &lt;/Box&gt;&#10;&lt;/Slide&gt;&#10;"/>
        <p:cNvGrpSpPr/>
        <p:nvPr/>
      </p:nvGrpSpPr>
      <p:grpSpPr>
        <a:xfrm>
          <a:off x="0" y="0"/>
          <a:ext cx="0" cy="0"/>
          <a:chOff x="0" y="0"/>
          <a:chExt cx="0" cy="0"/>
        </a:xfrm>
      </p:grpSpPr>
      <p:sp>
        <p:nvSpPr>
          <p:cNvPr id="278" name=""/>
          <p:cNvSpPr/>
          <p:nvPr/>
        </p:nvSpPr>
        <p:spPr>
          <a:xfrm rot="0" flipH="0" flipV="0">
            <a:off x="0" y="0"/>
            <a:ext cx="12192000" cy="6858000"/>
          </a:xfrm>
          <a:prstGeom prst="rect">
            <a:avLst/>
          </a:prstGeom>
          <a:solidFill>
            <a:srgbClr val="FFFFFF"/>
          </a:solidFill>
          <a:ln/>
        </p:spPr>
        <p:txBody>
          <a:bodyPr/>
          <a:p/>
        </p:txBody>
      </p:sp>
      <p:sp>
        <p:nvSpPr>
          <p:cNvPr id="279" name=""/>
          <p:cNvSpPr/>
          <p:nvPr/>
        </p:nvSpPr>
        <p:spPr>
          <a:xfrm rot="0" flipH="0" flipV="0">
            <a:off x="685800" y="409575"/>
            <a:ext cx="533400" cy="57150"/>
          </a:xfrm>
          <a:prstGeom prst="rect">
            <a:avLst/>
          </a:prstGeom>
          <a:solidFill>
            <a:srgbClr val="97C459"/>
          </a:solidFill>
          <a:ln/>
        </p:spPr>
        <p:txBody>
          <a:bodyPr/>
          <a:p/>
        </p:txBody>
      </p:sp>
      <p:sp>
        <p:nvSpPr>
          <p:cNvPr id="280"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What the system believes, on every event</a:t>
            </a:r>
            <a:endParaRPr/>
          </a:p>
        </p:txBody>
      </p:sp>
      <p:sp>
        <p:nvSpPr>
          <p:cNvPr id="281" name=""/>
          <p:cNvSpPr/>
          <p:nvPr/>
        </p:nvSpPr>
        <p:spPr>
          <a:xfrm rot="0" flipH="0" flipV="0">
            <a:off x="685800" y="1143000"/>
            <a:ext cx="2857500" cy="5276850"/>
          </a:xfrm>
          <a:prstGeom prst="rect">
            <a:avLst/>
          </a:prstGeom>
          <a:gradFill>
            <a:gsLst>
              <a:gs pos="0">
                <a:srgbClr val="04342C"/>
              </a:gs>
              <a:gs pos="100000">
                <a:srgbClr val="0F6E56"/>
              </a:gs>
            </a:gsLst>
            <a:lin ang="4200000" scaled="1"/>
          </a:gradFill>
          <a:ln/>
        </p:spPr>
        <p:txBody>
          <a:bodyPr/>
          <a:p/>
        </p:txBody>
      </p:sp>
      <p:sp>
        <p:nvSpPr>
          <p:cNvPr id="282" name="" descr="{&quot;isTemplate&quot;:true,&quot;type&quot;:&quot;text&quot;}"/>
          <p:cNvSpPr txBox="1"/>
          <p:nvPr/>
        </p:nvSpPr>
        <p:spPr>
          <a:xfrm rot="0" flipH="0" flipV="0">
            <a:off x="914400" y="1409700"/>
            <a:ext cx="2400300" cy="152400"/>
          </a:xfrm>
          <a:prstGeom prst="rect"/>
        </p:spPr>
        <p:txBody>
          <a:bodyPr wrap="none" lIns="0" tIns="0" rIns="0" bIns="0"/>
          <a:p>
            <a:pPr>
              <a:lnSpc>
                <a:spcPct val="100000"/>
              </a:lnSpc>
            </a:pPr>
            <a:r>
              <a:rPr lang="en-US" sz="975" spc="120">
                <a:solidFill>
                  <a:srgbClr val="97C459"/>
                </a:solidFill>
                <a:latin typeface="JetBrains Mono"/>
                <a:ea typeface="JetBrains Mono"/>
              </a:rPr>
              <a:t>STATE SNAPSHOTS</a:t>
            </a:r>
            <a:endParaRPr/>
          </a:p>
        </p:txBody>
      </p:sp>
      <p:sp>
        <p:nvSpPr>
          <p:cNvPr id="283" name="" descr="{&quot;isTemplate&quot;:true,&quot;type&quot;:&quot;text&quot;}"/>
          <p:cNvSpPr txBox="1"/>
          <p:nvPr/>
        </p:nvSpPr>
        <p:spPr>
          <a:xfrm rot="0" flipH="0" flipV="0">
            <a:off x="914400" y="1733550"/>
            <a:ext cx="2400300" cy="1828800"/>
          </a:xfrm>
          <a:prstGeom prst="rect"/>
        </p:spPr>
        <p:txBody>
          <a:bodyPr wrap="square" lIns="0" tIns="0" rIns="0" bIns="0">
            <a:normAutofit/>
          </a:bodyPr>
          <a:p>
            <a:pPr>
              <a:lnSpc>
                <a:spcPct val="145000"/>
              </a:lnSpc>
            </a:pPr>
            <a:r>
              <a:rPr lang="en-US" sz="1650" b="1">
                <a:solidFill>
                  <a:srgbClr val="FFFFFF"/>
                </a:solidFill>
                <a:latin typeface="Inter"/>
                <a:ea typeface="Inter"/>
              </a:rPr>
              <a:t>Every turn event publishes what the system currently believes, precisely enough to act on.</a:t>
            </a:r>
            <a:endParaRPr/>
          </a:p>
        </p:txBody>
      </p:sp>
      <p:sp>
        <p:nvSpPr>
          <p:cNvPr id="284" name="" descr="{&quot;isTemplate&quot;:true,&quot;type&quot;:&quot;text&quot;}"/>
          <p:cNvSpPr txBox="1"/>
          <p:nvPr/>
        </p:nvSpPr>
        <p:spPr>
          <a:xfrm rot="0" flipH="0" flipV="0">
            <a:off x="914400" y="3714750"/>
            <a:ext cx="2400300" cy="1143000"/>
          </a:xfrm>
          <a:prstGeom prst="rect"/>
        </p:spPr>
        <p:txBody>
          <a:bodyPr wrap="square" lIns="0" tIns="0" rIns="0" bIns="0">
            <a:normAutofit/>
          </a:bodyPr>
          <a:p>
            <a:pPr>
              <a:lnSpc>
                <a:spcPct val="155000"/>
              </a:lnSpc>
            </a:pPr>
            <a:r>
              <a:rPr lang="en-US" sz="1200">
                <a:solidFill>
                  <a:srgbClr val="E1F5EE">
                    <a:alpha val="88000"/>
                  </a:srgbClr>
                </a:solidFill>
                <a:latin typeface="Inter"/>
                <a:ea typeface="Inter"/>
              </a:rPr>
              <a:t>An interruption then stops being a special case. It is a comparison of two states, and the difference says exactly what to re-run.</a:t>
            </a:r>
            <a:endParaRPr/>
          </a:p>
        </p:txBody>
      </p:sp>
      <p:sp>
        <p:nvSpPr>
          <p:cNvPr id="285" name=""/>
          <p:cNvSpPr/>
          <p:nvPr/>
        </p:nvSpPr>
        <p:spPr>
          <a:xfrm rot="0" flipH="0" flipV="0">
            <a:off x="914400" y="5029200"/>
            <a:ext cx="2400300" cy="9525"/>
          </a:xfrm>
          <a:prstGeom prst="rect">
            <a:avLst/>
          </a:prstGeom>
          <a:solidFill>
            <a:srgbClr val="E1F5EE">
              <a:alpha val="28000"/>
            </a:srgbClr>
          </a:solidFill>
          <a:ln/>
        </p:spPr>
        <p:txBody>
          <a:bodyPr/>
          <a:p/>
        </p:txBody>
      </p:sp>
      <p:sp>
        <p:nvSpPr>
          <p:cNvPr id="286" name="" descr="{&quot;isTemplate&quot;:true,&quot;type&quot;:&quot;text&quot;}"/>
          <p:cNvSpPr txBox="1"/>
          <p:nvPr/>
        </p:nvSpPr>
        <p:spPr>
          <a:xfrm rot="0" flipH="0" flipV="0">
            <a:off x="914400" y="5172075"/>
            <a:ext cx="2400300" cy="152400"/>
          </a:xfrm>
          <a:prstGeom prst="rect"/>
        </p:spPr>
        <p:txBody>
          <a:bodyPr wrap="none" lIns="0" tIns="0" rIns="0" bIns="0"/>
          <a:p>
            <a:pPr>
              <a:lnSpc>
                <a:spcPct val="100000"/>
              </a:lnSpc>
            </a:pPr>
            <a:r>
              <a:rPr lang="en-US" sz="975">
                <a:solidFill>
                  <a:srgbClr val="97C459"/>
                </a:solidFill>
                <a:latin typeface="JetBrains Mono"/>
                <a:ea typeface="JetBrains Mono"/>
              </a:rPr>
              <a:t>SnapshotJournal</a:t>
            </a:r>
            <a:endParaRPr/>
          </a:p>
        </p:txBody>
      </p:sp>
      <p:sp>
        <p:nvSpPr>
          <p:cNvPr id="287" name="" descr="{&quot;isTemplate&quot;:true,&quot;type&quot;:&quot;text&quot;}"/>
          <p:cNvSpPr txBox="1"/>
          <p:nvPr/>
        </p:nvSpPr>
        <p:spPr>
          <a:xfrm rot="0" flipH="0" flipV="0">
            <a:off x="914400" y="5381625"/>
            <a:ext cx="2400300" cy="771525"/>
          </a:xfrm>
          <a:prstGeom prst="rect"/>
        </p:spPr>
        <p:txBody>
          <a:bodyPr wrap="square" lIns="0" tIns="0" rIns="0" bIns="0">
            <a:normAutofit/>
          </a:bodyPr>
          <a:p>
            <a:pPr>
              <a:lnSpc>
                <a:spcPct val="150000"/>
              </a:lnSpc>
            </a:pPr>
            <a:r>
              <a:rPr lang="en-US" sz="1125">
                <a:solidFill>
                  <a:srgbClr val="E1F5EE">
                    <a:alpha val="82000"/>
                  </a:srgbClr>
                </a:solidFill>
                <a:latin typeface="Inter"/>
                <a:ea typeface="Inter"/>
              </a:rPr>
              <a:t>holds every event in order, so a turn can be replayed rather than guessed at.</a:t>
            </a:r>
            <a:endParaRPr/>
          </a:p>
        </p:txBody>
      </p:sp>
      <p:sp>
        <p:nvSpPr>
          <p:cNvPr id="288" name=""/>
          <p:cNvSpPr/>
          <p:nvPr/>
        </p:nvSpPr>
        <p:spPr>
          <a:xfrm rot="0" flipH="0" flipV="0">
            <a:off x="3867150" y="1143000"/>
            <a:ext cx="7639050" cy="2381250"/>
          </a:xfrm>
          <a:prstGeom prst="rect">
            <a:avLst/>
          </a:prstGeom>
          <a:solidFill>
            <a:srgbClr val="E1F5EE"/>
          </a:solidFill>
          <a:ln/>
        </p:spPr>
        <p:txBody>
          <a:bodyPr/>
          <a:p/>
        </p:txBody>
      </p:sp>
      <p:sp>
        <p:nvSpPr>
          <p:cNvPr id="289" name="" descr="{&quot;isTemplate&quot;:true,&quot;type&quot;:&quot;text&quot;}"/>
          <p:cNvSpPr txBox="1"/>
          <p:nvPr/>
        </p:nvSpPr>
        <p:spPr>
          <a:xfrm rot="0" flipH="0" flipV="0">
            <a:off x="4095750" y="1314450"/>
            <a:ext cx="1905000" cy="142875"/>
          </a:xfrm>
          <a:prstGeom prst="rect"/>
        </p:spPr>
        <p:txBody>
          <a:bodyPr wrap="none" lIns="0" tIns="0" rIns="0" bIns="0"/>
          <a:p>
            <a:pPr>
              <a:lnSpc>
                <a:spcPct val="100000"/>
              </a:lnSpc>
            </a:pPr>
            <a:r>
              <a:rPr lang="en-US" sz="900" spc="113">
                <a:solidFill>
                  <a:srgbClr val="0F6E56"/>
                </a:solidFill>
                <a:latin typeface="JetBrains Mono"/>
                <a:ea typeface="JetBrains Mono"/>
              </a:rPr>
              <a:t>FIELD</a:t>
            </a:r>
            <a:endParaRPr/>
          </a:p>
        </p:txBody>
      </p:sp>
      <p:sp>
        <p:nvSpPr>
          <p:cNvPr id="290" name="" descr="{&quot;isTemplate&quot;:true,&quot;type&quot;:&quot;text&quot;}"/>
          <p:cNvSpPr txBox="1"/>
          <p:nvPr/>
        </p:nvSpPr>
        <p:spPr>
          <a:xfrm rot="0" flipH="0" flipV="0">
            <a:off x="6000750" y="1314450"/>
            <a:ext cx="5276850" cy="142875"/>
          </a:xfrm>
          <a:prstGeom prst="rect"/>
        </p:spPr>
        <p:txBody>
          <a:bodyPr wrap="none" lIns="0" tIns="0" rIns="0" bIns="0"/>
          <a:p>
            <a:pPr>
              <a:lnSpc>
                <a:spcPct val="100000"/>
              </a:lnSpc>
            </a:pPr>
            <a:r>
              <a:rPr lang="en-US" sz="900" spc="113">
                <a:solidFill>
                  <a:srgbClr val="0F6E56"/>
                </a:solidFill>
                <a:latin typeface="JetBrains Mono"/>
                <a:ea typeface="JetBrains Mono"/>
              </a:rPr>
              <a:t>VALUE AFTER “CHANGE THE CITY TO BANGALORE”</a:t>
            </a:r>
            <a:endParaRPr/>
          </a:p>
        </p:txBody>
      </p:sp>
      <p:sp>
        <p:nvSpPr>
          <p:cNvPr id="291" name="" descr="{&quot;isTemplate&quot;:true,&quot;type&quot;:&quot;text&quot;}"/>
          <p:cNvSpPr txBox="1"/>
          <p:nvPr/>
        </p:nvSpPr>
        <p:spPr>
          <a:xfrm rot="0" flipH="0" flipV="0">
            <a:off x="4095750" y="1581150"/>
            <a:ext cx="1905000" cy="171450"/>
          </a:xfrm>
          <a:prstGeom prst="rect"/>
        </p:spPr>
        <p:txBody>
          <a:bodyPr wrap="none" lIns="0" tIns="0" rIns="0" bIns="0"/>
          <a:p>
            <a:pPr>
              <a:lnSpc>
                <a:spcPct val="100000"/>
              </a:lnSpc>
            </a:pPr>
            <a:r>
              <a:rPr lang="en-US" sz="1125">
                <a:solidFill>
                  <a:srgbClr val="0F6E56"/>
                </a:solidFill>
                <a:latin typeface="JetBrains Mono"/>
                <a:ea typeface="JetBrains Mono"/>
              </a:rPr>
              <a:t>intent</a:t>
            </a:r>
            <a:endParaRPr/>
          </a:p>
        </p:txBody>
      </p:sp>
      <p:sp>
        <p:nvSpPr>
          <p:cNvPr id="292" name="" descr="{&quot;isTemplate&quot;:true,&quot;type&quot;:&quot;text&quot;}"/>
          <p:cNvSpPr txBox="1"/>
          <p:nvPr/>
        </p:nvSpPr>
        <p:spPr>
          <a:xfrm rot="0" flipH="0" flipV="0">
            <a:off x="6000750" y="1581150"/>
            <a:ext cx="5276850" cy="171450"/>
          </a:xfrm>
          <a:prstGeom prst="rect"/>
        </p:spPr>
        <p:txBody>
          <a:bodyPr wrap="none" lIns="0" tIns="0" rIns="0" bIns="0"/>
          <a:p>
            <a:pPr>
              <a:lnSpc>
                <a:spcPct val="100000"/>
              </a:lnSpc>
            </a:pPr>
            <a:r>
              <a:rPr lang="en-US" sz="1125">
                <a:solidFill>
                  <a:srgbClr val="0B1F1A"/>
                </a:solidFill>
                <a:latin typeface="JetBrains Mono"/>
                <a:ea typeface="JetBrains Mono"/>
              </a:rPr>
              <a:t>"python backend engineer"</a:t>
            </a:r>
            <a:endParaRPr/>
          </a:p>
        </p:txBody>
      </p:sp>
      <p:sp>
        <p:nvSpPr>
          <p:cNvPr id="293" name="" descr="{&quot;isTemplate&quot;:true,&quot;type&quot;:&quot;text&quot;}"/>
          <p:cNvSpPr txBox="1"/>
          <p:nvPr/>
        </p:nvSpPr>
        <p:spPr>
          <a:xfrm rot="0" flipH="0" flipV="0">
            <a:off x="4095750" y="1876425"/>
            <a:ext cx="1905000" cy="171450"/>
          </a:xfrm>
          <a:prstGeom prst="rect"/>
        </p:spPr>
        <p:txBody>
          <a:bodyPr wrap="none" lIns="0" tIns="0" rIns="0" bIns="0"/>
          <a:p>
            <a:pPr>
              <a:lnSpc>
                <a:spcPct val="100000"/>
              </a:lnSpc>
            </a:pPr>
            <a:r>
              <a:rPr lang="en-US" sz="1125">
                <a:solidFill>
                  <a:srgbClr val="0F6E56"/>
                </a:solidFill>
                <a:latin typeface="JetBrains Mono"/>
                <a:ea typeface="JetBrains Mono"/>
              </a:rPr>
              <a:t>slots.city</a:t>
            </a:r>
            <a:endParaRPr/>
          </a:p>
        </p:txBody>
      </p:sp>
      <p:sp>
        <p:nvSpPr>
          <p:cNvPr id="294" name="" descr="{&quot;isTemplate&quot;:true,&quot;type&quot;:&quot;text&quot;}"/>
          <p:cNvSpPr txBox="1"/>
          <p:nvPr/>
        </p:nvSpPr>
        <p:spPr>
          <a:xfrm rot="0" flipH="0" flipV="0">
            <a:off x="6000750" y="1876425"/>
            <a:ext cx="5276850" cy="171450"/>
          </a:xfrm>
          <a:prstGeom prst="rect"/>
        </p:spPr>
        <p:txBody>
          <a:bodyPr wrap="none" lIns="0" tIns="0" rIns="0" bIns="0"/>
          <a:p>
            <a:pPr>
              <a:lnSpc>
                <a:spcPct val="100000"/>
              </a:lnSpc>
            </a:pPr>
            <a:r>
              <a:rPr lang="en-US" sz="1125">
                <a:solidFill>
                  <a:srgbClr val="0B1F1A"/>
                </a:solidFill>
                <a:latin typeface="JetBrains Mono"/>
                <a:ea typeface="JetBrains Mono"/>
              </a:rPr>
              <a:t>"bangalore"</a:t>
            </a:r>
            <a:endParaRPr/>
          </a:p>
        </p:txBody>
      </p:sp>
      <p:sp>
        <p:nvSpPr>
          <p:cNvPr id="295" name="" descr="{&quot;isTemplate&quot;:true,&quot;type&quot;:&quot;text&quot;}"/>
          <p:cNvSpPr txBox="1"/>
          <p:nvPr/>
        </p:nvSpPr>
        <p:spPr>
          <a:xfrm rot="0" flipH="0" flipV="0">
            <a:off x="4095750" y="2171700"/>
            <a:ext cx="1905000" cy="171450"/>
          </a:xfrm>
          <a:prstGeom prst="rect"/>
        </p:spPr>
        <p:txBody>
          <a:bodyPr wrap="none" lIns="0" tIns="0" rIns="0" bIns="0"/>
          <a:p>
            <a:pPr>
              <a:lnSpc>
                <a:spcPct val="100000"/>
              </a:lnSpc>
            </a:pPr>
            <a:r>
              <a:rPr lang="en-US" sz="1125">
                <a:solidFill>
                  <a:srgbClr val="0F6E56"/>
                </a:solidFill>
                <a:latin typeface="JetBrains Mono"/>
                <a:ea typeface="JetBrains Mono"/>
              </a:rPr>
              <a:t>slots.must_skills</a:t>
            </a:r>
            <a:endParaRPr/>
          </a:p>
        </p:txBody>
      </p:sp>
      <p:sp>
        <p:nvSpPr>
          <p:cNvPr id="296" name="" descr="{&quot;isTemplate&quot;:true,&quot;type&quot;:&quot;text&quot;}"/>
          <p:cNvSpPr txBox="1"/>
          <p:nvPr/>
        </p:nvSpPr>
        <p:spPr>
          <a:xfrm rot="0" flipH="0" flipV="0">
            <a:off x="6000750" y="2171700"/>
            <a:ext cx="5276850" cy="171450"/>
          </a:xfrm>
          <a:prstGeom prst="rect"/>
        </p:spPr>
        <p:txBody>
          <a:bodyPr wrap="none" lIns="0" tIns="0" rIns="0" bIns="0"/>
          <a:p>
            <a:pPr>
              <a:lnSpc>
                <a:spcPct val="100000"/>
              </a:lnSpc>
            </a:pPr>
            <a:r>
              <a:rPr lang="en-US" sz="1125">
                <a:solidFill>
                  <a:srgbClr val="0B1F1A"/>
                </a:solidFill>
                <a:latin typeface="JetBrains Mono"/>
                <a:ea typeface="JetBrains Mono"/>
              </a:rPr>
              <a:t>["python"]</a:t>
            </a:r>
            <a:endParaRPr/>
          </a:p>
        </p:txBody>
      </p:sp>
      <p:sp>
        <p:nvSpPr>
          <p:cNvPr id="297" name="" descr="{&quot;isTemplate&quot;:true,&quot;type&quot;:&quot;text&quot;}"/>
          <p:cNvSpPr txBox="1"/>
          <p:nvPr/>
        </p:nvSpPr>
        <p:spPr>
          <a:xfrm rot="0" flipH="0" flipV="0">
            <a:off x="4095750" y="2457450"/>
            <a:ext cx="1905000" cy="171450"/>
          </a:xfrm>
          <a:prstGeom prst="rect"/>
        </p:spPr>
        <p:txBody>
          <a:bodyPr wrap="none" lIns="0" tIns="0" rIns="0" bIns="0"/>
          <a:p>
            <a:pPr>
              <a:lnSpc>
                <a:spcPct val="100000"/>
              </a:lnSpc>
            </a:pPr>
            <a:r>
              <a:rPr lang="en-US" sz="1125">
                <a:solidFill>
                  <a:srgbClr val="0F6E56"/>
                </a:solidFill>
                <a:latin typeface="JetBrains Mono"/>
                <a:ea typeface="JetBrains Mono"/>
              </a:rPr>
              <a:t>slots.min_years_exp</a:t>
            </a:r>
            <a:endParaRPr/>
          </a:p>
        </p:txBody>
      </p:sp>
      <p:sp>
        <p:nvSpPr>
          <p:cNvPr id="298" name="" descr="{&quot;isTemplate&quot;:true,&quot;type&quot;:&quot;text&quot;}"/>
          <p:cNvSpPr txBox="1"/>
          <p:nvPr/>
        </p:nvSpPr>
        <p:spPr>
          <a:xfrm rot="0" flipH="0" flipV="0">
            <a:off x="6000750" y="2457450"/>
            <a:ext cx="5276850" cy="171450"/>
          </a:xfrm>
          <a:prstGeom prst="rect"/>
        </p:spPr>
        <p:txBody>
          <a:bodyPr wrap="none" lIns="0" tIns="0" rIns="0" bIns="0"/>
          <a:p>
            <a:pPr>
              <a:lnSpc>
                <a:spcPct val="100000"/>
              </a:lnSpc>
            </a:pPr>
            <a:r>
              <a:rPr lang="en-US" sz="1125">
                <a:solidFill>
                  <a:srgbClr val="0B1F1A"/>
                </a:solidFill>
                <a:latin typeface="JetBrains Mono"/>
                <a:ea typeface="JetBrains Mono"/>
              </a:rPr>
              <a:t>5</a:t>
            </a:r>
            <a:endParaRPr/>
          </a:p>
        </p:txBody>
      </p:sp>
      <p:sp>
        <p:nvSpPr>
          <p:cNvPr id="299" name="" descr="{&quot;isTemplate&quot;:true,&quot;type&quot;:&quot;text&quot;}"/>
          <p:cNvSpPr txBox="1"/>
          <p:nvPr/>
        </p:nvSpPr>
        <p:spPr>
          <a:xfrm rot="0" flipH="0" flipV="0">
            <a:off x="4095750" y="2752725"/>
            <a:ext cx="1905000" cy="171450"/>
          </a:xfrm>
          <a:prstGeom prst="rect"/>
        </p:spPr>
        <p:txBody>
          <a:bodyPr wrap="none" lIns="0" tIns="0" rIns="0" bIns="0"/>
          <a:p>
            <a:pPr>
              <a:lnSpc>
                <a:spcPct val="100000"/>
              </a:lnSpc>
            </a:pPr>
            <a:r>
              <a:rPr lang="en-US" sz="1125">
                <a:solidFill>
                  <a:srgbClr val="0F6E56"/>
                </a:solidFill>
                <a:latin typeface="JetBrains Mono"/>
                <a:ea typeface="JetBrains Mono"/>
              </a:rPr>
              <a:t>changed_fields</a:t>
            </a:r>
            <a:endParaRPr/>
          </a:p>
        </p:txBody>
      </p:sp>
      <p:sp>
        <p:nvSpPr>
          <p:cNvPr id="300" name="" descr="{&quot;isTemplate&quot;:true,&quot;type&quot;:&quot;text&quot;}"/>
          <p:cNvSpPr txBox="1"/>
          <p:nvPr/>
        </p:nvSpPr>
        <p:spPr>
          <a:xfrm rot="0" flipH="0" flipV="0">
            <a:off x="6000750" y="2752725"/>
            <a:ext cx="5276850" cy="171450"/>
          </a:xfrm>
          <a:prstGeom prst="rect"/>
        </p:spPr>
        <p:txBody>
          <a:bodyPr wrap="none" lIns="0" tIns="0" rIns="0" bIns="0"/>
          <a:p>
            <a:pPr>
              <a:lnSpc>
                <a:spcPct val="100000"/>
              </a:lnSpc>
            </a:pPr>
            <a:r>
              <a:rPr lang="en-US" sz="1125" b="1">
                <a:solidFill>
                  <a:srgbClr val="97C459"/>
                </a:solidFill>
                <a:latin typeface="JetBrains Mono"/>
                <a:ea typeface="JetBrains Mono"/>
              </a:rPr>
              <a:t>["city"]</a:t>
            </a:r>
            <a:endParaRPr/>
          </a:p>
        </p:txBody>
      </p:sp>
      <p:sp>
        <p:nvSpPr>
          <p:cNvPr id="301" name="" descr="{&quot;isTemplate&quot;:true,&quot;type&quot;:&quot;text&quot;}"/>
          <p:cNvSpPr txBox="1"/>
          <p:nvPr/>
        </p:nvSpPr>
        <p:spPr>
          <a:xfrm rot="0" flipH="0" flipV="0">
            <a:off x="4095750" y="3048000"/>
            <a:ext cx="1905000" cy="304800"/>
          </a:xfrm>
          <a:prstGeom prst="rect"/>
        </p:spPr>
        <p:txBody>
          <a:bodyPr wrap="none" lIns="0" tIns="0" rIns="0" bIns="0"/>
          <a:p>
            <a:pPr>
              <a:lnSpc>
                <a:spcPct val="100000"/>
              </a:lnSpc>
            </a:pPr>
            <a:r>
              <a:rPr lang="en-US" sz="1125">
                <a:solidFill>
                  <a:srgbClr val="0F6E56"/>
                </a:solidFill>
                <a:latin typeface="JetBrains Mono"/>
                <a:ea typeface="JetBrains Mono"/>
              </a:rPr>
              <a:t>unset_slots</a:t>
            </a:r>
            <a:endParaRPr/>
          </a:p>
        </p:txBody>
      </p:sp>
      <p:sp>
        <p:nvSpPr>
          <p:cNvPr id="302" name="" descr="{&quot;isTemplate&quot;:true,&quot;type&quot;:&quot;text&quot;}"/>
          <p:cNvSpPr txBox="1"/>
          <p:nvPr/>
        </p:nvSpPr>
        <p:spPr>
          <a:xfrm rot="0" flipH="0" flipV="0">
            <a:off x="6000750" y="3048000"/>
            <a:ext cx="5276850" cy="304800"/>
          </a:xfrm>
          <a:prstGeom prst="rect"/>
        </p:spPr>
        <p:txBody>
          <a:bodyPr wrap="square" lIns="0" tIns="0" rIns="0" bIns="0">
            <a:normAutofit/>
          </a:bodyPr>
          <a:p>
            <a:pPr>
              <a:lnSpc>
                <a:spcPct val="100000"/>
              </a:lnSpc>
            </a:pPr>
            <a:r>
              <a:rPr lang="en-US" sz="975">
                <a:solidFill>
                  <a:srgbClr val="6B7280"/>
                </a:solidFill>
                <a:latin typeface="JetBrains Mono"/>
                <a:ea typeface="JetBrains Mono"/>
              </a:rPr>
              <a:t>7 named: country · max_years_exp · should_skills · should_themes · should_roles · should_locations · excluded_skills</a:t>
            </a:r>
            <a:endParaRPr/>
          </a:p>
        </p:txBody>
      </p:sp>
      <p:sp>
        <p:nvSpPr>
          <p:cNvPr id="303" name=""/>
          <p:cNvSpPr/>
          <p:nvPr/>
        </p:nvSpPr>
        <p:spPr>
          <a:xfrm rot="0" flipH="0" flipV="0">
            <a:off x="3867150" y="3752850"/>
            <a:ext cx="3705225" cy="2724150"/>
          </a:xfrm>
          <a:custGeom>
            <a:pathLst>
              <a:path w="389" h="286">
                <a:moveTo>
                  <a:pt x="0" y="0"/>
                </a:moveTo>
                <a:lnTo>
                  <a:pt x="389" y="0"/>
                </a:lnTo>
                <a:lnTo>
                  <a:pt x="389" y="5"/>
                </a:lnTo>
                <a:lnTo>
                  <a:pt x="0" y="5"/>
                </a:lnTo>
                <a:close/>
              </a:path>
            </a:pathLst>
          </a:custGeom>
          <a:solidFill>
            <a:srgbClr val="0F6E56"/>
          </a:solidFill>
          <a:ln/>
        </p:spPr>
        <p:txBody>
          <a:bodyPr/>
          <a:p/>
        </p:txBody>
      </p:sp>
      <p:sp>
        <p:nvSpPr>
          <p:cNvPr id="304" name="" descr="{&quot;isTemplate&quot;:true,&quot;type&quot;:&quot;text&quot;}"/>
          <p:cNvSpPr txBox="1"/>
          <p:nvPr/>
        </p:nvSpPr>
        <p:spPr>
          <a:xfrm rot="0" flipH="0" flipV="0">
            <a:off x="4095750" y="4010025"/>
            <a:ext cx="3248025" cy="333375"/>
          </a:xfrm>
          <a:prstGeom prst="rect"/>
        </p:spPr>
        <p:txBody>
          <a:bodyPr wrap="none" lIns="0" tIns="0" rIns="0" bIns="0"/>
          <a:p>
            <a:pPr>
              <a:lnSpc>
                <a:spcPct val="135000"/>
              </a:lnSpc>
            </a:pPr>
            <a:r>
              <a:rPr lang="en-US" sz="1575" b="1">
                <a:solidFill>
                  <a:srgbClr val="04342C"/>
                </a:solidFill>
                <a:latin typeface="Inter"/>
                <a:ea typeface="Inter"/>
              </a:rPr>
              <a:t>Slots are total, not sparse</a:t>
            </a:r>
            <a:endParaRPr/>
          </a:p>
        </p:txBody>
      </p:sp>
      <p:sp>
        <p:nvSpPr>
          <p:cNvPr id="305" name="" descr="{&quot;isTemplate&quot;:true,&quot;type&quot;:&quot;text&quot;}"/>
          <p:cNvSpPr txBox="1"/>
          <p:nvPr/>
        </p:nvSpPr>
        <p:spPr>
          <a:xfrm rot="0" flipH="0" flipV="0">
            <a:off x="4095750" y="4457700"/>
            <a:ext cx="3248025" cy="1762125"/>
          </a:xfrm>
          <a:prstGeom prst="rect"/>
        </p:spPr>
        <p:txBody>
          <a:bodyPr wrap="square" lIns="0" tIns="0" rIns="0" bIns="0">
            <a:normAutofit/>
          </a:bodyPr>
          <a:p>
            <a:pPr>
              <a:lnSpc>
                <a:spcPct val="155000"/>
              </a:lnSpc>
            </a:pPr>
            <a:r>
              <a:rPr lang="en-US" sz="1238">
                <a:solidFill>
                  <a:srgbClr val="0B1F1A"/>
                </a:solidFill>
                <a:latin typeface="Inter"/>
                <a:ea typeface="Inter"/>
              </a:rPr>
              <a:t>A snapshot names every constraint slot, including the empty ones. A clarification decision has to tell “the user never mentioned a country” apart from “we dropped the country they gave us” — and an absent field cannot express that difference.</a:t>
            </a:r>
            <a:endParaRPr/>
          </a:p>
        </p:txBody>
      </p:sp>
      <p:sp>
        <p:nvSpPr>
          <p:cNvPr id="306" name=""/>
          <p:cNvSpPr/>
          <p:nvPr/>
        </p:nvSpPr>
        <p:spPr>
          <a:xfrm rot="0" flipH="0" flipV="0">
            <a:off x="7800975" y="3752850"/>
            <a:ext cx="3705225" cy="3048000"/>
          </a:xfrm>
          <a:custGeom>
            <a:pathLst>
              <a:path w="389" h="320">
                <a:moveTo>
                  <a:pt x="0" y="0"/>
                </a:moveTo>
                <a:lnTo>
                  <a:pt x="389" y="0"/>
                </a:lnTo>
                <a:lnTo>
                  <a:pt x="389" y="5"/>
                </a:lnTo>
                <a:lnTo>
                  <a:pt x="0" y="5"/>
                </a:lnTo>
                <a:close/>
              </a:path>
            </a:pathLst>
          </a:custGeom>
          <a:solidFill>
            <a:srgbClr val="0F6E56"/>
          </a:solidFill>
          <a:ln/>
        </p:spPr>
        <p:txBody>
          <a:bodyPr/>
          <a:p/>
        </p:txBody>
      </p:sp>
      <p:sp>
        <p:nvSpPr>
          <p:cNvPr id="307" name="" descr="{&quot;isTemplate&quot;:true,&quot;type&quot;:&quot;text&quot;}"/>
          <p:cNvSpPr txBox="1"/>
          <p:nvPr/>
        </p:nvSpPr>
        <p:spPr>
          <a:xfrm rot="0" flipH="0" flipV="0">
            <a:off x="8029575" y="4010025"/>
            <a:ext cx="3248025" cy="657225"/>
          </a:xfrm>
          <a:prstGeom prst="rect"/>
        </p:spPr>
        <p:txBody>
          <a:bodyPr wrap="square" lIns="0" tIns="0" rIns="0" bIns="0">
            <a:normAutofit/>
          </a:bodyPr>
          <a:p>
            <a:pPr>
              <a:lnSpc>
                <a:spcPct val="135000"/>
              </a:lnSpc>
            </a:pPr>
            <a:r>
              <a:rPr lang="en-US" sz="1575" b="1">
                <a:solidFill>
                  <a:srgbClr val="04342C"/>
                </a:solidFill>
                <a:latin typeface="Inter"/>
                <a:ea typeface="Inter"/>
              </a:rPr>
              <a:t>The panel shows the diff, not the state</a:t>
            </a:r>
            <a:endParaRPr/>
          </a:p>
        </p:txBody>
      </p:sp>
      <p:sp>
        <p:nvSpPr>
          <p:cNvPr id="308" name="" descr="{&quot;isTemplate&quot;:true,&quot;type&quot;:&quot;text&quot;}"/>
          <p:cNvSpPr txBox="1"/>
          <p:nvPr/>
        </p:nvSpPr>
        <p:spPr>
          <a:xfrm rot="0" flipH="0" flipV="0">
            <a:off x="8029575" y="4781550"/>
            <a:ext cx="3248025" cy="1762125"/>
          </a:xfrm>
          <a:prstGeom prst="rect"/>
        </p:spPr>
        <p:txBody>
          <a:bodyPr wrap="square" lIns="0" tIns="0" rIns="0" bIns="0">
            <a:normAutofit/>
          </a:bodyPr>
          <a:p>
            <a:pPr>
              <a:lnSpc>
                <a:spcPct val="155000"/>
              </a:lnSpc>
            </a:pPr>
            <a:r>
              <a:rPr lang="en-US" sz="1238">
                <a:solidFill>
                  <a:srgbClr val="0B1F1A"/>
                </a:solidFill>
                <a:latin typeface="Inter"/>
                <a:ea typeface="Inter"/>
              </a:rPr>
              <a:t>Every event carries a snapshot, so rendering all of them would bury the conversation. The panel draws one only when </a:t>
            </a:r>
            <a:r>
              <a:rPr lang="en-US" sz="1125">
                <a:solidFill>
                  <a:srgbClr val="0F6E56"/>
                </a:solidFill>
                <a:latin typeface="Inter"/>
                <a:ea typeface="Inter"/>
              </a:rPr>
              <a:t>changed_fields</a:t>
            </a:r>
            <a:r>
              <a:rPr lang="en-US" sz="1238">
                <a:solidFill>
                  <a:srgbClr val="0B1F1A"/>
                </a:solidFill>
                <a:latin typeface="Inter"/>
                <a:ea typeface="Inter"/>
              </a:rPr>
              <a:t> is non-empty or the phase is final — which is why an interruption reads as a visible event rather than noise.</a:t>
            </a:r>
            <a:endParaRPr/>
          </a:p>
        </p:txBody>
      </p:sp>
      <p:sp>
        <p:nvSpPr>
          <p:cNvPr id="309"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310"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07 / 12</a:t>
            </a:r>
            <a:endParaRPr/>
          </a:p>
        </p:txBody>
      </p:sp>
    </p:spTree>
  </p:cSld>
</p:sld>
</file>

<file path=ppt/slides/slide8.xml><?xml version="1.0" encoding="utf-8"?>
<p:sld xmlns:a="http://schemas.openxmlformats.org/drawingml/2006/main" xmlns:p="http://schemas.openxmlformats.org/presentationml/2006/main">
  <p:cSld>
    <p:spTree>
      <p:nvGrpSpPr>
        <p:cNvPr id="311"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The write that can be proved&#10;            &lt;/Text&gt;&#10;        &lt;/Box&gt;&#10;&#10;        &lt;Box style={{ height: 540, flexDirection: 'row', gap: 40 }}&gt;&#10;            &lt;Box style={{&#10;                width: 658,&#10;                background: 'linear-gradient(160deg, #04342C 0%, #0F6E56 100%)',&#10;                padding: '28px 30px',&#10;                flexDirection: 'column',&#10;            }}&gt;&#10;                &lt;Text style={{ fontFamily: 'JetBrains Mono', fontSize: 13, color: '#97C459', letterSpacing: 1.6 }}&gt;&#10;                    EFFECT LOG&#10;                &lt;/Text&gt;&#10;&#10;                &lt;Box style={{ flexDirection: 'row', gap: 16, paddingTop: 24, paddingBottom: 12, borderBottom: '1px solid rgba(225,245,238,0.20)' }}&gt;&#10;                    &lt;Text style={{ fontFamily: 'JetBrains Mono', fontSize: 13, color: 'rgba(225,245,238,0.55)', width: 34 }}&gt;[0]&lt;/Text&gt;&#10;                    &lt;Box style={{ flex: 1 }}&gt;&#10;                        &lt;Text style={{ fontFamily: 'JetBrains Mono', fontSize: 16, color: '#FFFFFF' }}&gt;add_to_shortlist&lt;/Text&gt;&#10;                        &lt;Text style={{ fontFamily: 'JetBrains Mono', fontSize: 13, color: 'rgba(225,245,238,0.65)', marginTop: 4 }}&gt;&#10;                            candidate = cand-any-1&#10;                        &lt;/Text&gt;&#10;                    &lt;/Box&gt;&#10;                    &lt;Text style={{ fontFamily: 'JetBrains Mono', fontSize: 15, color: '#97C459', fontWeight: 'bold' }}&gt;applied&lt;/Text&gt;&#10;                &lt;/Box&gt;&#10;&#10;                &lt;Box style={{ flexDirection: 'row', gap: 16, paddingTop: 14, paddingBottom: 12, borderBottom: '1px solid rgba(225,245,238,0.20)' }}&gt;&#10;                    &lt;Text style={{ fontFamily: 'JetBrains Mono', fontSize: 13, color: 'rgba(225,245,238,0.55)', width: 34 }}&gt;[1]&lt;/Text&gt;&#10;                    &lt;Box style={{ flex: 1 }}&gt;&#10;                        &lt;Text style={{ fontFamily: 'JetBrains Mono', fontSize: 16, color: '#FFFFFF' }}&gt;add_to_shortlist&lt;/Text&gt;&#10;                        &lt;Text style={{ fontFamily: 'JetBrains Mono', fontSize: 13, color: 'rgba(225,245,238,0.65)', marginTop: 4 }}&gt;&#10;                            candidate = cand-any-1 · same idempotency key&#10;                        &lt;/Text&gt;&#10;                    &lt;/Box&gt;&#10;                    &lt;Text style={{ fontFamily: 'JetBrains Mono', fontSize: 15, color: 'rgba(225,245,238,0.85)' }}&gt;replayed&lt;/Text&gt;&#10;                &lt;/Box&gt;&#10;&#10;                &lt;Box style={{ paddingTop: 22, flexDirection: 'column', gap: 10 }}&gt;&#10;                    &lt;Box style={{ flexDirection: 'row' }}&gt;&#10;                        &lt;Text style={{ fontFamily: 'JetBrains Mono', fontSize: 14, color: 'rgba(225,245,238,0.55)', width: 230 }}&gt;shortlist after both calls&lt;/Text&gt;&#10;                        &lt;Text style={{ fontFamily: 'JetBrains Mono', fontSize: 14, color: '#FFFFFF', flex: 1 }}&gt;[&quot;cand-any-1&quot;]&lt;/Text&gt;&#10;                    &lt;/Box&gt;&#10;                    &lt;Box style={{ flexDirection: 'row' }}&gt;&#10;                        &lt;Text style={{ fontFamily: 'JetBrains Mono', fontSize: 14, color: 'rgba(225,245,238,0.55)', width: 230 }}&gt;duplicate calls reported&lt;/Text&gt;&#10;                        &lt;Text style={{ fontFamily: 'JetBrains Mono', fontSize: 14, color: '#FFFFFF', flex: 1 }}&gt;1&lt;/Text&gt;&#10;                    &lt;/Box&gt;&#10;                    &lt;Box style={{ flexDirection: 'row' }}&gt;&#10;                        &lt;Text style={{ fontFamily: 'JetBrains Mono', fontSize: 14, color: 'rgba(225,245,238,0.55)', width: 230 }}&gt;side effects landed&lt;/Text&gt;&#10;                        &lt;Text style={{ fontFamily: 'JetBrains Mono', fontSize: 14, color: '#97C459', fontWeight: 'bold', flex: 1 }}&gt;1&lt;/Text&gt;&#10;                    &lt;/Box&gt;&#10;                &lt;/Box&gt;&#10;&#10;                &lt;Box style={{ marginTop: 'auto' }}&gt;&#10;                    &lt;Box style={{ height: 1, background: 'rgba(225,245,238,0.28)', marginBottom: 14 }} /&gt;&#10;                    &lt;Text style={{ fontFamily: 'JetBrains Mono', fontSize: 13, color: 'rgba(225,245,238,0.72)', lineHeight: 1.6 }}&gt;&#10;                        outcome ∈ {'{'} applied · replayed · cancelled · failed {'}'}&#10;                    &lt;/Text&gt;&#10;                &lt;/Box&gt;&#10;            &lt;/Box&gt;&#10;&#10;            &lt;Box style={{ width: 438, flexDirection: 'column' }}&gt;&#10;                &lt;Text style={{ fontFamily: 'JetBrains Mono', fontSize: 13, color: '#0F6E56', letterSpacing: 1.6 }}&gt;&#10;                    IDEMPOTENT WRITES&#10;                &lt;/Text&gt;&#10;                &lt;Text style={{ fontFamily: 'Inter', fontSize: 23, fontWeight: 'bold', color: '#04342C', lineHeight: 1.4, marginTop: 14 }}&gt;&#10;                    Exactly one side effect, provable from the log&#10;                &lt;/Text&gt;&#10;                &lt;Text style={{ fontFamily: 'Inter', fontSize: 17, lineHeight: 1.55, color: '#0B1F1A', marginTop: 12 }}&gt;&#10;                    &lt;span style={{ fontFamily: 'JetBrains Mono', fontSize: 15, color: '#0F6E56' }}&gt;add_to_shortlist&lt;/span&gt; is the only tool&#10;                    that changes stored state. It takes an explicit or content-derived idempotency key, and writes sharing a scope&#10;                    cancel an older in-flight one — surfaced as a &lt;span style={{ fontFamily: 'JetBrains Mono', fontSize: 15, color: '#0F6E56' }}&gt;CancelledError&lt;/span&gt;,&#10;                    never as a dict.&#10;                &lt;/Text&gt;&#10;&#10;                &lt;Box style={{&#10;                    marginTop: 'auto',&#10;                    background: '#E1F5EE',&#10;                    borderLeft: '5px solid #97C459',&#10;                    padding: '18px 20px',&#10;                }}&gt;&#10;                    &lt;Text style={{ fontFamily: 'JetBrains Mono', fontSize: 13, color: '#0F6E56', letterSpacing: 1.4 }}&gt;&#10;                        THE BUG WE FOUND&#10;                    &lt;/Text&gt;&#10;                    &lt;Text style={{ fontFamily: 'Inter', fontSize: 16, lineHeight: 1.55, color: '#04342C', marginTop: 10 }}&gt;&#10;                        The audit log was written on the replay, cancelled and failed paths — but not on success. It showed the&#10;                        retry and not the effect it retried, so “exactly one side effect” was unprovable from the very structure&#10;                        meant to prove it. The behaviour was right; the evidence was missing.&#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8 / 12&#10;            &lt;/Text&gt;&#10;        &lt;/Box&gt;&#10;    &lt;/Box&gt;&#10;&lt;/Slide&gt;&#10;"/>
        <p:cNvGrpSpPr/>
        <p:nvPr/>
      </p:nvGrpSpPr>
      <p:grpSpPr>
        <a:xfrm>
          <a:off x="0" y="0"/>
          <a:ext cx="0" cy="0"/>
          <a:chOff x="0" y="0"/>
          <a:chExt cx="0" cy="0"/>
        </a:xfrm>
      </p:grpSpPr>
      <p:sp>
        <p:nvSpPr>
          <p:cNvPr id="312" name=""/>
          <p:cNvSpPr/>
          <p:nvPr/>
        </p:nvSpPr>
        <p:spPr>
          <a:xfrm rot="0" flipH="0" flipV="0">
            <a:off x="0" y="0"/>
            <a:ext cx="12192000" cy="6858000"/>
          </a:xfrm>
          <a:prstGeom prst="rect">
            <a:avLst/>
          </a:prstGeom>
          <a:solidFill>
            <a:srgbClr val="FFFFFF"/>
          </a:solidFill>
          <a:ln/>
        </p:spPr>
        <p:txBody>
          <a:bodyPr/>
          <a:p/>
        </p:txBody>
      </p:sp>
      <p:sp>
        <p:nvSpPr>
          <p:cNvPr id="313" name=""/>
          <p:cNvSpPr/>
          <p:nvPr/>
        </p:nvSpPr>
        <p:spPr>
          <a:xfrm rot="0" flipH="0" flipV="0">
            <a:off x="685800" y="409575"/>
            <a:ext cx="533400" cy="57150"/>
          </a:xfrm>
          <a:prstGeom prst="rect">
            <a:avLst/>
          </a:prstGeom>
          <a:solidFill>
            <a:srgbClr val="97C459"/>
          </a:solidFill>
          <a:ln/>
        </p:spPr>
        <p:txBody>
          <a:bodyPr/>
          <a:p/>
        </p:txBody>
      </p:sp>
      <p:sp>
        <p:nvSpPr>
          <p:cNvPr id="314"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The write that can be proved</a:t>
            </a:r>
            <a:endParaRPr/>
          </a:p>
        </p:txBody>
      </p:sp>
      <p:sp>
        <p:nvSpPr>
          <p:cNvPr id="315" name=""/>
          <p:cNvSpPr/>
          <p:nvPr/>
        </p:nvSpPr>
        <p:spPr>
          <a:xfrm rot="0" flipH="0" flipV="0">
            <a:off x="685800" y="1143000"/>
            <a:ext cx="6267450" cy="5143500"/>
          </a:xfrm>
          <a:prstGeom prst="rect">
            <a:avLst/>
          </a:prstGeom>
          <a:gradFill>
            <a:gsLst>
              <a:gs pos="0">
                <a:srgbClr val="04342C"/>
              </a:gs>
              <a:gs pos="100000">
                <a:srgbClr val="0F6E56"/>
              </a:gs>
            </a:gsLst>
            <a:lin ang="4200000" scaled="1"/>
          </a:gradFill>
          <a:ln/>
        </p:spPr>
        <p:txBody>
          <a:bodyPr/>
          <a:p/>
        </p:txBody>
      </p:sp>
      <p:sp>
        <p:nvSpPr>
          <p:cNvPr id="316" name="" descr="{&quot;isTemplate&quot;:true,&quot;type&quot;:&quot;text&quot;}"/>
          <p:cNvSpPr txBox="1"/>
          <p:nvPr/>
        </p:nvSpPr>
        <p:spPr>
          <a:xfrm rot="0" flipH="0" flipV="0">
            <a:off x="971550" y="1409700"/>
            <a:ext cx="5695950" cy="152400"/>
          </a:xfrm>
          <a:prstGeom prst="rect"/>
        </p:spPr>
        <p:txBody>
          <a:bodyPr wrap="none" lIns="0" tIns="0" rIns="0" bIns="0"/>
          <a:p>
            <a:pPr>
              <a:lnSpc>
                <a:spcPct val="100000"/>
              </a:lnSpc>
            </a:pPr>
            <a:r>
              <a:rPr lang="en-US" sz="975" spc="120">
                <a:solidFill>
                  <a:srgbClr val="97C459"/>
                </a:solidFill>
                <a:latin typeface="JetBrains Mono"/>
                <a:ea typeface="JetBrains Mono"/>
              </a:rPr>
              <a:t>EFFECT LOG</a:t>
            </a:r>
            <a:endParaRPr/>
          </a:p>
        </p:txBody>
      </p:sp>
      <p:sp>
        <p:nvSpPr>
          <p:cNvPr id="317" name=""/>
          <p:cNvSpPr/>
          <p:nvPr/>
        </p:nvSpPr>
        <p:spPr>
          <a:xfrm rot="0" flipH="0" flipV="0">
            <a:off x="971550" y="1562100"/>
            <a:ext cx="5695950" cy="742950"/>
          </a:xfrm>
          <a:custGeom>
            <a:pathLst>
              <a:path w="598" h="78">
                <a:moveTo>
                  <a:pt x="0" y="77"/>
                </a:moveTo>
                <a:lnTo>
                  <a:pt x="598" y="77"/>
                </a:lnTo>
                <a:lnTo>
                  <a:pt x="598" y="78"/>
                </a:lnTo>
                <a:lnTo>
                  <a:pt x="0" y="78"/>
                </a:lnTo>
                <a:close/>
              </a:path>
            </a:pathLst>
          </a:custGeom>
          <a:solidFill>
            <a:srgbClr val="E1F5EE">
              <a:alpha val="20000"/>
            </a:srgbClr>
          </a:solidFill>
          <a:ln/>
        </p:spPr>
        <p:txBody>
          <a:bodyPr/>
          <a:p/>
        </p:txBody>
      </p:sp>
      <p:sp>
        <p:nvSpPr>
          <p:cNvPr id="318" name="" descr="{&quot;isTemplate&quot;:true,&quot;type&quot;:&quot;text&quot;}"/>
          <p:cNvSpPr txBox="1"/>
          <p:nvPr/>
        </p:nvSpPr>
        <p:spPr>
          <a:xfrm rot="0" flipH="0" flipV="0">
            <a:off x="971550" y="1790700"/>
            <a:ext cx="323850" cy="381000"/>
          </a:xfrm>
          <a:prstGeom prst="rect"/>
        </p:spPr>
        <p:txBody>
          <a:bodyPr wrap="none" lIns="0" tIns="0" rIns="0" bIns="0"/>
          <a:p>
            <a:pPr>
              <a:lnSpc>
                <a:spcPct val="100000"/>
              </a:lnSpc>
            </a:pPr>
            <a:r>
              <a:rPr lang="en-US" sz="975">
                <a:solidFill>
                  <a:srgbClr val="E1F5EE">
                    <a:alpha val="55000"/>
                  </a:srgbClr>
                </a:solidFill>
                <a:latin typeface="JetBrains Mono"/>
                <a:ea typeface="JetBrains Mono"/>
              </a:rPr>
              <a:t>[0]</a:t>
            </a:r>
            <a:endParaRPr/>
          </a:p>
        </p:txBody>
      </p:sp>
      <p:sp>
        <p:nvSpPr>
          <p:cNvPr id="319" name="" descr="{&quot;isTemplate&quot;:true,&quot;type&quot;:&quot;text&quot;}"/>
          <p:cNvSpPr txBox="1"/>
          <p:nvPr/>
        </p:nvSpPr>
        <p:spPr>
          <a:xfrm rot="0" flipH="0" flipV="0">
            <a:off x="1447800" y="1790700"/>
            <a:ext cx="4562475" cy="190500"/>
          </a:xfrm>
          <a:prstGeom prst="rect"/>
        </p:spPr>
        <p:txBody>
          <a:bodyPr wrap="none" lIns="0" tIns="0" rIns="0" bIns="0"/>
          <a:p>
            <a:pPr>
              <a:lnSpc>
                <a:spcPct val="100000"/>
              </a:lnSpc>
            </a:pPr>
            <a:r>
              <a:rPr lang="en-US" sz="1200">
                <a:solidFill>
                  <a:srgbClr val="FFFFFF"/>
                </a:solidFill>
                <a:latin typeface="JetBrains Mono"/>
                <a:ea typeface="JetBrains Mono"/>
              </a:rPr>
              <a:t>add_to_shortlist</a:t>
            </a:r>
            <a:endParaRPr/>
          </a:p>
        </p:txBody>
      </p:sp>
      <p:sp>
        <p:nvSpPr>
          <p:cNvPr id="320" name="" descr="{&quot;isTemplate&quot;:true,&quot;type&quot;:&quot;text&quot;}"/>
          <p:cNvSpPr txBox="1"/>
          <p:nvPr/>
        </p:nvSpPr>
        <p:spPr>
          <a:xfrm rot="0" flipH="0" flipV="0">
            <a:off x="1447800" y="2019300"/>
            <a:ext cx="4562475" cy="152400"/>
          </a:xfrm>
          <a:prstGeom prst="rect"/>
        </p:spPr>
        <p:txBody>
          <a:bodyPr wrap="none" lIns="0" tIns="0" rIns="0" bIns="0"/>
          <a:p>
            <a:pPr>
              <a:lnSpc>
                <a:spcPct val="100000"/>
              </a:lnSpc>
            </a:pPr>
            <a:r>
              <a:rPr lang="en-US" sz="975">
                <a:solidFill>
                  <a:srgbClr val="E1F5EE">
                    <a:alpha val="65000"/>
                  </a:srgbClr>
                </a:solidFill>
                <a:latin typeface="JetBrains Mono"/>
                <a:ea typeface="JetBrains Mono"/>
              </a:rPr>
              <a:t>candidate = cand-any-1</a:t>
            </a:r>
            <a:endParaRPr/>
          </a:p>
        </p:txBody>
      </p:sp>
      <p:sp>
        <p:nvSpPr>
          <p:cNvPr id="321" name="" descr="{&quot;isTemplate&quot;:true,&quot;type&quot;:&quot;text&quot;}"/>
          <p:cNvSpPr txBox="1"/>
          <p:nvPr/>
        </p:nvSpPr>
        <p:spPr>
          <a:xfrm rot="0" flipH="0" flipV="0">
            <a:off x="6162675" y="1790700"/>
            <a:ext cx="504825" cy="381000"/>
          </a:xfrm>
          <a:prstGeom prst="rect"/>
        </p:spPr>
        <p:txBody>
          <a:bodyPr wrap="none" lIns="0" tIns="0" rIns="0" bIns="0"/>
          <a:p>
            <a:pPr>
              <a:lnSpc>
                <a:spcPct val="100000"/>
              </a:lnSpc>
            </a:pPr>
            <a:r>
              <a:rPr lang="en-US" sz="1125" b="1">
                <a:solidFill>
                  <a:srgbClr val="97C459"/>
                </a:solidFill>
                <a:latin typeface="JetBrains Mono"/>
                <a:ea typeface="JetBrains Mono"/>
              </a:rPr>
              <a:t>applied</a:t>
            </a:r>
            <a:endParaRPr/>
          </a:p>
        </p:txBody>
      </p:sp>
      <p:sp>
        <p:nvSpPr>
          <p:cNvPr id="322" name=""/>
          <p:cNvSpPr/>
          <p:nvPr/>
        </p:nvSpPr>
        <p:spPr>
          <a:xfrm rot="0" flipH="0" flipV="0">
            <a:off x="971550" y="2295525"/>
            <a:ext cx="5695950" cy="647700"/>
          </a:xfrm>
          <a:custGeom>
            <a:pathLst>
              <a:path w="598" h="68">
                <a:moveTo>
                  <a:pt x="0" y="67"/>
                </a:moveTo>
                <a:lnTo>
                  <a:pt x="598" y="67"/>
                </a:lnTo>
                <a:lnTo>
                  <a:pt x="598" y="68"/>
                </a:lnTo>
                <a:lnTo>
                  <a:pt x="0" y="68"/>
                </a:lnTo>
                <a:close/>
              </a:path>
            </a:pathLst>
          </a:custGeom>
          <a:solidFill>
            <a:srgbClr val="E1F5EE">
              <a:alpha val="20000"/>
            </a:srgbClr>
          </a:solidFill>
          <a:ln/>
        </p:spPr>
        <p:txBody>
          <a:bodyPr/>
          <a:p/>
        </p:txBody>
      </p:sp>
      <p:sp>
        <p:nvSpPr>
          <p:cNvPr id="323" name="" descr="{&quot;isTemplate&quot;:true,&quot;type&quot;:&quot;text&quot;}"/>
          <p:cNvSpPr txBox="1"/>
          <p:nvPr/>
        </p:nvSpPr>
        <p:spPr>
          <a:xfrm rot="0" flipH="0" flipV="0">
            <a:off x="971550" y="2428875"/>
            <a:ext cx="323850" cy="381000"/>
          </a:xfrm>
          <a:prstGeom prst="rect"/>
        </p:spPr>
        <p:txBody>
          <a:bodyPr wrap="none" lIns="0" tIns="0" rIns="0" bIns="0"/>
          <a:p>
            <a:pPr>
              <a:lnSpc>
                <a:spcPct val="100000"/>
              </a:lnSpc>
            </a:pPr>
            <a:r>
              <a:rPr lang="en-US" sz="975">
                <a:solidFill>
                  <a:srgbClr val="E1F5EE">
                    <a:alpha val="55000"/>
                  </a:srgbClr>
                </a:solidFill>
                <a:latin typeface="JetBrains Mono"/>
                <a:ea typeface="JetBrains Mono"/>
              </a:rPr>
              <a:t>[1]</a:t>
            </a:r>
            <a:endParaRPr/>
          </a:p>
        </p:txBody>
      </p:sp>
      <p:sp>
        <p:nvSpPr>
          <p:cNvPr id="324" name="" descr="{&quot;isTemplate&quot;:true,&quot;type&quot;:&quot;text&quot;}"/>
          <p:cNvSpPr txBox="1"/>
          <p:nvPr/>
        </p:nvSpPr>
        <p:spPr>
          <a:xfrm rot="0" flipH="0" flipV="0">
            <a:off x="1447800" y="2428875"/>
            <a:ext cx="4514850" cy="190500"/>
          </a:xfrm>
          <a:prstGeom prst="rect"/>
        </p:spPr>
        <p:txBody>
          <a:bodyPr wrap="none" lIns="0" tIns="0" rIns="0" bIns="0"/>
          <a:p>
            <a:pPr>
              <a:lnSpc>
                <a:spcPct val="100000"/>
              </a:lnSpc>
            </a:pPr>
            <a:r>
              <a:rPr lang="en-US" sz="1200">
                <a:solidFill>
                  <a:srgbClr val="FFFFFF"/>
                </a:solidFill>
                <a:latin typeface="JetBrains Mono"/>
                <a:ea typeface="JetBrains Mono"/>
              </a:rPr>
              <a:t>add_to_shortlist</a:t>
            </a:r>
            <a:endParaRPr/>
          </a:p>
        </p:txBody>
      </p:sp>
      <p:sp>
        <p:nvSpPr>
          <p:cNvPr id="325" name="" descr="{&quot;isTemplate&quot;:true,&quot;type&quot;:&quot;text&quot;}"/>
          <p:cNvSpPr txBox="1"/>
          <p:nvPr/>
        </p:nvSpPr>
        <p:spPr>
          <a:xfrm rot="0" flipH="0" flipV="0">
            <a:off x="1447800" y="2657475"/>
            <a:ext cx="4514850" cy="152400"/>
          </a:xfrm>
          <a:prstGeom prst="rect"/>
        </p:spPr>
        <p:txBody>
          <a:bodyPr wrap="none" lIns="0" tIns="0" rIns="0" bIns="0"/>
          <a:p>
            <a:pPr>
              <a:lnSpc>
                <a:spcPct val="100000"/>
              </a:lnSpc>
            </a:pPr>
            <a:r>
              <a:rPr lang="en-US" sz="975">
                <a:solidFill>
                  <a:srgbClr val="E1F5EE">
                    <a:alpha val="65000"/>
                  </a:srgbClr>
                </a:solidFill>
                <a:latin typeface="JetBrains Mono"/>
                <a:ea typeface="JetBrains Mono"/>
              </a:rPr>
              <a:t>candidate = cand-any-1 · same idempotency key</a:t>
            </a:r>
            <a:endParaRPr/>
          </a:p>
        </p:txBody>
      </p:sp>
      <p:sp>
        <p:nvSpPr>
          <p:cNvPr id="326" name="" descr="{&quot;isTemplate&quot;:true,&quot;type&quot;:&quot;text&quot;}"/>
          <p:cNvSpPr txBox="1"/>
          <p:nvPr/>
        </p:nvSpPr>
        <p:spPr>
          <a:xfrm rot="0" flipH="0" flipV="0">
            <a:off x="6115050" y="2428875"/>
            <a:ext cx="552450" cy="381000"/>
          </a:xfrm>
          <a:prstGeom prst="rect"/>
        </p:spPr>
        <p:txBody>
          <a:bodyPr wrap="none" lIns="0" tIns="0" rIns="0" bIns="0"/>
          <a:p>
            <a:pPr>
              <a:lnSpc>
                <a:spcPct val="100000"/>
              </a:lnSpc>
            </a:pPr>
            <a:r>
              <a:rPr lang="en-US" sz="1125">
                <a:solidFill>
                  <a:srgbClr val="E1F5EE">
                    <a:alpha val="85000"/>
                  </a:srgbClr>
                </a:solidFill>
                <a:latin typeface="JetBrains Mono"/>
                <a:ea typeface="JetBrains Mono"/>
              </a:rPr>
              <a:t>replayed</a:t>
            </a:r>
            <a:endParaRPr/>
          </a:p>
        </p:txBody>
      </p:sp>
      <p:sp>
        <p:nvSpPr>
          <p:cNvPr id="327" name="" descr="{&quot;isTemplate&quot;:true,&quot;type&quot;:&quot;text&quot;}"/>
          <p:cNvSpPr txBox="1"/>
          <p:nvPr/>
        </p:nvSpPr>
        <p:spPr>
          <a:xfrm rot="0" flipH="0" flipV="0">
            <a:off x="971550" y="3143250"/>
            <a:ext cx="2190750" cy="161925"/>
          </a:xfrm>
          <a:prstGeom prst="rect"/>
        </p:spPr>
        <p:txBody>
          <a:bodyPr wrap="none" lIns="0" tIns="0" rIns="0" bIns="0"/>
          <a:p>
            <a:pPr>
              <a:lnSpc>
                <a:spcPct val="100000"/>
              </a:lnSpc>
            </a:pPr>
            <a:r>
              <a:rPr lang="en-US" sz="1050">
                <a:solidFill>
                  <a:srgbClr val="E1F5EE">
                    <a:alpha val="55000"/>
                  </a:srgbClr>
                </a:solidFill>
                <a:latin typeface="JetBrains Mono"/>
                <a:ea typeface="JetBrains Mono"/>
              </a:rPr>
              <a:t>shortlist after both calls</a:t>
            </a:r>
            <a:endParaRPr/>
          </a:p>
        </p:txBody>
      </p:sp>
      <p:sp>
        <p:nvSpPr>
          <p:cNvPr id="328" name="" descr="{&quot;isTemplate&quot;:true,&quot;type&quot;:&quot;text&quot;}"/>
          <p:cNvSpPr txBox="1"/>
          <p:nvPr/>
        </p:nvSpPr>
        <p:spPr>
          <a:xfrm rot="0" flipH="0" flipV="0">
            <a:off x="3162300" y="3143250"/>
            <a:ext cx="3505200" cy="161925"/>
          </a:xfrm>
          <a:prstGeom prst="rect"/>
        </p:spPr>
        <p:txBody>
          <a:bodyPr wrap="none" lIns="0" tIns="0" rIns="0" bIns="0"/>
          <a:p>
            <a:pPr>
              <a:lnSpc>
                <a:spcPct val="100000"/>
              </a:lnSpc>
            </a:pPr>
            <a:r>
              <a:rPr lang="en-US" sz="1050">
                <a:solidFill>
                  <a:srgbClr val="FFFFFF"/>
                </a:solidFill>
                <a:latin typeface="JetBrains Mono"/>
                <a:ea typeface="JetBrains Mono"/>
              </a:rPr>
              <a:t>["cand-any-1"]</a:t>
            </a:r>
            <a:endParaRPr/>
          </a:p>
        </p:txBody>
      </p:sp>
      <p:sp>
        <p:nvSpPr>
          <p:cNvPr id="329" name="" descr="{&quot;isTemplate&quot;:true,&quot;type&quot;:&quot;text&quot;}"/>
          <p:cNvSpPr txBox="1"/>
          <p:nvPr/>
        </p:nvSpPr>
        <p:spPr>
          <a:xfrm rot="0" flipH="0" flipV="0">
            <a:off x="971550" y="3400425"/>
            <a:ext cx="2190750" cy="161925"/>
          </a:xfrm>
          <a:prstGeom prst="rect"/>
        </p:spPr>
        <p:txBody>
          <a:bodyPr wrap="none" lIns="0" tIns="0" rIns="0" bIns="0"/>
          <a:p>
            <a:pPr>
              <a:lnSpc>
                <a:spcPct val="100000"/>
              </a:lnSpc>
            </a:pPr>
            <a:r>
              <a:rPr lang="en-US" sz="1050">
                <a:solidFill>
                  <a:srgbClr val="E1F5EE">
                    <a:alpha val="55000"/>
                  </a:srgbClr>
                </a:solidFill>
                <a:latin typeface="JetBrains Mono"/>
                <a:ea typeface="JetBrains Mono"/>
              </a:rPr>
              <a:t>duplicate calls reported</a:t>
            </a:r>
            <a:endParaRPr/>
          </a:p>
        </p:txBody>
      </p:sp>
      <p:sp>
        <p:nvSpPr>
          <p:cNvPr id="330" name="" descr="{&quot;isTemplate&quot;:true,&quot;type&quot;:&quot;text&quot;}"/>
          <p:cNvSpPr txBox="1"/>
          <p:nvPr/>
        </p:nvSpPr>
        <p:spPr>
          <a:xfrm rot="0" flipH="0" flipV="0">
            <a:off x="3162300" y="3400425"/>
            <a:ext cx="3505200" cy="161925"/>
          </a:xfrm>
          <a:prstGeom prst="rect"/>
        </p:spPr>
        <p:txBody>
          <a:bodyPr wrap="none" lIns="0" tIns="0" rIns="0" bIns="0"/>
          <a:p>
            <a:pPr>
              <a:lnSpc>
                <a:spcPct val="100000"/>
              </a:lnSpc>
            </a:pPr>
            <a:r>
              <a:rPr lang="en-US" sz="1050">
                <a:solidFill>
                  <a:srgbClr val="FFFFFF"/>
                </a:solidFill>
                <a:latin typeface="JetBrains Mono"/>
                <a:ea typeface="JetBrains Mono"/>
              </a:rPr>
              <a:t>1</a:t>
            </a:r>
            <a:endParaRPr/>
          </a:p>
        </p:txBody>
      </p:sp>
      <p:sp>
        <p:nvSpPr>
          <p:cNvPr id="331" name="" descr="{&quot;isTemplate&quot;:true,&quot;type&quot;:&quot;text&quot;}"/>
          <p:cNvSpPr txBox="1"/>
          <p:nvPr/>
        </p:nvSpPr>
        <p:spPr>
          <a:xfrm rot="0" flipH="0" flipV="0">
            <a:off x="971550" y="3657600"/>
            <a:ext cx="2190750" cy="161925"/>
          </a:xfrm>
          <a:prstGeom prst="rect"/>
        </p:spPr>
        <p:txBody>
          <a:bodyPr wrap="none" lIns="0" tIns="0" rIns="0" bIns="0"/>
          <a:p>
            <a:pPr>
              <a:lnSpc>
                <a:spcPct val="100000"/>
              </a:lnSpc>
            </a:pPr>
            <a:r>
              <a:rPr lang="en-US" sz="1050">
                <a:solidFill>
                  <a:srgbClr val="E1F5EE">
                    <a:alpha val="55000"/>
                  </a:srgbClr>
                </a:solidFill>
                <a:latin typeface="JetBrains Mono"/>
                <a:ea typeface="JetBrains Mono"/>
              </a:rPr>
              <a:t>side effects landed</a:t>
            </a:r>
            <a:endParaRPr/>
          </a:p>
        </p:txBody>
      </p:sp>
      <p:sp>
        <p:nvSpPr>
          <p:cNvPr id="332" name="" descr="{&quot;isTemplate&quot;:true,&quot;type&quot;:&quot;text&quot;}"/>
          <p:cNvSpPr txBox="1"/>
          <p:nvPr/>
        </p:nvSpPr>
        <p:spPr>
          <a:xfrm rot="0" flipH="0" flipV="0">
            <a:off x="3162300" y="3657600"/>
            <a:ext cx="3505200" cy="161925"/>
          </a:xfrm>
          <a:prstGeom prst="rect"/>
        </p:spPr>
        <p:txBody>
          <a:bodyPr wrap="none" lIns="0" tIns="0" rIns="0" bIns="0"/>
          <a:p>
            <a:pPr>
              <a:lnSpc>
                <a:spcPct val="100000"/>
              </a:lnSpc>
            </a:pPr>
            <a:r>
              <a:rPr lang="en-US" sz="1050" b="1">
                <a:solidFill>
                  <a:srgbClr val="97C459"/>
                </a:solidFill>
                <a:latin typeface="JetBrains Mono"/>
                <a:ea typeface="JetBrains Mono"/>
              </a:rPr>
              <a:t>1</a:t>
            </a:r>
            <a:endParaRPr/>
          </a:p>
        </p:txBody>
      </p:sp>
      <p:sp>
        <p:nvSpPr>
          <p:cNvPr id="333" name=""/>
          <p:cNvSpPr/>
          <p:nvPr/>
        </p:nvSpPr>
        <p:spPr>
          <a:xfrm rot="0" flipH="0" flipV="0">
            <a:off x="971550" y="5638800"/>
            <a:ext cx="5695950" cy="9525"/>
          </a:xfrm>
          <a:prstGeom prst="rect">
            <a:avLst/>
          </a:prstGeom>
          <a:solidFill>
            <a:srgbClr val="E1F5EE">
              <a:alpha val="28000"/>
            </a:srgbClr>
          </a:solidFill>
          <a:ln/>
        </p:spPr>
        <p:txBody>
          <a:bodyPr/>
          <a:p/>
        </p:txBody>
      </p:sp>
      <p:sp>
        <p:nvSpPr>
          <p:cNvPr id="334" name="" descr="{&quot;isTemplate&quot;:true,&quot;type&quot;:&quot;text&quot;}"/>
          <p:cNvSpPr txBox="1"/>
          <p:nvPr/>
        </p:nvSpPr>
        <p:spPr>
          <a:xfrm rot="0" flipH="0" flipV="0">
            <a:off x="971550" y="5781675"/>
            <a:ext cx="5695950" cy="238125"/>
          </a:xfrm>
          <a:prstGeom prst="rect"/>
        </p:spPr>
        <p:txBody>
          <a:bodyPr wrap="none" lIns="0" tIns="0" rIns="0" bIns="0"/>
          <a:p>
            <a:pPr>
              <a:lnSpc>
                <a:spcPct val="160000"/>
              </a:lnSpc>
            </a:pPr>
            <a:r>
              <a:rPr lang="en-US" sz="975">
                <a:solidFill>
                  <a:srgbClr val="E1F5EE">
                    <a:alpha val="72000"/>
                  </a:srgbClr>
                </a:solidFill>
                <a:latin typeface="JetBrains Mono"/>
                <a:ea typeface="JetBrains Mono"/>
              </a:rPr>
              <a:t>outcome ∈ </a:t>
            </a:r>
            <a:r>
              <a:rPr lang="en-US" sz="975">
                <a:solidFill>
                  <a:srgbClr val="E1F5EE">
                    <a:alpha val="72000"/>
                  </a:srgbClr>
                </a:solidFill>
                <a:latin typeface="JetBrains Mono"/>
                <a:ea typeface="JetBrains Mono"/>
              </a:rPr>
              <a:t>{</a:t>
            </a:r>
            <a:r>
              <a:rPr lang="en-US" sz="975">
                <a:solidFill>
                  <a:srgbClr val="E1F5EE">
                    <a:alpha val="72000"/>
                  </a:srgbClr>
                </a:solidFill>
                <a:latin typeface="JetBrains Mono"/>
                <a:ea typeface="JetBrains Mono"/>
              </a:rPr>
              <a:t> applied · replayed · cancelled · failed </a:t>
            </a:r>
            <a:r>
              <a:rPr lang="en-US" sz="975">
                <a:solidFill>
                  <a:srgbClr val="E1F5EE">
                    <a:alpha val="72000"/>
                  </a:srgbClr>
                </a:solidFill>
                <a:latin typeface="JetBrains Mono"/>
                <a:ea typeface="JetBrains Mono"/>
              </a:rPr>
              <a:t>}</a:t>
            </a:r>
            <a:endParaRPr/>
          </a:p>
        </p:txBody>
      </p:sp>
      <p:sp>
        <p:nvSpPr>
          <p:cNvPr id="335" name="" descr="{&quot;isTemplate&quot;:true,&quot;type&quot;:&quot;text&quot;}"/>
          <p:cNvSpPr txBox="1"/>
          <p:nvPr/>
        </p:nvSpPr>
        <p:spPr>
          <a:xfrm rot="0" flipH="0" flipV="0">
            <a:off x="7334250" y="1143000"/>
            <a:ext cx="4171950" cy="152400"/>
          </a:xfrm>
          <a:prstGeom prst="rect"/>
        </p:spPr>
        <p:txBody>
          <a:bodyPr wrap="none" lIns="0" tIns="0" rIns="0" bIns="0"/>
          <a:p>
            <a:pPr>
              <a:lnSpc>
                <a:spcPct val="100000"/>
              </a:lnSpc>
            </a:pPr>
            <a:r>
              <a:rPr lang="en-US" sz="975" spc="120">
                <a:solidFill>
                  <a:srgbClr val="0F6E56"/>
                </a:solidFill>
                <a:latin typeface="JetBrains Mono"/>
                <a:ea typeface="JetBrains Mono"/>
              </a:rPr>
              <a:t>IDEMPOTENT WRITES</a:t>
            </a:r>
            <a:endParaRPr/>
          </a:p>
        </p:txBody>
      </p:sp>
      <p:sp>
        <p:nvSpPr>
          <p:cNvPr id="336" name="" descr="{&quot;isTemplate&quot;:true,&quot;type&quot;:&quot;text&quot;}"/>
          <p:cNvSpPr txBox="1"/>
          <p:nvPr/>
        </p:nvSpPr>
        <p:spPr>
          <a:xfrm rot="0" flipH="0" flipV="0">
            <a:off x="7334250" y="1428750"/>
            <a:ext cx="4171950" cy="742950"/>
          </a:xfrm>
          <a:prstGeom prst="rect"/>
        </p:spPr>
        <p:txBody>
          <a:bodyPr wrap="square" lIns="0" tIns="0" rIns="0" bIns="0">
            <a:normAutofit/>
          </a:bodyPr>
          <a:p>
            <a:pPr>
              <a:lnSpc>
                <a:spcPct val="140000"/>
              </a:lnSpc>
            </a:pPr>
            <a:r>
              <a:rPr lang="en-US" sz="1725" b="1">
                <a:solidFill>
                  <a:srgbClr val="04342C"/>
                </a:solidFill>
                <a:latin typeface="Inter"/>
                <a:ea typeface="Inter"/>
              </a:rPr>
              <a:t>Exactly one side effect, provable from the log</a:t>
            </a:r>
            <a:endParaRPr/>
          </a:p>
        </p:txBody>
      </p:sp>
      <p:sp>
        <p:nvSpPr>
          <p:cNvPr id="337" name="" descr="{&quot;isTemplate&quot;:true,&quot;type&quot;:&quot;text&quot;}"/>
          <p:cNvSpPr txBox="1"/>
          <p:nvPr/>
        </p:nvSpPr>
        <p:spPr>
          <a:xfrm rot="0" flipH="0" flipV="0">
            <a:off x="7334250" y="2286000"/>
            <a:ext cx="4171950" cy="1209675"/>
          </a:xfrm>
          <a:prstGeom prst="rect"/>
        </p:spPr>
        <p:txBody>
          <a:bodyPr wrap="square" lIns="0" tIns="0" rIns="0" bIns="0">
            <a:normAutofit/>
          </a:bodyPr>
          <a:p>
            <a:pPr>
              <a:lnSpc>
                <a:spcPct val="155000"/>
              </a:lnSpc>
            </a:pPr>
            <a:r>
              <a:rPr lang="en-US" sz="1125">
                <a:solidFill>
                  <a:srgbClr val="0F6E56"/>
                </a:solidFill>
                <a:latin typeface="Inter"/>
                <a:ea typeface="Inter"/>
              </a:rPr>
              <a:t>add_to_shortlist</a:t>
            </a:r>
            <a:r>
              <a:rPr lang="en-US" sz="1275">
                <a:solidFill>
                  <a:srgbClr val="0B1F1A"/>
                </a:solidFill>
                <a:latin typeface="Inter"/>
                <a:ea typeface="Inter"/>
              </a:rPr>
              <a:t> is the only tool that changes stored state. It takes an explicit or content-derived idempotency key, and writes sharing a scope cancel an older in-flight one — surfaced as a </a:t>
            </a:r>
            <a:r>
              <a:rPr lang="en-US" sz="1125">
                <a:solidFill>
                  <a:srgbClr val="0F6E56"/>
                </a:solidFill>
                <a:latin typeface="Inter"/>
                <a:ea typeface="Inter"/>
              </a:rPr>
              <a:t>CancelledError</a:t>
            </a:r>
            <a:r>
              <a:rPr lang="en-US" sz="1275">
                <a:solidFill>
                  <a:srgbClr val="0B1F1A"/>
                </a:solidFill>
                <a:latin typeface="Inter"/>
                <a:ea typeface="Inter"/>
              </a:rPr>
              <a:t>, never as a dict.</a:t>
            </a:r>
            <a:endParaRPr/>
          </a:p>
        </p:txBody>
      </p:sp>
      <p:sp>
        <p:nvSpPr>
          <p:cNvPr id="338" name=""/>
          <p:cNvSpPr/>
          <p:nvPr/>
        </p:nvSpPr>
        <p:spPr>
          <a:xfrm rot="0" flipH="0" flipV="0">
            <a:off x="7381875" y="4276725"/>
            <a:ext cx="4171950" cy="2009775"/>
          </a:xfrm>
          <a:prstGeom prst="rect">
            <a:avLst/>
          </a:prstGeom>
          <a:solidFill>
            <a:srgbClr val="E1F5EE"/>
          </a:solidFill>
          <a:ln/>
        </p:spPr>
        <p:txBody>
          <a:bodyPr/>
          <a:p/>
        </p:txBody>
      </p:sp>
      <p:sp>
        <p:nvSpPr>
          <p:cNvPr id="339" name=""/>
          <p:cNvSpPr/>
          <p:nvPr/>
        </p:nvSpPr>
        <p:spPr>
          <a:xfrm rot="0" flipH="0" flipV="0">
            <a:off x="7334250" y="4276725"/>
            <a:ext cx="4219575" cy="2009775"/>
          </a:xfrm>
          <a:custGeom>
            <a:pathLst>
              <a:path w="443" h="211">
                <a:moveTo>
                  <a:pt x="0" y="0"/>
                </a:moveTo>
                <a:lnTo>
                  <a:pt x="5" y="0"/>
                </a:lnTo>
                <a:lnTo>
                  <a:pt x="5" y="211"/>
                </a:lnTo>
                <a:lnTo>
                  <a:pt x="0" y="211"/>
                </a:lnTo>
                <a:close/>
              </a:path>
            </a:pathLst>
          </a:custGeom>
          <a:solidFill>
            <a:srgbClr val="97C459"/>
          </a:solidFill>
          <a:ln/>
        </p:spPr>
        <p:txBody>
          <a:bodyPr/>
          <a:p/>
        </p:txBody>
      </p:sp>
      <p:sp>
        <p:nvSpPr>
          <p:cNvPr id="340" name="" descr="{&quot;isTemplate&quot;:true,&quot;type&quot;:&quot;text&quot;}"/>
          <p:cNvSpPr txBox="1"/>
          <p:nvPr/>
        </p:nvSpPr>
        <p:spPr>
          <a:xfrm rot="0" flipH="0" flipV="0">
            <a:off x="7572375" y="4448175"/>
            <a:ext cx="3743325" cy="152400"/>
          </a:xfrm>
          <a:prstGeom prst="rect"/>
        </p:spPr>
        <p:txBody>
          <a:bodyPr wrap="none" lIns="0" tIns="0" rIns="0" bIns="0"/>
          <a:p>
            <a:pPr>
              <a:lnSpc>
                <a:spcPct val="100000"/>
              </a:lnSpc>
            </a:pPr>
            <a:r>
              <a:rPr lang="en-US" sz="975" spc="105">
                <a:solidFill>
                  <a:srgbClr val="0F6E56"/>
                </a:solidFill>
                <a:latin typeface="JetBrains Mono"/>
                <a:ea typeface="JetBrains Mono"/>
              </a:rPr>
              <a:t>THE BUG WE FOUND</a:t>
            </a:r>
            <a:endParaRPr/>
          </a:p>
        </p:txBody>
      </p:sp>
      <p:sp>
        <p:nvSpPr>
          <p:cNvPr id="341" name="" descr="{&quot;isTemplate&quot;:true,&quot;type&quot;:&quot;text&quot;}"/>
          <p:cNvSpPr txBox="1"/>
          <p:nvPr/>
        </p:nvSpPr>
        <p:spPr>
          <a:xfrm rot="0" flipH="0" flipV="0">
            <a:off x="7572375" y="4695825"/>
            <a:ext cx="3743325" cy="1419225"/>
          </a:xfrm>
          <a:prstGeom prst="rect"/>
        </p:spPr>
        <p:txBody>
          <a:bodyPr wrap="square" lIns="0" tIns="0" rIns="0" bIns="0">
            <a:normAutofit/>
          </a:bodyPr>
          <a:p>
            <a:pPr>
              <a:lnSpc>
                <a:spcPct val="155000"/>
              </a:lnSpc>
            </a:pPr>
            <a:r>
              <a:rPr lang="en-US" sz="1200">
                <a:solidFill>
                  <a:srgbClr val="04342C"/>
                </a:solidFill>
                <a:latin typeface="Inter"/>
                <a:ea typeface="Inter"/>
              </a:rPr>
              <a:t>The audit log was written on the replay, cancelled and failed paths — but not on success. It showed the retry and not the effect it retried, so “exactly one side effect” was unprovable from the very structure meant to prove it. The behaviour was right; the evidence was missing.</a:t>
            </a:r>
            <a:endParaRPr/>
          </a:p>
        </p:txBody>
      </p:sp>
      <p:sp>
        <p:nvSpPr>
          <p:cNvPr id="342"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343"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08 / 12</a:t>
            </a:r>
            <a:endParaRPr/>
          </a:p>
        </p:txBody>
      </p:sp>
    </p:spTree>
  </p:cSld>
</p:sld>
</file>

<file path=ppt/slides/slide9.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344" name="" descr="&lt;Slide style={{&#10;    width: 1280,&#10;    height: 720,&#10;    padding: '0 72px',&#10;    background: '#FFFFFF',&#10;}}&gt;&#10;    &lt;Box style={{ width: '100%', height: 720, flexDirection: 'column' }}&gt;&#10;        &lt;Box style={{&#10;            height: 120,&#10;            paddingTop: 20,&#10;            paddingBottom: 16,&#10;            flexDirection: 'row',&#10;            alignItems: 'flex-end',&#10;            justifyContent: 'space-between',&#10;        }}&gt;&#10;            &lt;Box style={{ flexDirection: 'column', justifyContent: 'flex-end' }}&gt;&#10;                &lt;Box style={{ width: 56, height: 6, background: '#97C459', marginBottom: 14 }} /&gt;&#10;                &lt;Text style={{ fontFamily: 'Inter', fontSize: 34, fontWeight: 'bold', color: '#0B1F1A' }}&gt;&#10;                    Fast, and not allowed to cheat&#10;                &lt;/Text&gt;&#10;            &lt;/Box&gt;&#10;            &lt;Text style={{ fontFamily: 'JetBrains Mono', fontSize: 14, color: '#6B7280', letterSpacing: 1.4, paddingBottom: 6 }}&gt;&#10;                SPEECH OVERLAPS RETRIEVAL&#10;            &lt;/Text&gt;&#10;        &lt;/Box&gt;&#10;&#10;        &lt;Box style={{ height: 540, flexDirection: 'column', gap: 16 }}&gt;&#10;            &lt;svg width={1136} height={300} viewBox='0 0 1136 300'&gt;&#10;                &lt;path d='M380 34 L380 256' stroke='#6B7280' strokeWidth='1.5' strokeDasharray='6 5' /&gt;&#10;                &lt;text x='380' y='20' fill='#6B7280' fontSize='13' fontFamily='JetBrains Mono' textAnchor='middle'&gt;UTTERANCE ENDS&lt;/text&gt;&#10;&#10;                &lt;text x='0' y='72' fill='#0B1F1A' fontSize='14' fontFamily='JetBrains Mono'&gt;transcript&lt;/text&gt;&#10;                &lt;rect x='150' y='46' width='230' height='40' rx='4' fill='#E1F5EE' stroke='#0F6E56' strokeWidth='1' /&gt;&#10;                &lt;text x='392' y='72' fill='#6B7280' fontSize='13' fontFamily='Inter'&gt;settled prefix&lt;/text&gt;&#10;&#10;                &lt;text x='0' y='152' fill='#0B1F1A' fontSize='14' fontFamily='JetBrains Mono'&gt;retrieval&lt;/text&gt;&#10;                &lt;rect x='150' y='126' width='700' height='40' rx='4' fill='#0F6E56' /&gt;&#10;                &lt;text x='866' y='152' fill='#6B7280' fontSize='13' fontFamily='Inter'&gt;~120 ms, in the background&lt;/text&gt;&#10;&#10;                &lt;text x='0' y='232' fill='#0B1F1A' fontSize='14' fontFamily='JetBrains Mono'&gt;ack&lt;/text&gt;&#10;                &lt;rect x='150' y='206' width='17' height='40' rx='3' fill='#97C459' /&gt;&#10;                &lt;text x='182' y='232' fill='#0F6E56' fontSize='14' fontFamily='JetBrains Mono'&gt;1.2 ms — emitted while retrieval is still running&lt;/text&gt;&#10;            &lt;/svg&gt;&#10;&#10;            &lt;Box style={{ height: 224, flexDirection: 'row', gap: 24 }}&gt;&#10;                &lt;Box style={{&#10;                    flex: 1,&#10;                    background: '#E1F5EE',&#10;                    borderLeft: '5px solid #0F6E56',&#10;                    padding: '22px 24px',&#10;                    flexDirection: 'column',&#10;                }}&gt;&#10;                    &lt;Text style={{ fontFamily: 'JetBrains Mono', fontSize: 13, color: '#0F6E56', letterSpacing: 1.5 }}&gt;&#10;                        GROUNDED, OR NOT SAID AT ALL&#10;                    &lt;/Text&gt;&#10;                    &lt;Text style={{ fontFamily: 'Inter', fontSize: 20, fontWeight: 'bold', color: '#04342C', lineHeight: 1.35, marginTop: 12 }}&gt;&#10;                        Every mid-retrieval utterance is audited&#10;                    &lt;/Text&gt;&#10;                    &lt;Text style={{ fontFamily: 'Inter', fontSize: 16, lineHeight: 1.5, color: '#0B1F1A', marginTop: 10 }}&gt;&#10;                        Filler is classified as &lt;span style={{ fontFamily: 'JetBrains Mono', fontSize: 14.5, color: '#0F6E56' }}&gt;empty&lt;/span&gt;,&#10;                        &lt;span style={{ fontFamily: 'JetBrains Mono', fontSize: 14.5, color: '#0F6E56' }}&gt; acknowledgement&lt;/span&gt;,&#10;                        &lt;span style={{ fontFamily: 'JetBrains Mono', fontSize: 14.5, color: '#0F6E56' }}&gt; over_budget&lt;/span&gt; or&#10;                        &lt;span style={{ fontFamily: 'JetBrains Mono', fontSize: 14.5, color: '#0F6E56' }}&gt; violation&lt;/span&gt;. Claiming a result&#10;                        before evidence exists is a violation, and the evaluation asserts that it is caught.&#10;                    &lt;/Text&gt;&#10;                &lt;/Box&gt;&#10;&#10;                &lt;Box style={{&#10;                    flex: 1,&#10;                    background: '#E1F5EE',&#10;                    borderLeft: '5px solid #0F6E56',&#10;                    padding: '22px 24px',&#10;                    flexDirection: 'column',&#10;                }}&gt;&#10;                    &lt;Text style={{ fontFamily: 'JetBrains Mono', fontSize: 13, color: '#0F6E56', letterSpacing: 1.5 }}&gt;&#10;                        SPEED IS NOT A LOOPHOLE&#10;                    &lt;/Text&gt;&#10;                    &lt;Text style={{ fontFamily: 'Inter', fontSize: 20, fontWeight: 'bold', color: '#04342C', lineHeight: 1.35, marginTop: 12 }}&gt;&#10;                        The sentence comes from the instruction&#10;                    &lt;/Text&gt;&#10;                    &lt;Text style={{ fontFamily: 'Inter', fontSize: 16, lineHeight: 1.5, color: '#0B1F1A', marginTop: 10 }}&gt;&#10;                        It is derived from the diff between what the user just said and what the plan already held — never from the&#10;                        corpus. That is why it costs ~1 ms and why it cannot assert something retrieval has not yet found.&#10;                    &lt;/Text&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09 / 12&#10;            &lt;/Text&gt;&#10;        &lt;/Box&gt;&#10;    &lt;/Box&gt;&#10;&lt;/Slide&gt;&#10;"/>
        <p:cNvGrpSpPr/>
        <p:nvPr/>
      </p:nvGrpSpPr>
      <p:grpSpPr>
        <a:xfrm>
          <a:off x="0" y="0"/>
          <a:ext cx="0" cy="0"/>
          <a:chOff x="0" y="0"/>
          <a:chExt cx="0" cy="0"/>
        </a:xfrm>
      </p:grpSpPr>
      <p:sp>
        <p:nvSpPr>
          <p:cNvPr id="345" name=""/>
          <p:cNvSpPr/>
          <p:nvPr/>
        </p:nvSpPr>
        <p:spPr>
          <a:xfrm rot="0" flipH="0" flipV="0">
            <a:off x="0" y="0"/>
            <a:ext cx="12192000" cy="6858000"/>
          </a:xfrm>
          <a:prstGeom prst="rect">
            <a:avLst/>
          </a:prstGeom>
          <a:solidFill>
            <a:srgbClr val="FFFFFF"/>
          </a:solidFill>
          <a:ln/>
        </p:spPr>
        <p:txBody>
          <a:bodyPr/>
          <a:p/>
        </p:txBody>
      </p:sp>
      <p:sp>
        <p:nvSpPr>
          <p:cNvPr id="346" name=""/>
          <p:cNvSpPr/>
          <p:nvPr/>
        </p:nvSpPr>
        <p:spPr>
          <a:xfrm rot="0" flipH="0" flipV="0">
            <a:off x="685800" y="409575"/>
            <a:ext cx="533400" cy="57150"/>
          </a:xfrm>
          <a:prstGeom prst="rect">
            <a:avLst/>
          </a:prstGeom>
          <a:solidFill>
            <a:srgbClr val="97C459"/>
          </a:solidFill>
          <a:ln/>
        </p:spPr>
        <p:txBody>
          <a:bodyPr/>
          <a:p/>
        </p:txBody>
      </p:sp>
      <p:sp>
        <p:nvSpPr>
          <p:cNvPr id="347" name="" descr="{&quot;isTemplate&quot;:true,&quot;type&quot;:&quot;text&quot;}"/>
          <p:cNvSpPr txBox="1"/>
          <p:nvPr/>
        </p:nvSpPr>
        <p:spPr>
          <a:xfrm rot="0" flipH="0" flipV="0">
            <a:off x="685800" y="600075"/>
            <a:ext cx="4629150" cy="390525"/>
          </a:xfrm>
          <a:prstGeom prst="rect"/>
        </p:spPr>
        <p:txBody>
          <a:bodyPr wrap="none" lIns="0" tIns="0" rIns="0" bIns="0"/>
          <a:p>
            <a:pPr>
              <a:lnSpc>
                <a:spcPct val="100000"/>
              </a:lnSpc>
            </a:pPr>
            <a:r>
              <a:rPr lang="en-US" sz="2550" b="1">
                <a:solidFill>
                  <a:srgbClr val="0B1F1A"/>
                </a:solidFill>
                <a:latin typeface="Inter"/>
                <a:ea typeface="Inter"/>
              </a:rPr>
              <a:t>Fast, and not allowed to cheat</a:t>
            </a:r>
            <a:endParaRPr/>
          </a:p>
        </p:txBody>
      </p:sp>
      <p:sp>
        <p:nvSpPr>
          <p:cNvPr id="348" name="" descr="{&quot;isTemplate&quot;:true,&quot;type&quot;:&quot;text&quot;}"/>
          <p:cNvSpPr txBox="1"/>
          <p:nvPr/>
        </p:nvSpPr>
        <p:spPr>
          <a:xfrm rot="0" flipH="0" flipV="0">
            <a:off x="9086850" y="771525"/>
            <a:ext cx="2419350" cy="219075"/>
          </a:xfrm>
          <a:prstGeom prst="rect"/>
        </p:spPr>
        <p:txBody>
          <a:bodyPr wrap="none" lIns="0" tIns="0" rIns="0" bIns="42863"/>
          <a:p>
            <a:pPr>
              <a:lnSpc>
                <a:spcPct val="100000"/>
              </a:lnSpc>
            </a:pPr>
            <a:r>
              <a:rPr lang="en-US" sz="1050" spc="105">
                <a:solidFill>
                  <a:srgbClr val="6B7280"/>
                </a:solidFill>
                <a:latin typeface="JetBrains Mono"/>
                <a:ea typeface="JetBrains Mono"/>
              </a:rPr>
              <a:t>SPEECH OVERLAPS RETRIEVAL</a:t>
            </a:r>
            <a:endParaRPr/>
          </a:p>
        </p:txBody>
      </p:sp>
      <p:pic>
        <p:nvPicPr>
          <p:cNvPr id="349" name=""/>
          <p:cNvPicPr>
            <a:picLocks noChangeAspect="1"/>
          </p:cNvPicPr>
          <p:nvPr/>
        </p:nvPicPr>
        <p:blipFill>
          <a:blip>
            <a:extLst>
              <a:ext uri="{96DAC541-7B7A-43D3-8B79-37D633B846F1}">
                <asvg:svgBlip r:embed="rId1"/>
              </a:ext>
            </a:extLst>
          </a:blip>
          <a:stretch>
            <a:fillRect/>
          </a:stretch>
        </p:blipFill>
        <p:spPr>
          <a:xfrm rot="0" flipH="0" flipV="0">
            <a:off x="685800" y="1143000"/>
            <a:ext cx="10820400" cy="2857500"/>
          </a:xfrm>
          <a:prstGeom prst="rect">
            <a:avLst/>
          </a:prstGeom>
          <a:ln/>
        </p:spPr>
      </p:pic>
      <p:sp>
        <p:nvSpPr>
          <p:cNvPr id="350" name=""/>
          <p:cNvSpPr/>
          <p:nvPr/>
        </p:nvSpPr>
        <p:spPr>
          <a:xfrm rot="0" flipH="0" flipV="0">
            <a:off x="733425" y="4152900"/>
            <a:ext cx="5295900" cy="2133600"/>
          </a:xfrm>
          <a:prstGeom prst="rect">
            <a:avLst/>
          </a:prstGeom>
          <a:solidFill>
            <a:srgbClr val="E1F5EE"/>
          </a:solidFill>
          <a:ln/>
        </p:spPr>
        <p:txBody>
          <a:bodyPr/>
          <a:p/>
        </p:txBody>
      </p:sp>
      <p:sp>
        <p:nvSpPr>
          <p:cNvPr id="351" name=""/>
          <p:cNvSpPr/>
          <p:nvPr/>
        </p:nvSpPr>
        <p:spPr>
          <a:xfrm rot="0" flipH="0" flipV="0">
            <a:off x="685800" y="4152900"/>
            <a:ext cx="5343525" cy="2133600"/>
          </a:xfrm>
          <a:custGeom>
            <a:pathLst>
              <a:path w="561" h="224">
                <a:moveTo>
                  <a:pt x="0" y="0"/>
                </a:moveTo>
                <a:lnTo>
                  <a:pt x="5" y="0"/>
                </a:lnTo>
                <a:lnTo>
                  <a:pt x="5" y="224"/>
                </a:lnTo>
                <a:lnTo>
                  <a:pt x="0" y="224"/>
                </a:lnTo>
                <a:close/>
              </a:path>
            </a:pathLst>
          </a:custGeom>
          <a:solidFill>
            <a:srgbClr val="0F6E56"/>
          </a:solidFill>
          <a:ln/>
        </p:spPr>
        <p:txBody>
          <a:bodyPr/>
          <a:p/>
        </p:txBody>
      </p:sp>
      <p:sp>
        <p:nvSpPr>
          <p:cNvPr id="352" name="" descr="{&quot;isTemplate&quot;:true,&quot;type&quot;:&quot;text&quot;}"/>
          <p:cNvSpPr txBox="1"/>
          <p:nvPr/>
        </p:nvSpPr>
        <p:spPr>
          <a:xfrm rot="0" flipH="0" flipV="0">
            <a:off x="962025" y="4362450"/>
            <a:ext cx="4791075" cy="152400"/>
          </a:xfrm>
          <a:prstGeom prst="rect"/>
        </p:spPr>
        <p:txBody>
          <a:bodyPr wrap="none" lIns="0" tIns="0" rIns="0" bIns="0"/>
          <a:p>
            <a:pPr>
              <a:lnSpc>
                <a:spcPct val="100000"/>
              </a:lnSpc>
            </a:pPr>
            <a:r>
              <a:rPr lang="en-US" sz="975" spc="113">
                <a:solidFill>
                  <a:srgbClr val="0F6E56"/>
                </a:solidFill>
                <a:latin typeface="JetBrains Mono"/>
                <a:ea typeface="JetBrains Mono"/>
              </a:rPr>
              <a:t>GROUNDED, OR NOT SAID AT ALL</a:t>
            </a:r>
            <a:endParaRPr/>
          </a:p>
        </p:txBody>
      </p:sp>
      <p:sp>
        <p:nvSpPr>
          <p:cNvPr id="353" name="" descr="{&quot;isTemplate&quot;:true,&quot;type&quot;:&quot;text&quot;}"/>
          <p:cNvSpPr txBox="1"/>
          <p:nvPr/>
        </p:nvSpPr>
        <p:spPr>
          <a:xfrm rot="0" flipH="0" flipV="0">
            <a:off x="962025" y="4629150"/>
            <a:ext cx="4791075" cy="314325"/>
          </a:xfrm>
          <a:prstGeom prst="rect"/>
        </p:spPr>
        <p:txBody>
          <a:bodyPr wrap="none" lIns="0" tIns="0" rIns="0" bIns="0"/>
          <a:p>
            <a:pPr>
              <a:lnSpc>
                <a:spcPct val="135000"/>
              </a:lnSpc>
            </a:pPr>
            <a:r>
              <a:rPr lang="en-US" sz="1500" b="1">
                <a:solidFill>
                  <a:srgbClr val="04342C"/>
                </a:solidFill>
                <a:latin typeface="Inter"/>
                <a:ea typeface="Inter"/>
              </a:rPr>
              <a:t>Every mid-retrieval utterance is audited</a:t>
            </a:r>
            <a:endParaRPr/>
          </a:p>
        </p:txBody>
      </p:sp>
      <p:sp>
        <p:nvSpPr>
          <p:cNvPr id="354" name="" descr="{&quot;isTemplate&quot;:true,&quot;type&quot;:&quot;text&quot;}"/>
          <p:cNvSpPr txBox="1"/>
          <p:nvPr/>
        </p:nvSpPr>
        <p:spPr>
          <a:xfrm rot="0" flipH="0" flipV="0">
            <a:off x="962025" y="5038725"/>
            <a:ext cx="4791075" cy="828675"/>
          </a:xfrm>
          <a:prstGeom prst="rect"/>
        </p:spPr>
        <p:txBody>
          <a:bodyPr wrap="square" lIns="0" tIns="0" rIns="0" bIns="0">
            <a:normAutofit/>
          </a:bodyPr>
          <a:p>
            <a:pPr>
              <a:lnSpc>
                <a:spcPct val="150000"/>
              </a:lnSpc>
            </a:pPr>
            <a:r>
              <a:rPr lang="en-US" sz="1200">
                <a:solidFill>
                  <a:srgbClr val="0B1F1A"/>
                </a:solidFill>
                <a:latin typeface="Inter"/>
                <a:ea typeface="Inter"/>
              </a:rPr>
              <a:t>Filler is classified as </a:t>
            </a:r>
            <a:r>
              <a:rPr lang="en-US" sz="1088">
                <a:solidFill>
                  <a:srgbClr val="0F6E56"/>
                </a:solidFill>
                <a:latin typeface="Inter"/>
                <a:ea typeface="Inter"/>
              </a:rPr>
              <a:t>empty</a:t>
            </a:r>
            <a:r>
              <a:rPr lang="en-US" sz="1200">
                <a:solidFill>
                  <a:srgbClr val="0B1F1A"/>
                </a:solidFill>
                <a:latin typeface="Inter"/>
                <a:ea typeface="Inter"/>
              </a:rPr>
              <a:t>,</a:t>
            </a:r>
            <a:r>
              <a:rPr lang="en-US" sz="1088">
                <a:solidFill>
                  <a:srgbClr val="0F6E56"/>
                </a:solidFill>
                <a:latin typeface="Inter"/>
                <a:ea typeface="Inter"/>
              </a:rPr>
              <a:t> acknowledgement</a:t>
            </a:r>
            <a:r>
              <a:rPr lang="en-US" sz="1200">
                <a:solidFill>
                  <a:srgbClr val="0B1F1A"/>
                </a:solidFill>
                <a:latin typeface="Inter"/>
                <a:ea typeface="Inter"/>
              </a:rPr>
              <a:t>,</a:t>
            </a:r>
            <a:r>
              <a:rPr lang="en-US" sz="1088">
                <a:solidFill>
                  <a:srgbClr val="0F6E56"/>
                </a:solidFill>
                <a:latin typeface="Inter"/>
                <a:ea typeface="Inter"/>
              </a:rPr>
              <a:t> over_budget</a:t>
            </a:r>
            <a:r>
              <a:rPr lang="en-US" sz="1200">
                <a:solidFill>
                  <a:srgbClr val="0B1F1A"/>
                </a:solidFill>
                <a:latin typeface="Inter"/>
                <a:ea typeface="Inter"/>
              </a:rPr>
              <a:t> or</a:t>
            </a:r>
            <a:r>
              <a:rPr lang="en-US" sz="1088">
                <a:solidFill>
                  <a:srgbClr val="0F6E56"/>
                </a:solidFill>
                <a:latin typeface="Inter"/>
                <a:ea typeface="Inter"/>
              </a:rPr>
              <a:t> violation</a:t>
            </a:r>
            <a:r>
              <a:rPr lang="en-US" sz="1200">
                <a:solidFill>
                  <a:srgbClr val="0B1F1A"/>
                </a:solidFill>
                <a:latin typeface="Inter"/>
                <a:ea typeface="Inter"/>
              </a:rPr>
              <a:t>. Claiming a result before evidence exists is a violation, and the evaluation asserts that it is caught.</a:t>
            </a:r>
            <a:endParaRPr/>
          </a:p>
        </p:txBody>
      </p:sp>
      <p:sp>
        <p:nvSpPr>
          <p:cNvPr id="355" name=""/>
          <p:cNvSpPr/>
          <p:nvPr/>
        </p:nvSpPr>
        <p:spPr>
          <a:xfrm rot="0" flipH="0" flipV="0">
            <a:off x="6257925" y="4152900"/>
            <a:ext cx="5295900" cy="2133600"/>
          </a:xfrm>
          <a:prstGeom prst="rect">
            <a:avLst/>
          </a:prstGeom>
          <a:solidFill>
            <a:srgbClr val="E1F5EE"/>
          </a:solidFill>
          <a:ln/>
        </p:spPr>
        <p:txBody>
          <a:bodyPr/>
          <a:p/>
        </p:txBody>
      </p:sp>
      <p:sp>
        <p:nvSpPr>
          <p:cNvPr id="356" name=""/>
          <p:cNvSpPr/>
          <p:nvPr/>
        </p:nvSpPr>
        <p:spPr>
          <a:xfrm rot="0" flipH="0" flipV="0">
            <a:off x="6210300" y="4152900"/>
            <a:ext cx="5343525" cy="2133600"/>
          </a:xfrm>
          <a:custGeom>
            <a:pathLst>
              <a:path w="561" h="224">
                <a:moveTo>
                  <a:pt x="0" y="0"/>
                </a:moveTo>
                <a:lnTo>
                  <a:pt x="5" y="0"/>
                </a:lnTo>
                <a:lnTo>
                  <a:pt x="5" y="224"/>
                </a:lnTo>
                <a:lnTo>
                  <a:pt x="0" y="224"/>
                </a:lnTo>
                <a:close/>
              </a:path>
            </a:pathLst>
          </a:custGeom>
          <a:solidFill>
            <a:srgbClr val="0F6E56"/>
          </a:solidFill>
          <a:ln/>
        </p:spPr>
        <p:txBody>
          <a:bodyPr/>
          <a:p/>
        </p:txBody>
      </p:sp>
      <p:sp>
        <p:nvSpPr>
          <p:cNvPr id="357" name="" descr="{&quot;isTemplate&quot;:true,&quot;type&quot;:&quot;text&quot;}"/>
          <p:cNvSpPr txBox="1"/>
          <p:nvPr/>
        </p:nvSpPr>
        <p:spPr>
          <a:xfrm rot="0" flipH="0" flipV="0">
            <a:off x="6486525" y="4362450"/>
            <a:ext cx="4791075" cy="152400"/>
          </a:xfrm>
          <a:prstGeom prst="rect"/>
        </p:spPr>
        <p:txBody>
          <a:bodyPr wrap="none" lIns="0" tIns="0" rIns="0" bIns="0"/>
          <a:p>
            <a:pPr>
              <a:lnSpc>
                <a:spcPct val="100000"/>
              </a:lnSpc>
            </a:pPr>
            <a:r>
              <a:rPr lang="en-US" sz="975" spc="113">
                <a:solidFill>
                  <a:srgbClr val="0F6E56"/>
                </a:solidFill>
                <a:latin typeface="JetBrains Mono"/>
                <a:ea typeface="JetBrains Mono"/>
              </a:rPr>
              <a:t>SPEED IS NOT A LOOPHOLE</a:t>
            </a:r>
            <a:endParaRPr/>
          </a:p>
        </p:txBody>
      </p:sp>
      <p:sp>
        <p:nvSpPr>
          <p:cNvPr id="358" name="" descr="{&quot;isTemplate&quot;:true,&quot;type&quot;:&quot;text&quot;}"/>
          <p:cNvSpPr txBox="1"/>
          <p:nvPr/>
        </p:nvSpPr>
        <p:spPr>
          <a:xfrm rot="0" flipH="0" flipV="0">
            <a:off x="6486525" y="4629150"/>
            <a:ext cx="4791075" cy="314325"/>
          </a:xfrm>
          <a:prstGeom prst="rect"/>
        </p:spPr>
        <p:txBody>
          <a:bodyPr wrap="none" lIns="0" tIns="0" rIns="0" bIns="0"/>
          <a:p>
            <a:pPr>
              <a:lnSpc>
                <a:spcPct val="135000"/>
              </a:lnSpc>
            </a:pPr>
            <a:r>
              <a:rPr lang="en-US" sz="1500" b="1">
                <a:solidFill>
                  <a:srgbClr val="04342C"/>
                </a:solidFill>
                <a:latin typeface="Inter"/>
                <a:ea typeface="Inter"/>
              </a:rPr>
              <a:t>The sentence comes from the instruction</a:t>
            </a:r>
            <a:endParaRPr/>
          </a:p>
        </p:txBody>
      </p:sp>
      <p:sp>
        <p:nvSpPr>
          <p:cNvPr id="359" name="" descr="{&quot;isTemplate&quot;:true,&quot;type&quot;:&quot;text&quot;}"/>
          <p:cNvSpPr txBox="1"/>
          <p:nvPr/>
        </p:nvSpPr>
        <p:spPr>
          <a:xfrm rot="0" flipH="0" flipV="0">
            <a:off x="6486525" y="5038725"/>
            <a:ext cx="4791075" cy="828675"/>
          </a:xfrm>
          <a:prstGeom prst="rect"/>
        </p:spPr>
        <p:txBody>
          <a:bodyPr wrap="square" lIns="0" tIns="0" rIns="0" bIns="0">
            <a:normAutofit/>
          </a:bodyPr>
          <a:p>
            <a:pPr>
              <a:lnSpc>
                <a:spcPct val="150000"/>
              </a:lnSpc>
            </a:pPr>
            <a:r>
              <a:rPr lang="en-US" sz="1200">
                <a:solidFill>
                  <a:srgbClr val="0B1F1A"/>
                </a:solidFill>
                <a:latin typeface="Inter"/>
                <a:ea typeface="Inter"/>
              </a:rPr>
              <a:t>It is derived from the diff between what the user just said and what the plan already held — never from the corpus. That is why it costs ~1 ms and why it cannot assert something retrieval has not yet found.</a:t>
            </a:r>
            <a:endParaRPr/>
          </a:p>
        </p:txBody>
      </p:sp>
      <p:sp>
        <p:nvSpPr>
          <p:cNvPr id="360"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361"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09 / 12</a:t>
            </a:r>
            <a:endParaRPr/>
          </a:p>
        </p:txBody>
      </p:sp>
    </p:spTree>
  </p:cSld>
</p:sld>
</file>

<file path=ppt/slides/slide10.xml><?xml version="1.0" encoding="utf-8"?>
<p:sld xmlns:a="http://schemas.openxmlformats.org/drawingml/2006/main" xmlns:p="http://schemas.openxmlformats.org/presentationml/2006/main">
  <p:cSld>
    <p:spTree>
      <p:nvGrpSpPr>
        <p:cNvPr id="23"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Tools and tech stack&#10;            &lt;/Text&gt;&#10;        &lt;/Box&gt;&#10;&#10;        &lt;Box style={{ height: 540, flexDirection: 'row', gap: 34 }}&gt;&#10;            &lt;Box style={{&#10;                width: 300,&#10;                background: 'linear-gradient(160deg, #04342C 0%, #0F6E56 100%)',&#10;                padding: '28px 24px',&#10;                flexDirection: 'column',&#10;            }}&gt;&#10;                &lt;Text style={{ fontFamily: 'JetBrains Mono', fontSize: 13, color: '#97C459', letterSpacing: 1.6 }}&gt;&#10;                    A DYNAMIC MANIFEST&#10;                &lt;/Text&gt;&#10;                &lt;Text style={{ fontFamily: 'Inter', fontSize: 22, fontWeight: 'bold', color: '#FFFFFF', lineHeight: 1.45, marginTop: 18 }}&gt;&#10;                    Ten tools, each declaring what it is allowed to do&#10;                &lt;/Text&gt;&#10;                &lt;Text style={{ fontFamily: 'Inter', fontSize: 16, lineHeight: 1.55, color: 'rgba(225,245,238,0.88)', marginTop: 16 }}&gt;&#10;                    Effect, blocking behaviour, scope and idempotency are declared once and enforced at dispatch. Nine tools can&#10;                    only read. Exactly one can write.&#10;                &lt;/Text&gt;&#10;                &lt;Box style={{ marginTop: 'auto', paddingTop: 18 }}&gt;&#10;                    &lt;Box style={{ height: 1, background: 'rgba(225,245,238,0.28)', marginBottom: 14 }} /&gt;&#10;                    &lt;Text style={{ fontFamily: 'JetBrains Mono', fontSize: 13, color: '#97C459' }}&gt;&#10;                        DRIFT GUARD&#10;                    &lt;/Text&gt;&#10;                    &lt;Text style={{ fontFamily: 'Inter', fontSize: 15, lineHeight: 1.5, color: 'rgba(225,245,238,0.82)', marginTop: 6 }}&gt;&#10;                        A test fails if any declared tool is missing from the system prompt, so the manifest and the instructions&#10;                        cannot drift apart.&#10;                    &lt;/Text&gt;&#10;                &lt;/Box&gt;&#10;            &lt;/Box&gt;&#10;&#10;            &lt;Box style={{ width: 802, flexDirection: 'column', gap: 24 }}&gt;&#10;                &lt;Box style={{&#10;                    height: 300,&#10;                    border: '1px solid #E1F5EE',&#10;                    padding: '20px 24px',&#10;                    flexDirection: 'column',&#10;                }}&gt;&#10;                    &lt;Text style={{ fontFamily: 'JetBrains Mono', fontSize: 13, color: '#0F6E56', letterSpacing: 1.5 }}&gt;&#10;                        READ-ONLY · 9 TOOLS&#10;                    &lt;/Text&gt;&#10;                    &lt;Box style={{ flexDirection: 'row', flexWrap: 'wrap', gap: 10, marginTop: 14 }}&gt;&#10;                        &lt;Box style={{ padding: '7px 14px', background: '#E1F5EE', borderRadius: 4 }}&gt;&#10;                            &lt;Text style={{ fontFamily: 'JetBrains Mono', fontSize: 14, color: '#04342C' }}&gt;search_candidates&lt;/Text&gt;&#10;                        &lt;/Box&gt;&#10;                        &lt;Box style={{ padding: '7px 14px', background: '#E1F5EE', borderRadius: 4 }}&gt;&#10;                            &lt;Text style={{ fontFamily: 'JetBrains Mono', fontSize: 14, color: '#04342C' }}&gt;inspect_candidate&lt;/Text&gt;&#10;                        &lt;/Box&gt;&#10;                        &lt;Box style={{ padding: '7px 14px', background: '#E1F5EE', borderRadius: 4 }}&gt;&#10;                            &lt;Text style={{ fontFamily: 'JetBrains Mono', fontSize: 14, color: '#04342C' }}&gt;compare_candidates&lt;/Text&gt;&#10;                        &lt;/Box&gt;&#10;                        &lt;Box style={{ padding: '7px 14px', background: '#E1F5EE', borderRadius: 4 }}&gt;&#10;                            &lt;Text style={{ fontFamily: 'JetBrains Mono', fontSize: 14, color: '#04342C' }}&gt;list_skills&lt;/Text&gt;&#10;                        &lt;/Box&gt;&#10;                        &lt;Box style={{ padding: '7px 14px', background: '#E1F5EE', borderRadius: 4 }}&gt;&#10;                            &lt;Text style={{ fontFamily: 'JetBrains Mono', fontSize: 14, color: '#04342C' }}&gt;use_role_image&lt;/Text&gt;&#10;                        &lt;/Box&gt;&#10;                        &lt;Box style={{ padding: '7px 14px', background: '#E1F5EE', borderRadius: 4 }}&gt;&#10;                            &lt;Text style={{ fontFamily: 'JetBrains Mono', fontSize: 14, color: '#04342C' }}&gt;format_current_answer&lt;/Text&gt;&#10;                        &lt;/Box&gt;&#10;                        &lt;Box style={{ padding: '7px 14px', background: '#E1F5EE', borderRadius: 4 }}&gt;&#10;                            &lt;Text style={{ fontFamily: 'JetBrains Mono', fontSize: 14, color: '#04342C' }}&gt;interrupt_search&lt;/Text&gt;&#10;                        &lt;/Box&gt;&#10;                        &lt;Box style={{ padding: '7px 14px', background: '#E1F5EE', borderRadius: 4 }}&gt;&#10;                            &lt;Text style={{ fontFamily: 'JetBrains Mono', fontSize: 14, color: '#04342C' }}&gt;cancel_current_action&lt;/Text&gt;&#10;                        &lt;/Box&gt;&#10;                        &lt;Box style={{ padding: '7px 14px', background: '#E1F5EE', borderRadius: 4 }}&gt;&#10;                            &lt;Text style={{ fontFamily: 'JetBrains Mono', fontSize: 14, color: '#04342C' }}&gt;request_clarification&lt;/Text&gt;&#10;                        &lt;/Box&gt;&#10;                    &lt;/Box&gt;&#10;&#10;                    &lt;Box style={{ height: 1, background: '#E1F5EE', marginTop: 'auto', marginBottom: 18 }} /&gt;&#10;&#10;                    &lt;Text style={{ fontFamily: 'JetBrains Mono', fontSize: 13, color: '#0F6E56', letterSpacing: 1.5 }}&gt;&#10;                        STATE-MODIFYING · 1 TOOL&#10;                    &lt;/Text&gt;&#10;                    &lt;Box style={{ flexDirection: 'row', alignItems: 'center', gap: 16, marginTop: 14 }}&gt;&#10;                        &lt;Box style={{ padding: '9px 16px', background: '#04342C', borderRadius: 4 }}&gt;&#10;                            &lt;Text style={{ fontFamily: 'JetBrains Mono', fontSize: 15, color: '#97C459', fontWeight: 'bold' }}&gt;&#10;                                add_to_shortlist&#10;                            &lt;/Text&gt;&#10;                        &lt;/Box&gt;&#10;                        &lt;Text style={{ fontFamily: 'Inter', fontSize: 15.5, color: '#6B7280', flex: 1 }}&gt;&#10;                            Idempotency key · scope supersession · recorded in the effect log&#10;                        &lt;/Text&gt;&#10;                    &lt;/Box&gt;&#10;                &lt;/Box&gt;&#10;&#10;                &lt;Box style={{ height: 216, flexDirection: 'column' }}&gt;&#10;                    &lt;Box style={{ flexDirection: 'row', paddingBottom: 8, borderBottom: '2px solid #04342C' }}&gt;&#10;                        &lt;Text style={{ fontFamily: 'JetBrains Mono', fontSize: 12, color: '#6B7280', letterSpacing: 1.5, width: 150 }}&gt;&#10;                            LAYER&#10;                        &lt;/Text&gt;&#10;                        &lt;Text style={{ fontFamily: 'JetBrains Mono', fontSize: 12, color: '#6B7280', letterSpacing: 1.5, flex: 1, paddingLeft: 16 }}&gt;&#10;                            WHAT WE USE&#10;                        &lt;/Text&gt;&#10;                    &lt;/Box&gt;&#10;                    &lt;Box style={{ flexDirection: 'row', alignItems: 'center', height: 38, borderBottom: '1px solid #E1F5EE' }}&gt;&#10;                        &lt;Text style={{ fontFamily: 'Inter', fontSize: 15, fontWeight: 600, color: '#0B1F1A', width: 150 }}&gt;Transport&lt;/Text&gt;&#10;                        &lt;Text style={{ fontFamily: 'Inter', fontSize: 15, color: '#6B7280', flex: 1, paddingLeft: 16 }}&gt;&#10;                            Gemini Live (full duplex) · FastAPI · Uvicorn&#10;                        &lt;/Text&gt;&#10;                    &lt;/Box&gt;&#10;                    &lt;Box style={{ flexDirection: 'row', alignItems: 'center', height: 38, borderBottom: '1px solid #E1F5EE' }}&gt;&#10;                        &lt;Text style={{ fontFamily: 'Inter', fontSize: 15, fontWeight: 600, color: '#0B1F1A', width: 150 }}&gt;Data&lt;/Text&gt;&#10;                        &lt;Text style={{ fontFamily: 'Inter', fontSize: 15, color: '#6B7280', flex: 1, paddingLeft: 16 }}&gt;&#10;                            PostgreSQL 17 + pgvector · PgBouncer · Redis 7&#10;                        &lt;/Text&gt;&#10;                    &lt;/Box&gt;&#10;                    &lt;Box style={{ flexDirection: 'row', alignItems: 'center', height: 38, borderBottom: '1px solid #E1F5EE' }}&gt;&#10;                        &lt;Text style={{ fontFamily: 'Inter', fontSize: 15, fontWeight: 600, color: '#0B1F1A', width: 150 }}&gt;Retrieval&lt;/Text&gt;&#10;                        &lt;Text style={{ fontFamily: 'Inter', fontSize: 15, color: '#6B7280', flex: 1, paddingLeft: 16 }}&gt;&#10;                            vector + BM25 + SQL + skills · RRF fusion · rerank&#10;                        &lt;/Text&gt;&#10;                    &lt;/Box&gt;&#10;                    &lt;Box style={{ flexDirection: 'row', alignItems: 'center', height: 38, borderBottom: '1px solid #E1F5EE' }}&gt;&#10;                        &lt;Text style={{ fontFamily: 'Inter', fontSize: 15, fontWeight: 600, color: '#0B1F1A', width: 150 }}&gt;Runtime&lt;/Text&gt;&#10;                        &lt;Text style={{ fontFamily: 'Inter', fontSize: 15, color: '#6B7280', flex: 1, paddingLeft: 16 }}&gt;&#10;                            Python 3.13 · pydantic v2 · Docker Compose&#10;                        &lt;/Text&gt;&#10;                    &lt;/Box&gt;&#10;                    &lt;Box style={{ flexDirection: 'row', alignItems: 'center', height: 38 }}&gt;&#10;                        &lt;Text style={{ fontFamily: 'Inter', fontSize: 15, fontWeight: 600, color: '#0B1F1A', width: 150 }}&gt;Verification&lt;/Text&gt;&#10;                        &lt;Text style={{ fontFamily: 'Inter', fontSize: 15, color: '#6B7280', flex: 1, paddingLeft: 16 }}&gt;&#10;                            pytest · pytest-asyncio · ruff · jsdom&#10;                        &lt;/Text&gt;&#10;                    &lt;/Box&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10 / 12&#10;            &lt;/Text&gt;&#10;        &lt;/Box&gt;&#10;    &lt;/Box&gt;&#10;&lt;/Slide&gt;&#10;"/>
        <p:cNvGrpSpPr/>
        <p:nvPr/>
      </p:nvGrpSpPr>
      <p:grpSpPr>
        <a:xfrm>
          <a:off x="0" y="0"/>
          <a:ext cx="0" cy="0"/>
          <a:chOff x="0" y="0"/>
          <a:chExt cx="0" cy="0"/>
        </a:xfrm>
      </p:grpSpPr>
      <p:sp>
        <p:nvSpPr>
          <p:cNvPr id="24" name=""/>
          <p:cNvSpPr/>
          <p:nvPr/>
        </p:nvSpPr>
        <p:spPr>
          <a:xfrm rot="0" flipH="0" flipV="0">
            <a:off x="0" y="0"/>
            <a:ext cx="12192000" cy="6858000"/>
          </a:xfrm>
          <a:prstGeom prst="rect">
            <a:avLst/>
          </a:prstGeom>
          <a:solidFill>
            <a:srgbClr val="FFFFFF"/>
          </a:solidFill>
          <a:ln/>
        </p:spPr>
        <p:txBody>
          <a:bodyPr/>
          <a:p/>
        </p:txBody>
      </p:sp>
      <p:sp>
        <p:nvSpPr>
          <p:cNvPr id="25" name=""/>
          <p:cNvSpPr/>
          <p:nvPr/>
        </p:nvSpPr>
        <p:spPr>
          <a:xfrm rot="0" flipH="0" flipV="0">
            <a:off x="685800" y="409575"/>
            <a:ext cx="533400" cy="57150"/>
          </a:xfrm>
          <a:prstGeom prst="rect">
            <a:avLst/>
          </a:prstGeom>
          <a:solidFill>
            <a:srgbClr val="97C459"/>
          </a:solidFill>
          <a:ln/>
        </p:spPr>
        <p:txBody>
          <a:bodyPr/>
          <a:p/>
        </p:txBody>
      </p:sp>
      <p:sp>
        <p:nvSpPr>
          <p:cNvPr id="26"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Tools and tech stack</a:t>
            </a:r>
            <a:endParaRPr/>
          </a:p>
        </p:txBody>
      </p:sp>
      <p:sp>
        <p:nvSpPr>
          <p:cNvPr id="27" name=""/>
          <p:cNvSpPr/>
          <p:nvPr/>
        </p:nvSpPr>
        <p:spPr>
          <a:xfrm rot="0" flipH="0" flipV="0">
            <a:off x="685800" y="1143000"/>
            <a:ext cx="2857500" cy="5143500"/>
          </a:xfrm>
          <a:prstGeom prst="rect">
            <a:avLst/>
          </a:prstGeom>
          <a:gradFill>
            <a:gsLst>
              <a:gs pos="0">
                <a:srgbClr val="04342C"/>
              </a:gs>
              <a:gs pos="100000">
                <a:srgbClr val="0F6E56"/>
              </a:gs>
            </a:gsLst>
            <a:lin ang="4200000" scaled="1"/>
          </a:gradFill>
          <a:ln/>
        </p:spPr>
        <p:txBody>
          <a:bodyPr/>
          <a:p/>
        </p:txBody>
      </p:sp>
      <p:sp>
        <p:nvSpPr>
          <p:cNvPr id="28" name="" descr="{&quot;isTemplate&quot;:true,&quot;type&quot;:&quot;text&quot;}"/>
          <p:cNvSpPr txBox="1"/>
          <p:nvPr/>
        </p:nvSpPr>
        <p:spPr>
          <a:xfrm rot="0" flipH="0" flipV="0">
            <a:off x="914400" y="1409700"/>
            <a:ext cx="2400300" cy="152400"/>
          </a:xfrm>
          <a:prstGeom prst="rect"/>
        </p:spPr>
        <p:txBody>
          <a:bodyPr wrap="none" lIns="0" tIns="0" rIns="0" bIns="0"/>
          <a:p>
            <a:pPr>
              <a:lnSpc>
                <a:spcPct val="100000"/>
              </a:lnSpc>
            </a:pPr>
            <a:r>
              <a:rPr lang="en-US" sz="975" spc="120">
                <a:solidFill>
                  <a:srgbClr val="97C459"/>
                </a:solidFill>
                <a:latin typeface="JetBrains Mono"/>
                <a:ea typeface="JetBrains Mono"/>
              </a:rPr>
              <a:t>A DYNAMIC MANIFEST</a:t>
            </a:r>
            <a:endParaRPr/>
          </a:p>
        </p:txBody>
      </p:sp>
      <p:sp>
        <p:nvSpPr>
          <p:cNvPr id="29" name="" descr="{&quot;isTemplate&quot;:true,&quot;type&quot;:&quot;text&quot;}"/>
          <p:cNvSpPr txBox="1"/>
          <p:nvPr/>
        </p:nvSpPr>
        <p:spPr>
          <a:xfrm rot="0" flipH="0" flipV="0">
            <a:off x="914400" y="1733550"/>
            <a:ext cx="2400300" cy="1095375"/>
          </a:xfrm>
          <a:prstGeom prst="rect"/>
        </p:spPr>
        <p:txBody>
          <a:bodyPr wrap="square" lIns="0" tIns="0" rIns="0" bIns="0">
            <a:normAutofit/>
          </a:bodyPr>
          <a:p>
            <a:pPr>
              <a:lnSpc>
                <a:spcPct val="145000"/>
              </a:lnSpc>
            </a:pPr>
            <a:r>
              <a:rPr lang="en-US" sz="1650" b="1">
                <a:solidFill>
                  <a:srgbClr val="FFFFFF"/>
                </a:solidFill>
                <a:latin typeface="Inter"/>
                <a:ea typeface="Inter"/>
              </a:rPr>
              <a:t>Ten tools, each declaring what it is allowed to do</a:t>
            </a:r>
            <a:endParaRPr/>
          </a:p>
        </p:txBody>
      </p:sp>
      <p:sp>
        <p:nvSpPr>
          <p:cNvPr id="30" name="" descr="{&quot;isTemplate&quot;:true,&quot;type&quot;:&quot;text&quot;}"/>
          <p:cNvSpPr txBox="1"/>
          <p:nvPr/>
        </p:nvSpPr>
        <p:spPr>
          <a:xfrm rot="0" flipH="0" flipV="0">
            <a:off x="914400" y="2981325"/>
            <a:ext cx="2400300" cy="1419225"/>
          </a:xfrm>
          <a:prstGeom prst="rect"/>
        </p:spPr>
        <p:txBody>
          <a:bodyPr wrap="square" lIns="0" tIns="0" rIns="0" bIns="0">
            <a:normAutofit/>
          </a:bodyPr>
          <a:p>
            <a:pPr>
              <a:lnSpc>
                <a:spcPct val="155000"/>
              </a:lnSpc>
            </a:pPr>
            <a:r>
              <a:rPr lang="en-US" sz="1200">
                <a:solidFill>
                  <a:srgbClr val="E1F5EE">
                    <a:alpha val="88000"/>
                  </a:srgbClr>
                </a:solidFill>
                <a:latin typeface="Inter"/>
                <a:ea typeface="Inter"/>
              </a:rPr>
              <a:t>Effect, blocking behaviour, scope and idempotency are declared once and enforced at dispatch. Nine tools can only read. Exactly one can write.</a:t>
            </a:r>
            <a:endParaRPr/>
          </a:p>
        </p:txBody>
      </p:sp>
      <p:sp>
        <p:nvSpPr>
          <p:cNvPr id="31" name=""/>
          <p:cNvSpPr/>
          <p:nvPr/>
        </p:nvSpPr>
        <p:spPr>
          <a:xfrm rot="0" flipH="0" flipV="0">
            <a:off x="914400" y="4638675"/>
            <a:ext cx="2400300" cy="9525"/>
          </a:xfrm>
          <a:prstGeom prst="rect">
            <a:avLst/>
          </a:prstGeom>
          <a:solidFill>
            <a:srgbClr val="E1F5EE">
              <a:alpha val="28000"/>
            </a:srgbClr>
          </a:solidFill>
          <a:ln/>
        </p:spPr>
        <p:txBody>
          <a:bodyPr/>
          <a:p/>
        </p:txBody>
      </p:sp>
      <p:sp>
        <p:nvSpPr>
          <p:cNvPr id="32" name="" descr="{&quot;isTemplate&quot;:true,&quot;type&quot;:&quot;text&quot;}"/>
          <p:cNvSpPr txBox="1"/>
          <p:nvPr/>
        </p:nvSpPr>
        <p:spPr>
          <a:xfrm rot="0" flipH="0" flipV="0">
            <a:off x="914400" y="4781550"/>
            <a:ext cx="2400300" cy="152400"/>
          </a:xfrm>
          <a:prstGeom prst="rect"/>
        </p:spPr>
        <p:txBody>
          <a:bodyPr wrap="none" lIns="0" tIns="0" rIns="0" bIns="0"/>
          <a:p>
            <a:pPr>
              <a:lnSpc>
                <a:spcPct val="100000"/>
              </a:lnSpc>
            </a:pPr>
            <a:r>
              <a:rPr lang="en-US" sz="975">
                <a:solidFill>
                  <a:srgbClr val="97C459"/>
                </a:solidFill>
                <a:latin typeface="JetBrains Mono"/>
                <a:ea typeface="JetBrains Mono"/>
              </a:rPr>
              <a:t>DRIFT GUARD</a:t>
            </a:r>
            <a:endParaRPr/>
          </a:p>
        </p:txBody>
      </p:sp>
      <p:sp>
        <p:nvSpPr>
          <p:cNvPr id="33" name="" descr="{&quot;isTemplate&quot;:true,&quot;type&quot;:&quot;text&quot;}"/>
          <p:cNvSpPr txBox="1"/>
          <p:nvPr/>
        </p:nvSpPr>
        <p:spPr>
          <a:xfrm rot="0" flipH="0" flipV="0">
            <a:off x="914400" y="4991100"/>
            <a:ext cx="2400300" cy="1028700"/>
          </a:xfrm>
          <a:prstGeom prst="rect"/>
        </p:spPr>
        <p:txBody>
          <a:bodyPr wrap="square" lIns="0" tIns="0" rIns="0" bIns="0">
            <a:normAutofit/>
          </a:bodyPr>
          <a:p>
            <a:pPr>
              <a:lnSpc>
                <a:spcPct val="150000"/>
              </a:lnSpc>
            </a:pPr>
            <a:r>
              <a:rPr lang="en-US" sz="1125">
                <a:solidFill>
                  <a:srgbClr val="E1F5EE">
                    <a:alpha val="82000"/>
                  </a:srgbClr>
                </a:solidFill>
                <a:latin typeface="Inter"/>
                <a:ea typeface="Inter"/>
              </a:rPr>
              <a:t>A test fails if any declared tool is missing from the system prompt, so the manifest and the instructions cannot drift apart.</a:t>
            </a:r>
            <a:endParaRPr/>
          </a:p>
        </p:txBody>
      </p:sp>
      <p:sp>
        <p:nvSpPr>
          <p:cNvPr id="34" name=""/>
          <p:cNvSpPr/>
          <p:nvPr/>
        </p:nvSpPr>
        <p:spPr>
          <a:xfrm rot="0" flipH="0" flipV="0">
            <a:off x="3867150" y="1143000"/>
            <a:ext cx="7639050" cy="2857500"/>
          </a:xfrm>
          <a:prstGeom prst="rect">
            <a:avLst/>
          </a:prstGeom>
          <a:ln w="12700">
            <a:solidFill>
              <a:srgbClr val="E1F5EE"/>
            </a:solidFill>
            <a:prstDash val="solid"/>
          </a:ln>
        </p:spPr>
        <p:txBody>
          <a:bodyPr/>
          <a:p/>
        </p:txBody>
      </p:sp>
      <p:sp>
        <p:nvSpPr>
          <p:cNvPr id="35" name="" descr="{&quot;isTemplate&quot;:true,&quot;type&quot;:&quot;text&quot;}"/>
          <p:cNvSpPr txBox="1"/>
          <p:nvPr/>
        </p:nvSpPr>
        <p:spPr>
          <a:xfrm rot="0" flipH="0" flipV="0">
            <a:off x="4095750" y="1333500"/>
            <a:ext cx="7181850" cy="152400"/>
          </a:xfrm>
          <a:prstGeom prst="rect"/>
        </p:spPr>
        <p:txBody>
          <a:bodyPr wrap="none" lIns="0" tIns="0" rIns="0" bIns="0"/>
          <a:p>
            <a:pPr>
              <a:lnSpc>
                <a:spcPct val="100000"/>
              </a:lnSpc>
            </a:pPr>
            <a:r>
              <a:rPr lang="en-US" sz="975" spc="113">
                <a:solidFill>
                  <a:srgbClr val="0F6E56"/>
                </a:solidFill>
                <a:latin typeface="JetBrains Mono"/>
                <a:ea typeface="JetBrains Mono"/>
              </a:rPr>
              <a:t>READ-ONLY · 9 TOOLS</a:t>
            </a:r>
            <a:endParaRPr/>
          </a:p>
        </p:txBody>
      </p:sp>
      <p:sp>
        <p:nvSpPr>
          <p:cNvPr id="36" name=""/>
          <p:cNvSpPr/>
          <p:nvPr/>
        </p:nvSpPr>
        <p:spPr>
          <a:xfrm rot="0" flipH="0" flipV="0">
            <a:off x="4095750" y="1619250"/>
            <a:ext cx="1390650" cy="295275"/>
          </a:xfrm>
          <a:prstGeom prst="roundRect">
            <a:avLst>
              <a:gd name="adj" fmla="val 12903"/>
            </a:avLst>
          </a:prstGeom>
          <a:solidFill>
            <a:srgbClr val="E1F5EE"/>
          </a:solidFill>
          <a:ln/>
        </p:spPr>
        <p:txBody>
          <a:bodyPr/>
          <a:p/>
        </p:txBody>
      </p:sp>
      <p:sp>
        <p:nvSpPr>
          <p:cNvPr id="37" name="" descr="{&quot;isTemplate&quot;:true,&quot;type&quot;:&quot;text&quot;}"/>
          <p:cNvSpPr txBox="1"/>
          <p:nvPr/>
        </p:nvSpPr>
        <p:spPr>
          <a:xfrm rot="0" flipH="0" flipV="0">
            <a:off x="4229100" y="1685925"/>
            <a:ext cx="1123950" cy="161925"/>
          </a:xfrm>
          <a:prstGeom prst="rect"/>
        </p:spPr>
        <p:txBody>
          <a:bodyPr wrap="none" lIns="0" tIns="0" rIns="0" bIns="0"/>
          <a:p>
            <a:pPr>
              <a:lnSpc>
                <a:spcPct val="100000"/>
              </a:lnSpc>
            </a:pPr>
            <a:r>
              <a:rPr lang="en-US" sz="1050">
                <a:solidFill>
                  <a:srgbClr val="04342C"/>
                </a:solidFill>
                <a:latin typeface="JetBrains Mono"/>
                <a:ea typeface="JetBrains Mono"/>
              </a:rPr>
              <a:t>search_candidates</a:t>
            </a:r>
            <a:endParaRPr/>
          </a:p>
        </p:txBody>
      </p:sp>
      <p:sp>
        <p:nvSpPr>
          <p:cNvPr id="38" name=""/>
          <p:cNvSpPr/>
          <p:nvPr/>
        </p:nvSpPr>
        <p:spPr>
          <a:xfrm rot="0" flipH="0" flipV="0">
            <a:off x="5581650" y="1619250"/>
            <a:ext cx="1343025" cy="295275"/>
          </a:xfrm>
          <a:prstGeom prst="roundRect">
            <a:avLst>
              <a:gd name="adj" fmla="val 12903"/>
            </a:avLst>
          </a:prstGeom>
          <a:solidFill>
            <a:srgbClr val="E1F5EE"/>
          </a:solidFill>
          <a:ln/>
        </p:spPr>
        <p:txBody>
          <a:bodyPr/>
          <a:p/>
        </p:txBody>
      </p:sp>
      <p:sp>
        <p:nvSpPr>
          <p:cNvPr id="39" name="" descr="{&quot;isTemplate&quot;:true,&quot;type&quot;:&quot;text&quot;}"/>
          <p:cNvSpPr txBox="1"/>
          <p:nvPr/>
        </p:nvSpPr>
        <p:spPr>
          <a:xfrm rot="0" flipH="0" flipV="0">
            <a:off x="5715000" y="1685925"/>
            <a:ext cx="1076325" cy="161925"/>
          </a:xfrm>
          <a:prstGeom prst="rect"/>
        </p:spPr>
        <p:txBody>
          <a:bodyPr wrap="none" lIns="0" tIns="0" rIns="0" bIns="0"/>
          <a:p>
            <a:pPr>
              <a:lnSpc>
                <a:spcPct val="100000"/>
              </a:lnSpc>
            </a:pPr>
            <a:r>
              <a:rPr lang="en-US" sz="1050">
                <a:solidFill>
                  <a:srgbClr val="04342C"/>
                </a:solidFill>
                <a:latin typeface="JetBrains Mono"/>
                <a:ea typeface="JetBrains Mono"/>
              </a:rPr>
              <a:t>inspect_candidate</a:t>
            </a:r>
            <a:endParaRPr/>
          </a:p>
        </p:txBody>
      </p:sp>
      <p:sp>
        <p:nvSpPr>
          <p:cNvPr id="40" name=""/>
          <p:cNvSpPr/>
          <p:nvPr/>
        </p:nvSpPr>
        <p:spPr>
          <a:xfrm rot="0" flipH="0" flipV="0">
            <a:off x="7019925" y="1619250"/>
            <a:ext cx="1504950" cy="295275"/>
          </a:xfrm>
          <a:prstGeom prst="roundRect">
            <a:avLst>
              <a:gd name="adj" fmla="val 12903"/>
            </a:avLst>
          </a:prstGeom>
          <a:solidFill>
            <a:srgbClr val="E1F5EE"/>
          </a:solidFill>
          <a:ln/>
        </p:spPr>
        <p:txBody>
          <a:bodyPr/>
          <a:p/>
        </p:txBody>
      </p:sp>
      <p:sp>
        <p:nvSpPr>
          <p:cNvPr id="41" name="" descr="{&quot;isTemplate&quot;:true,&quot;type&quot;:&quot;text&quot;}"/>
          <p:cNvSpPr txBox="1"/>
          <p:nvPr/>
        </p:nvSpPr>
        <p:spPr>
          <a:xfrm rot="0" flipH="0" flipV="0">
            <a:off x="7153275" y="1685925"/>
            <a:ext cx="1238250" cy="161925"/>
          </a:xfrm>
          <a:prstGeom prst="rect"/>
        </p:spPr>
        <p:txBody>
          <a:bodyPr wrap="none" lIns="0" tIns="0" rIns="0" bIns="0"/>
          <a:p>
            <a:pPr>
              <a:lnSpc>
                <a:spcPct val="100000"/>
              </a:lnSpc>
            </a:pPr>
            <a:r>
              <a:rPr lang="en-US" sz="1050">
                <a:solidFill>
                  <a:srgbClr val="04342C"/>
                </a:solidFill>
                <a:latin typeface="JetBrains Mono"/>
                <a:ea typeface="JetBrains Mono"/>
              </a:rPr>
              <a:t>compare_candidates</a:t>
            </a:r>
            <a:endParaRPr/>
          </a:p>
        </p:txBody>
      </p:sp>
      <p:sp>
        <p:nvSpPr>
          <p:cNvPr id="42" name=""/>
          <p:cNvSpPr/>
          <p:nvPr/>
        </p:nvSpPr>
        <p:spPr>
          <a:xfrm rot="0" flipH="0" flipV="0">
            <a:off x="8620125" y="1619250"/>
            <a:ext cx="800100" cy="295275"/>
          </a:xfrm>
          <a:prstGeom prst="roundRect">
            <a:avLst>
              <a:gd name="adj" fmla="val 12903"/>
            </a:avLst>
          </a:prstGeom>
          <a:solidFill>
            <a:srgbClr val="E1F5EE"/>
          </a:solidFill>
          <a:ln/>
        </p:spPr>
        <p:txBody>
          <a:bodyPr/>
          <a:p/>
        </p:txBody>
      </p:sp>
      <p:sp>
        <p:nvSpPr>
          <p:cNvPr id="43" name="" descr="{&quot;isTemplate&quot;:true,&quot;type&quot;:&quot;text&quot;}"/>
          <p:cNvSpPr txBox="1"/>
          <p:nvPr/>
        </p:nvSpPr>
        <p:spPr>
          <a:xfrm rot="0" flipH="0" flipV="0">
            <a:off x="8753475" y="1685925"/>
            <a:ext cx="533400" cy="161925"/>
          </a:xfrm>
          <a:prstGeom prst="rect"/>
        </p:spPr>
        <p:txBody>
          <a:bodyPr wrap="none" lIns="0" tIns="0" rIns="0" bIns="0"/>
          <a:p>
            <a:pPr>
              <a:lnSpc>
                <a:spcPct val="100000"/>
              </a:lnSpc>
            </a:pPr>
            <a:r>
              <a:rPr lang="en-US" sz="1050">
                <a:solidFill>
                  <a:srgbClr val="04342C"/>
                </a:solidFill>
                <a:latin typeface="JetBrains Mono"/>
                <a:ea typeface="JetBrains Mono"/>
              </a:rPr>
              <a:t>list_skills</a:t>
            </a:r>
            <a:endParaRPr/>
          </a:p>
        </p:txBody>
      </p:sp>
      <p:sp>
        <p:nvSpPr>
          <p:cNvPr id="44" name=""/>
          <p:cNvSpPr/>
          <p:nvPr/>
        </p:nvSpPr>
        <p:spPr>
          <a:xfrm rot="0" flipH="0" flipV="0">
            <a:off x="9515475" y="1619250"/>
            <a:ext cx="1219200" cy="295275"/>
          </a:xfrm>
          <a:prstGeom prst="roundRect">
            <a:avLst>
              <a:gd name="adj" fmla="val 12903"/>
            </a:avLst>
          </a:prstGeom>
          <a:solidFill>
            <a:srgbClr val="E1F5EE"/>
          </a:solidFill>
          <a:ln/>
        </p:spPr>
        <p:txBody>
          <a:bodyPr/>
          <a:p/>
        </p:txBody>
      </p:sp>
      <p:sp>
        <p:nvSpPr>
          <p:cNvPr id="45" name="" descr="{&quot;isTemplate&quot;:true,&quot;type&quot;:&quot;text&quot;}"/>
          <p:cNvSpPr txBox="1"/>
          <p:nvPr/>
        </p:nvSpPr>
        <p:spPr>
          <a:xfrm rot="0" flipH="0" flipV="0">
            <a:off x="9648825" y="1685925"/>
            <a:ext cx="952500" cy="161925"/>
          </a:xfrm>
          <a:prstGeom prst="rect"/>
        </p:spPr>
        <p:txBody>
          <a:bodyPr wrap="none" lIns="0" tIns="0" rIns="0" bIns="0"/>
          <a:p>
            <a:pPr>
              <a:lnSpc>
                <a:spcPct val="100000"/>
              </a:lnSpc>
            </a:pPr>
            <a:r>
              <a:rPr lang="en-US" sz="1050">
                <a:solidFill>
                  <a:srgbClr val="04342C"/>
                </a:solidFill>
                <a:latin typeface="JetBrains Mono"/>
                <a:ea typeface="JetBrains Mono"/>
              </a:rPr>
              <a:t>use_role_image</a:t>
            </a:r>
            <a:endParaRPr/>
          </a:p>
        </p:txBody>
      </p:sp>
      <p:sp>
        <p:nvSpPr>
          <p:cNvPr id="46" name=""/>
          <p:cNvSpPr/>
          <p:nvPr/>
        </p:nvSpPr>
        <p:spPr>
          <a:xfrm rot="0" flipH="0" flipV="0">
            <a:off x="4095750" y="2009775"/>
            <a:ext cx="1638300" cy="295275"/>
          </a:xfrm>
          <a:prstGeom prst="roundRect">
            <a:avLst>
              <a:gd name="adj" fmla="val 12903"/>
            </a:avLst>
          </a:prstGeom>
          <a:solidFill>
            <a:srgbClr val="E1F5EE"/>
          </a:solidFill>
          <a:ln/>
        </p:spPr>
        <p:txBody>
          <a:bodyPr/>
          <a:p/>
        </p:txBody>
      </p:sp>
      <p:sp>
        <p:nvSpPr>
          <p:cNvPr id="47" name="" descr="{&quot;isTemplate&quot;:true,&quot;type&quot;:&quot;text&quot;}"/>
          <p:cNvSpPr txBox="1"/>
          <p:nvPr/>
        </p:nvSpPr>
        <p:spPr>
          <a:xfrm rot="0" flipH="0" flipV="0">
            <a:off x="4229100" y="2076450"/>
            <a:ext cx="1371600" cy="161925"/>
          </a:xfrm>
          <a:prstGeom prst="rect"/>
        </p:spPr>
        <p:txBody>
          <a:bodyPr wrap="none" lIns="0" tIns="0" rIns="0" bIns="0"/>
          <a:p>
            <a:pPr>
              <a:lnSpc>
                <a:spcPct val="100000"/>
              </a:lnSpc>
            </a:pPr>
            <a:r>
              <a:rPr lang="en-US" sz="1050">
                <a:solidFill>
                  <a:srgbClr val="04342C"/>
                </a:solidFill>
                <a:latin typeface="JetBrains Mono"/>
                <a:ea typeface="JetBrains Mono"/>
              </a:rPr>
              <a:t>format_current_answer</a:t>
            </a:r>
            <a:endParaRPr/>
          </a:p>
        </p:txBody>
      </p:sp>
      <p:sp>
        <p:nvSpPr>
          <p:cNvPr id="48" name=""/>
          <p:cNvSpPr/>
          <p:nvPr/>
        </p:nvSpPr>
        <p:spPr>
          <a:xfrm rot="0" flipH="0" flipV="0">
            <a:off x="5829300" y="2009775"/>
            <a:ext cx="1238250" cy="295275"/>
          </a:xfrm>
          <a:prstGeom prst="roundRect">
            <a:avLst>
              <a:gd name="adj" fmla="val 12903"/>
            </a:avLst>
          </a:prstGeom>
          <a:solidFill>
            <a:srgbClr val="E1F5EE"/>
          </a:solidFill>
          <a:ln/>
        </p:spPr>
        <p:txBody>
          <a:bodyPr/>
          <a:p/>
        </p:txBody>
      </p:sp>
      <p:sp>
        <p:nvSpPr>
          <p:cNvPr id="49" name="" descr="{&quot;isTemplate&quot;:true,&quot;type&quot;:&quot;text&quot;}"/>
          <p:cNvSpPr txBox="1"/>
          <p:nvPr/>
        </p:nvSpPr>
        <p:spPr>
          <a:xfrm rot="0" flipH="0" flipV="0">
            <a:off x="5962650" y="2076450"/>
            <a:ext cx="971550" cy="161925"/>
          </a:xfrm>
          <a:prstGeom prst="rect"/>
        </p:spPr>
        <p:txBody>
          <a:bodyPr wrap="none" lIns="0" tIns="0" rIns="0" bIns="0"/>
          <a:p>
            <a:pPr>
              <a:lnSpc>
                <a:spcPct val="100000"/>
              </a:lnSpc>
            </a:pPr>
            <a:r>
              <a:rPr lang="en-US" sz="1050">
                <a:solidFill>
                  <a:srgbClr val="04342C"/>
                </a:solidFill>
                <a:latin typeface="JetBrains Mono"/>
                <a:ea typeface="JetBrains Mono"/>
              </a:rPr>
              <a:t>interrupt_search</a:t>
            </a:r>
            <a:endParaRPr/>
          </a:p>
        </p:txBody>
      </p:sp>
      <p:sp>
        <p:nvSpPr>
          <p:cNvPr id="50" name=""/>
          <p:cNvSpPr/>
          <p:nvPr/>
        </p:nvSpPr>
        <p:spPr>
          <a:xfrm rot="0" flipH="0" flipV="0">
            <a:off x="7162800" y="2009775"/>
            <a:ext cx="1571625" cy="295275"/>
          </a:xfrm>
          <a:prstGeom prst="roundRect">
            <a:avLst>
              <a:gd name="adj" fmla="val 12903"/>
            </a:avLst>
          </a:prstGeom>
          <a:solidFill>
            <a:srgbClr val="E1F5EE"/>
          </a:solidFill>
          <a:ln/>
        </p:spPr>
        <p:txBody>
          <a:bodyPr/>
          <a:p/>
        </p:txBody>
      </p:sp>
      <p:sp>
        <p:nvSpPr>
          <p:cNvPr id="51" name="" descr="{&quot;isTemplate&quot;:true,&quot;type&quot;:&quot;text&quot;}"/>
          <p:cNvSpPr txBox="1"/>
          <p:nvPr/>
        </p:nvSpPr>
        <p:spPr>
          <a:xfrm rot="0" flipH="0" flipV="0">
            <a:off x="7296150" y="2076450"/>
            <a:ext cx="1304925" cy="161925"/>
          </a:xfrm>
          <a:prstGeom prst="rect"/>
        </p:spPr>
        <p:txBody>
          <a:bodyPr wrap="none" lIns="0" tIns="0" rIns="0" bIns="0"/>
          <a:p>
            <a:pPr>
              <a:lnSpc>
                <a:spcPct val="100000"/>
              </a:lnSpc>
            </a:pPr>
            <a:r>
              <a:rPr lang="en-US" sz="1050">
                <a:solidFill>
                  <a:srgbClr val="04342C"/>
                </a:solidFill>
                <a:latin typeface="JetBrains Mono"/>
                <a:ea typeface="JetBrains Mono"/>
              </a:rPr>
              <a:t>cancel_current_action</a:t>
            </a:r>
            <a:endParaRPr/>
          </a:p>
        </p:txBody>
      </p:sp>
      <p:sp>
        <p:nvSpPr>
          <p:cNvPr id="52" name=""/>
          <p:cNvSpPr/>
          <p:nvPr/>
        </p:nvSpPr>
        <p:spPr>
          <a:xfrm rot="0" flipH="0" flipV="0">
            <a:off x="8829675" y="2009775"/>
            <a:ext cx="1457325" cy="295275"/>
          </a:xfrm>
          <a:prstGeom prst="roundRect">
            <a:avLst>
              <a:gd name="adj" fmla="val 12903"/>
            </a:avLst>
          </a:prstGeom>
          <a:solidFill>
            <a:srgbClr val="E1F5EE"/>
          </a:solidFill>
          <a:ln/>
        </p:spPr>
        <p:txBody>
          <a:bodyPr/>
          <a:p/>
        </p:txBody>
      </p:sp>
      <p:sp>
        <p:nvSpPr>
          <p:cNvPr id="53" name="" descr="{&quot;isTemplate&quot;:true,&quot;type&quot;:&quot;text&quot;}"/>
          <p:cNvSpPr txBox="1"/>
          <p:nvPr/>
        </p:nvSpPr>
        <p:spPr>
          <a:xfrm rot="0" flipH="0" flipV="0">
            <a:off x="8963025" y="2076450"/>
            <a:ext cx="1190625" cy="161925"/>
          </a:xfrm>
          <a:prstGeom prst="rect"/>
        </p:spPr>
        <p:txBody>
          <a:bodyPr wrap="none" lIns="0" tIns="0" rIns="0" bIns="0"/>
          <a:p>
            <a:pPr>
              <a:lnSpc>
                <a:spcPct val="100000"/>
              </a:lnSpc>
            </a:pPr>
            <a:r>
              <a:rPr lang="en-US" sz="1050">
                <a:solidFill>
                  <a:srgbClr val="04342C"/>
                </a:solidFill>
                <a:latin typeface="JetBrains Mono"/>
                <a:ea typeface="JetBrains Mono"/>
              </a:rPr>
              <a:t>request_clarification</a:t>
            </a:r>
            <a:endParaRPr/>
          </a:p>
        </p:txBody>
      </p:sp>
      <p:sp>
        <p:nvSpPr>
          <p:cNvPr id="54" name=""/>
          <p:cNvSpPr/>
          <p:nvPr/>
        </p:nvSpPr>
        <p:spPr>
          <a:xfrm rot="0" flipH="0" flipV="0">
            <a:off x="4095750" y="3000375"/>
            <a:ext cx="7181850" cy="9525"/>
          </a:xfrm>
          <a:prstGeom prst="rect">
            <a:avLst/>
          </a:prstGeom>
          <a:solidFill>
            <a:srgbClr val="E1F5EE"/>
          </a:solidFill>
          <a:ln/>
        </p:spPr>
        <p:txBody>
          <a:bodyPr/>
          <a:p/>
        </p:txBody>
      </p:sp>
      <p:sp>
        <p:nvSpPr>
          <p:cNvPr id="55" name="" descr="{&quot;isTemplate&quot;:true,&quot;type&quot;:&quot;text&quot;}"/>
          <p:cNvSpPr txBox="1"/>
          <p:nvPr/>
        </p:nvSpPr>
        <p:spPr>
          <a:xfrm rot="0" flipH="0" flipV="0">
            <a:off x="4095750" y="3181350"/>
            <a:ext cx="7181850" cy="152400"/>
          </a:xfrm>
          <a:prstGeom prst="rect"/>
        </p:spPr>
        <p:txBody>
          <a:bodyPr wrap="none" lIns="0" tIns="0" rIns="0" bIns="0"/>
          <a:p>
            <a:pPr>
              <a:lnSpc>
                <a:spcPct val="100000"/>
              </a:lnSpc>
            </a:pPr>
            <a:r>
              <a:rPr lang="en-US" sz="975" spc="113">
                <a:solidFill>
                  <a:srgbClr val="0F6E56"/>
                </a:solidFill>
                <a:latin typeface="JetBrains Mono"/>
                <a:ea typeface="JetBrains Mono"/>
              </a:rPr>
              <a:t>STATE-MODIFYING · 1 TOOL</a:t>
            </a:r>
            <a:endParaRPr/>
          </a:p>
        </p:txBody>
      </p:sp>
      <p:sp>
        <p:nvSpPr>
          <p:cNvPr id="56" name=""/>
          <p:cNvSpPr/>
          <p:nvPr/>
        </p:nvSpPr>
        <p:spPr>
          <a:xfrm rot="0" flipH="0" flipV="0">
            <a:off x="4095750" y="3467100"/>
            <a:ext cx="1419225" cy="342900"/>
          </a:xfrm>
          <a:prstGeom prst="roundRect">
            <a:avLst>
              <a:gd name="adj" fmla="val 11111"/>
            </a:avLst>
          </a:prstGeom>
          <a:solidFill>
            <a:srgbClr val="04342C"/>
          </a:solidFill>
          <a:ln/>
        </p:spPr>
        <p:txBody>
          <a:bodyPr/>
          <a:p/>
        </p:txBody>
      </p:sp>
      <p:sp>
        <p:nvSpPr>
          <p:cNvPr id="57" name="" descr="{&quot;isTemplate&quot;:true,&quot;type&quot;:&quot;text&quot;}"/>
          <p:cNvSpPr txBox="1"/>
          <p:nvPr/>
        </p:nvSpPr>
        <p:spPr>
          <a:xfrm rot="0" flipH="0" flipV="0">
            <a:off x="4248150" y="3552825"/>
            <a:ext cx="1114425" cy="171450"/>
          </a:xfrm>
          <a:prstGeom prst="rect"/>
        </p:spPr>
        <p:txBody>
          <a:bodyPr wrap="none" lIns="0" tIns="0" rIns="0" bIns="0"/>
          <a:p>
            <a:pPr>
              <a:lnSpc>
                <a:spcPct val="100000"/>
              </a:lnSpc>
            </a:pPr>
            <a:r>
              <a:rPr lang="en-US" sz="1125" b="1">
                <a:solidFill>
                  <a:srgbClr val="97C459"/>
                </a:solidFill>
                <a:latin typeface="JetBrains Mono"/>
                <a:ea typeface="JetBrains Mono"/>
              </a:rPr>
              <a:t>add_to_shortlist</a:t>
            </a:r>
            <a:endParaRPr/>
          </a:p>
        </p:txBody>
      </p:sp>
      <p:sp>
        <p:nvSpPr>
          <p:cNvPr id="58" name="" descr="{&quot;isTemplate&quot;:true,&quot;type&quot;:&quot;text&quot;}"/>
          <p:cNvSpPr txBox="1"/>
          <p:nvPr/>
        </p:nvSpPr>
        <p:spPr>
          <a:xfrm rot="0" flipH="0" flipV="0">
            <a:off x="5667375" y="3552825"/>
            <a:ext cx="5610225" cy="180975"/>
          </a:xfrm>
          <a:prstGeom prst="rect"/>
        </p:spPr>
        <p:txBody>
          <a:bodyPr wrap="none" lIns="0" tIns="0" rIns="0" bIns="0"/>
          <a:p>
            <a:pPr>
              <a:lnSpc>
                <a:spcPct val="100000"/>
              </a:lnSpc>
            </a:pPr>
            <a:r>
              <a:rPr lang="en-US" sz="1163">
                <a:solidFill>
                  <a:srgbClr val="6B7280"/>
                </a:solidFill>
                <a:latin typeface="Inter"/>
                <a:ea typeface="Inter"/>
              </a:rPr>
              <a:t>Idempotency key · scope supersession · recorded in the effect log</a:t>
            </a:r>
            <a:endParaRPr/>
          </a:p>
        </p:txBody>
      </p:sp>
      <p:sp>
        <p:nvSpPr>
          <p:cNvPr id="59" name=""/>
          <p:cNvSpPr/>
          <p:nvPr/>
        </p:nvSpPr>
        <p:spPr>
          <a:xfrm rot="0" flipH="0" flipV="0">
            <a:off x="3867150" y="4229100"/>
            <a:ext cx="7639050" cy="257175"/>
          </a:xfrm>
          <a:custGeom>
            <a:pathLst>
              <a:path w="802" h="27">
                <a:moveTo>
                  <a:pt x="0" y="25"/>
                </a:moveTo>
                <a:lnTo>
                  <a:pt x="802" y="25"/>
                </a:lnTo>
                <a:lnTo>
                  <a:pt x="802" y="27"/>
                </a:lnTo>
                <a:lnTo>
                  <a:pt x="0" y="27"/>
                </a:lnTo>
                <a:close/>
              </a:path>
            </a:pathLst>
          </a:custGeom>
          <a:solidFill>
            <a:srgbClr val="04342C"/>
          </a:solidFill>
          <a:ln/>
        </p:spPr>
        <p:txBody>
          <a:bodyPr/>
          <a:p/>
        </p:txBody>
      </p:sp>
      <p:sp>
        <p:nvSpPr>
          <p:cNvPr id="60" name="" descr="{&quot;isTemplate&quot;:true,&quot;type&quot;:&quot;text&quot;}"/>
          <p:cNvSpPr txBox="1"/>
          <p:nvPr/>
        </p:nvSpPr>
        <p:spPr>
          <a:xfrm rot="0" flipH="0" flipV="0">
            <a:off x="3867150" y="4229100"/>
            <a:ext cx="1428750" cy="142875"/>
          </a:xfrm>
          <a:prstGeom prst="rect"/>
        </p:spPr>
        <p:txBody>
          <a:bodyPr wrap="none" lIns="0" tIns="0" rIns="0" bIns="0"/>
          <a:p>
            <a:pPr>
              <a:lnSpc>
                <a:spcPct val="100000"/>
              </a:lnSpc>
            </a:pPr>
            <a:r>
              <a:rPr lang="en-US" sz="900" spc="113">
                <a:solidFill>
                  <a:srgbClr val="6B7280"/>
                </a:solidFill>
                <a:latin typeface="JetBrains Mono"/>
                <a:ea typeface="JetBrains Mono"/>
              </a:rPr>
              <a:t>LAYER</a:t>
            </a:r>
            <a:endParaRPr/>
          </a:p>
        </p:txBody>
      </p:sp>
      <p:sp>
        <p:nvSpPr>
          <p:cNvPr id="61" name="" descr="{&quot;isTemplate&quot;:true,&quot;type&quot;:&quot;text&quot;}"/>
          <p:cNvSpPr txBox="1"/>
          <p:nvPr/>
        </p:nvSpPr>
        <p:spPr>
          <a:xfrm rot="0" flipH="0" flipV="0">
            <a:off x="5295900" y="4229100"/>
            <a:ext cx="6210300" cy="142875"/>
          </a:xfrm>
          <a:prstGeom prst="rect"/>
        </p:spPr>
        <p:txBody>
          <a:bodyPr wrap="none" lIns="114300" tIns="0" rIns="0" bIns="0"/>
          <a:p>
            <a:pPr>
              <a:lnSpc>
                <a:spcPct val="100000"/>
              </a:lnSpc>
            </a:pPr>
            <a:r>
              <a:rPr lang="en-US" sz="900" spc="113">
                <a:solidFill>
                  <a:srgbClr val="6B7280"/>
                </a:solidFill>
                <a:latin typeface="JetBrains Mono"/>
                <a:ea typeface="JetBrains Mono"/>
              </a:rPr>
              <a:t>WHAT WE USE</a:t>
            </a:r>
            <a:endParaRPr/>
          </a:p>
        </p:txBody>
      </p:sp>
      <p:sp>
        <p:nvSpPr>
          <p:cNvPr id="62" name=""/>
          <p:cNvSpPr/>
          <p:nvPr/>
        </p:nvSpPr>
        <p:spPr>
          <a:xfrm rot="0" flipH="0" flipV="0">
            <a:off x="3867150" y="4467225"/>
            <a:ext cx="7639050" cy="361950"/>
          </a:xfrm>
          <a:custGeom>
            <a:pathLst>
              <a:path w="802" h="38">
                <a:moveTo>
                  <a:pt x="0" y="37"/>
                </a:moveTo>
                <a:lnTo>
                  <a:pt x="802" y="37"/>
                </a:lnTo>
                <a:lnTo>
                  <a:pt x="802" y="38"/>
                </a:lnTo>
                <a:lnTo>
                  <a:pt x="0" y="38"/>
                </a:lnTo>
                <a:close/>
              </a:path>
            </a:pathLst>
          </a:custGeom>
          <a:solidFill>
            <a:srgbClr val="E1F5EE"/>
          </a:solidFill>
          <a:ln/>
        </p:spPr>
        <p:txBody>
          <a:bodyPr/>
          <a:p/>
        </p:txBody>
      </p:sp>
      <p:sp>
        <p:nvSpPr>
          <p:cNvPr id="63" name="" descr="{&quot;isTemplate&quot;:true,&quot;type&quot;:&quot;text&quot;}"/>
          <p:cNvSpPr txBox="1"/>
          <p:nvPr/>
        </p:nvSpPr>
        <p:spPr>
          <a:xfrm rot="0" flipH="0" flipV="0">
            <a:off x="3867150" y="4562475"/>
            <a:ext cx="1428750" cy="171450"/>
          </a:xfrm>
          <a:prstGeom prst="rect"/>
        </p:spPr>
        <p:txBody>
          <a:bodyPr wrap="none" lIns="0" tIns="0" rIns="0" bIns="0"/>
          <a:p>
            <a:pPr>
              <a:lnSpc>
                <a:spcPct val="100000"/>
              </a:lnSpc>
            </a:pPr>
            <a:r>
              <a:rPr lang="en-US" sz="1125" b="1">
                <a:solidFill>
                  <a:srgbClr val="0B1F1A"/>
                </a:solidFill>
                <a:latin typeface="Inter"/>
                <a:ea typeface="Inter"/>
              </a:rPr>
              <a:t>Transport</a:t>
            </a:r>
            <a:endParaRPr/>
          </a:p>
        </p:txBody>
      </p:sp>
      <p:sp>
        <p:nvSpPr>
          <p:cNvPr id="64" name="" descr="{&quot;isTemplate&quot;:true,&quot;type&quot;:&quot;text&quot;}"/>
          <p:cNvSpPr txBox="1"/>
          <p:nvPr/>
        </p:nvSpPr>
        <p:spPr>
          <a:xfrm rot="0" flipH="0" flipV="0">
            <a:off x="5295900" y="4562475"/>
            <a:ext cx="6210300" cy="171450"/>
          </a:xfrm>
          <a:prstGeom prst="rect"/>
        </p:spPr>
        <p:txBody>
          <a:bodyPr wrap="none" lIns="114300" tIns="0" rIns="0" bIns="0"/>
          <a:p>
            <a:pPr>
              <a:lnSpc>
                <a:spcPct val="100000"/>
              </a:lnSpc>
            </a:pPr>
            <a:r>
              <a:rPr lang="en-US" sz="1125">
                <a:solidFill>
                  <a:srgbClr val="6B7280"/>
                </a:solidFill>
                <a:latin typeface="Inter"/>
                <a:ea typeface="Inter"/>
              </a:rPr>
              <a:t>Gemini Live (full duplex) · FastAPI · Uvicorn</a:t>
            </a:r>
            <a:endParaRPr/>
          </a:p>
        </p:txBody>
      </p:sp>
      <p:sp>
        <p:nvSpPr>
          <p:cNvPr id="65" name=""/>
          <p:cNvSpPr/>
          <p:nvPr/>
        </p:nvSpPr>
        <p:spPr>
          <a:xfrm rot="0" flipH="0" flipV="0">
            <a:off x="3867150" y="4829175"/>
            <a:ext cx="7639050" cy="361950"/>
          </a:xfrm>
          <a:custGeom>
            <a:pathLst>
              <a:path w="802" h="38">
                <a:moveTo>
                  <a:pt x="0" y="37"/>
                </a:moveTo>
                <a:lnTo>
                  <a:pt x="802" y="37"/>
                </a:lnTo>
                <a:lnTo>
                  <a:pt x="802" y="38"/>
                </a:lnTo>
                <a:lnTo>
                  <a:pt x="0" y="38"/>
                </a:lnTo>
                <a:close/>
              </a:path>
            </a:pathLst>
          </a:custGeom>
          <a:solidFill>
            <a:srgbClr val="E1F5EE"/>
          </a:solidFill>
          <a:ln/>
        </p:spPr>
        <p:txBody>
          <a:bodyPr/>
          <a:p/>
        </p:txBody>
      </p:sp>
      <p:sp>
        <p:nvSpPr>
          <p:cNvPr id="66" name="" descr="{&quot;isTemplate&quot;:true,&quot;type&quot;:&quot;text&quot;}"/>
          <p:cNvSpPr txBox="1"/>
          <p:nvPr/>
        </p:nvSpPr>
        <p:spPr>
          <a:xfrm rot="0" flipH="0" flipV="0">
            <a:off x="3867150" y="4924425"/>
            <a:ext cx="1428750" cy="171450"/>
          </a:xfrm>
          <a:prstGeom prst="rect"/>
        </p:spPr>
        <p:txBody>
          <a:bodyPr wrap="none" lIns="0" tIns="0" rIns="0" bIns="0"/>
          <a:p>
            <a:pPr>
              <a:lnSpc>
                <a:spcPct val="100000"/>
              </a:lnSpc>
            </a:pPr>
            <a:r>
              <a:rPr lang="en-US" sz="1125" b="1">
                <a:solidFill>
                  <a:srgbClr val="0B1F1A"/>
                </a:solidFill>
                <a:latin typeface="Inter"/>
                <a:ea typeface="Inter"/>
              </a:rPr>
              <a:t>Data</a:t>
            </a:r>
            <a:endParaRPr/>
          </a:p>
        </p:txBody>
      </p:sp>
      <p:sp>
        <p:nvSpPr>
          <p:cNvPr id="67" name="" descr="{&quot;isTemplate&quot;:true,&quot;type&quot;:&quot;text&quot;}"/>
          <p:cNvSpPr txBox="1"/>
          <p:nvPr/>
        </p:nvSpPr>
        <p:spPr>
          <a:xfrm rot="0" flipH="0" flipV="0">
            <a:off x="5295900" y="4924425"/>
            <a:ext cx="6210300" cy="171450"/>
          </a:xfrm>
          <a:prstGeom prst="rect"/>
        </p:spPr>
        <p:txBody>
          <a:bodyPr wrap="none" lIns="114300" tIns="0" rIns="0" bIns="0"/>
          <a:p>
            <a:pPr>
              <a:lnSpc>
                <a:spcPct val="100000"/>
              </a:lnSpc>
            </a:pPr>
            <a:r>
              <a:rPr lang="en-US" sz="1125">
                <a:solidFill>
                  <a:srgbClr val="6B7280"/>
                </a:solidFill>
                <a:latin typeface="Inter"/>
                <a:ea typeface="Inter"/>
              </a:rPr>
              <a:t>PostgreSQL 17 + pgvector · PgBouncer · Redis 7</a:t>
            </a:r>
            <a:endParaRPr/>
          </a:p>
        </p:txBody>
      </p:sp>
      <p:sp>
        <p:nvSpPr>
          <p:cNvPr id="68" name=""/>
          <p:cNvSpPr/>
          <p:nvPr/>
        </p:nvSpPr>
        <p:spPr>
          <a:xfrm rot="0" flipH="0" flipV="0">
            <a:off x="3867150" y="5191125"/>
            <a:ext cx="7639050" cy="361950"/>
          </a:xfrm>
          <a:custGeom>
            <a:pathLst>
              <a:path w="802" h="38">
                <a:moveTo>
                  <a:pt x="0" y="37"/>
                </a:moveTo>
                <a:lnTo>
                  <a:pt x="802" y="37"/>
                </a:lnTo>
                <a:lnTo>
                  <a:pt x="802" y="38"/>
                </a:lnTo>
                <a:lnTo>
                  <a:pt x="0" y="38"/>
                </a:lnTo>
                <a:close/>
              </a:path>
            </a:pathLst>
          </a:custGeom>
          <a:solidFill>
            <a:srgbClr val="E1F5EE"/>
          </a:solidFill>
          <a:ln/>
        </p:spPr>
        <p:txBody>
          <a:bodyPr/>
          <a:p/>
        </p:txBody>
      </p:sp>
      <p:sp>
        <p:nvSpPr>
          <p:cNvPr id="69" name="" descr="{&quot;isTemplate&quot;:true,&quot;type&quot;:&quot;text&quot;}"/>
          <p:cNvSpPr txBox="1"/>
          <p:nvPr/>
        </p:nvSpPr>
        <p:spPr>
          <a:xfrm rot="0" flipH="0" flipV="0">
            <a:off x="3867150" y="5286375"/>
            <a:ext cx="1428750" cy="171450"/>
          </a:xfrm>
          <a:prstGeom prst="rect"/>
        </p:spPr>
        <p:txBody>
          <a:bodyPr wrap="none" lIns="0" tIns="0" rIns="0" bIns="0"/>
          <a:p>
            <a:pPr>
              <a:lnSpc>
                <a:spcPct val="100000"/>
              </a:lnSpc>
            </a:pPr>
            <a:r>
              <a:rPr lang="en-US" sz="1125" b="1">
                <a:solidFill>
                  <a:srgbClr val="0B1F1A"/>
                </a:solidFill>
                <a:latin typeface="Inter"/>
                <a:ea typeface="Inter"/>
              </a:rPr>
              <a:t>Retrieval</a:t>
            </a:r>
            <a:endParaRPr/>
          </a:p>
        </p:txBody>
      </p:sp>
      <p:sp>
        <p:nvSpPr>
          <p:cNvPr id="70" name="" descr="{&quot;isTemplate&quot;:true,&quot;type&quot;:&quot;text&quot;}"/>
          <p:cNvSpPr txBox="1"/>
          <p:nvPr/>
        </p:nvSpPr>
        <p:spPr>
          <a:xfrm rot="0" flipH="0" flipV="0">
            <a:off x="5295900" y="5286375"/>
            <a:ext cx="6210300" cy="171450"/>
          </a:xfrm>
          <a:prstGeom prst="rect"/>
        </p:spPr>
        <p:txBody>
          <a:bodyPr wrap="none" lIns="114300" tIns="0" rIns="0" bIns="0"/>
          <a:p>
            <a:pPr>
              <a:lnSpc>
                <a:spcPct val="100000"/>
              </a:lnSpc>
            </a:pPr>
            <a:r>
              <a:rPr lang="en-US" sz="1125">
                <a:solidFill>
                  <a:srgbClr val="6B7280"/>
                </a:solidFill>
                <a:latin typeface="Inter"/>
                <a:ea typeface="Inter"/>
              </a:rPr>
              <a:t>vector + BM25 + SQL + skills · RRF fusion · rerank</a:t>
            </a:r>
            <a:endParaRPr/>
          </a:p>
        </p:txBody>
      </p:sp>
      <p:sp>
        <p:nvSpPr>
          <p:cNvPr id="71" name=""/>
          <p:cNvSpPr/>
          <p:nvPr/>
        </p:nvSpPr>
        <p:spPr>
          <a:xfrm rot="0" flipH="0" flipV="0">
            <a:off x="3867150" y="5553075"/>
            <a:ext cx="7639050" cy="361950"/>
          </a:xfrm>
          <a:custGeom>
            <a:pathLst>
              <a:path w="802" h="38">
                <a:moveTo>
                  <a:pt x="0" y="37"/>
                </a:moveTo>
                <a:lnTo>
                  <a:pt x="802" y="37"/>
                </a:lnTo>
                <a:lnTo>
                  <a:pt x="802" y="38"/>
                </a:lnTo>
                <a:lnTo>
                  <a:pt x="0" y="38"/>
                </a:lnTo>
                <a:close/>
              </a:path>
            </a:pathLst>
          </a:custGeom>
          <a:solidFill>
            <a:srgbClr val="E1F5EE"/>
          </a:solidFill>
          <a:ln/>
        </p:spPr>
        <p:txBody>
          <a:bodyPr/>
          <a:p/>
        </p:txBody>
      </p:sp>
      <p:sp>
        <p:nvSpPr>
          <p:cNvPr id="72" name="" descr="{&quot;isTemplate&quot;:true,&quot;type&quot;:&quot;text&quot;}"/>
          <p:cNvSpPr txBox="1"/>
          <p:nvPr/>
        </p:nvSpPr>
        <p:spPr>
          <a:xfrm rot="0" flipH="0" flipV="0">
            <a:off x="3867150" y="5648325"/>
            <a:ext cx="1428750" cy="171450"/>
          </a:xfrm>
          <a:prstGeom prst="rect"/>
        </p:spPr>
        <p:txBody>
          <a:bodyPr wrap="none" lIns="0" tIns="0" rIns="0" bIns="0"/>
          <a:p>
            <a:pPr>
              <a:lnSpc>
                <a:spcPct val="100000"/>
              </a:lnSpc>
            </a:pPr>
            <a:r>
              <a:rPr lang="en-US" sz="1125" b="1">
                <a:solidFill>
                  <a:srgbClr val="0B1F1A"/>
                </a:solidFill>
                <a:latin typeface="Inter"/>
                <a:ea typeface="Inter"/>
              </a:rPr>
              <a:t>Runtime</a:t>
            </a:r>
            <a:endParaRPr/>
          </a:p>
        </p:txBody>
      </p:sp>
      <p:sp>
        <p:nvSpPr>
          <p:cNvPr id="73" name="" descr="{&quot;isTemplate&quot;:true,&quot;type&quot;:&quot;text&quot;}"/>
          <p:cNvSpPr txBox="1"/>
          <p:nvPr/>
        </p:nvSpPr>
        <p:spPr>
          <a:xfrm rot="0" flipH="0" flipV="0">
            <a:off x="5295900" y="5648325"/>
            <a:ext cx="6210300" cy="171450"/>
          </a:xfrm>
          <a:prstGeom prst="rect"/>
        </p:spPr>
        <p:txBody>
          <a:bodyPr wrap="none" lIns="114300" tIns="0" rIns="0" bIns="0"/>
          <a:p>
            <a:pPr>
              <a:lnSpc>
                <a:spcPct val="100000"/>
              </a:lnSpc>
            </a:pPr>
            <a:r>
              <a:rPr lang="en-US" sz="1125">
                <a:solidFill>
                  <a:srgbClr val="6B7280"/>
                </a:solidFill>
                <a:latin typeface="Inter"/>
                <a:ea typeface="Inter"/>
              </a:rPr>
              <a:t>Python 3.13 · pydantic v2 · Docker Compose</a:t>
            </a:r>
            <a:endParaRPr/>
          </a:p>
        </p:txBody>
      </p:sp>
      <p:sp>
        <p:nvSpPr>
          <p:cNvPr id="74" name="" descr="{&quot;isTemplate&quot;:true,&quot;type&quot;:&quot;text&quot;}"/>
          <p:cNvSpPr txBox="1"/>
          <p:nvPr/>
        </p:nvSpPr>
        <p:spPr>
          <a:xfrm rot="0" flipH="0" flipV="0">
            <a:off x="3867150" y="6010275"/>
            <a:ext cx="1428750" cy="171450"/>
          </a:xfrm>
          <a:prstGeom prst="rect"/>
        </p:spPr>
        <p:txBody>
          <a:bodyPr wrap="none" lIns="0" tIns="0" rIns="0" bIns="0"/>
          <a:p>
            <a:pPr>
              <a:lnSpc>
                <a:spcPct val="100000"/>
              </a:lnSpc>
            </a:pPr>
            <a:r>
              <a:rPr lang="en-US" sz="1125" b="1">
                <a:solidFill>
                  <a:srgbClr val="0B1F1A"/>
                </a:solidFill>
                <a:latin typeface="Inter"/>
                <a:ea typeface="Inter"/>
              </a:rPr>
              <a:t>Verification</a:t>
            </a:r>
            <a:endParaRPr/>
          </a:p>
        </p:txBody>
      </p:sp>
      <p:sp>
        <p:nvSpPr>
          <p:cNvPr id="75" name="" descr="{&quot;isTemplate&quot;:true,&quot;type&quot;:&quot;text&quot;}"/>
          <p:cNvSpPr txBox="1"/>
          <p:nvPr/>
        </p:nvSpPr>
        <p:spPr>
          <a:xfrm rot="0" flipH="0" flipV="0">
            <a:off x="5295900" y="6010275"/>
            <a:ext cx="6210300" cy="171450"/>
          </a:xfrm>
          <a:prstGeom prst="rect"/>
        </p:spPr>
        <p:txBody>
          <a:bodyPr wrap="none" lIns="114300" tIns="0" rIns="0" bIns="0"/>
          <a:p>
            <a:pPr>
              <a:lnSpc>
                <a:spcPct val="100000"/>
              </a:lnSpc>
            </a:pPr>
            <a:r>
              <a:rPr lang="en-US" sz="1125">
                <a:solidFill>
                  <a:srgbClr val="6B7280"/>
                </a:solidFill>
                <a:latin typeface="Inter"/>
                <a:ea typeface="Inter"/>
              </a:rPr>
              <a:t>pytest · pytest-asyncio · ruff · jsdom</a:t>
            </a:r>
            <a:endParaRPr/>
          </a:p>
        </p:txBody>
      </p:sp>
      <p:sp>
        <p:nvSpPr>
          <p:cNvPr id="76"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77" name="" descr="{&quot;isTemplate&quot;:true,&quot;type&quot;:&quot;text&quot;}"/>
          <p:cNvSpPr txBox="1"/>
          <p:nvPr/>
        </p:nvSpPr>
        <p:spPr>
          <a:xfrm rot="0" flipH="0" flipV="0">
            <a:off x="11096625" y="6400800"/>
            <a:ext cx="409575" cy="161925"/>
          </a:xfrm>
          <a:prstGeom prst="rect"/>
        </p:spPr>
        <p:txBody>
          <a:bodyPr wrap="none" lIns="0" tIns="0" rIns="0" bIns="0"/>
          <a:p>
            <a:pPr>
              <a:lnSpc>
                <a:spcPct val="100000"/>
              </a:lnSpc>
            </a:pPr>
            <a:r>
              <a:rPr lang="en-US" sz="1050">
                <a:solidFill>
                  <a:srgbClr val="6B7280"/>
                </a:solidFill>
                <a:latin typeface="JetBrains Mono"/>
                <a:ea typeface="JetBrains Mono"/>
              </a:rPr>
              <a:t>10 / 12</a:t>
            </a:r>
            <a:endParaRPr/>
          </a:p>
        </p:txBody>
      </p:sp>
    </p:spTree>
  </p:cSld>
</p:sld>
</file>

<file path=ppt/slides/slide11.xml><?xml version="1.0" encoding="utf-8"?>
<p:sld xmlns:a="http://schemas.openxmlformats.org/drawingml/2006/main" xmlns:p="http://schemas.openxmlformats.org/presentationml/2006/main">
  <p:cSld>
    <p:spTree>
      <p:nvGrpSpPr>
        <p:cNvPr id="78" name="" descr="&lt;Slide style={{&#10;    width: 1280,&#10;    height: 720,&#10;    padding: '0 72px',&#10;    background: '#FFFFFF',&#10;}}&gt;&#10;    &lt;Box style={{ width: '100%', height: 720, flexDirection: 'column' }}&gt;&#10;        &lt;Box style={{&#10;            height: 120,&#10;            paddingTop: 20,&#10;            paddingBottom: 16,&#10;            flexDirection: 'column',&#10;            justifyContent: 'flex-end',&#10;        }}&gt;&#10;            &lt;Box style={{ width: 56, height: 6, background: '#97C459', marginBottom: 14 }} /&gt;&#10;            &lt;Text style={{ fontFamily: 'Inter', fontSize: 34, fontWeight: 'bold', color: '#0B1F1A' }}&gt;&#10;                What is new, and what we did not solve&#10;            &lt;/Text&gt;&#10;        &lt;/Box&gt;&#10;&#10;        &lt;Box style={{ height: 540, flexDirection: 'row', gap: 40 }}&gt;&#10;            &lt;Box style={{ width: 712, flexDirection: 'column' }}&gt;&#10;                &lt;Text style={{ fontFamily: 'JetBrains Mono', fontSize: 13, color: '#0F6E56', letterSpacing: 1.6 }}&gt;&#10;                    INNOVATION HIGHLIGHTS&#10;                &lt;/Text&gt;&#10;&#10;                &lt;Box style={{ flexDirection: 'row', gap: 16, marginTop: 18 }}&gt;&#10;                    &lt;Text style={{ fontFamily: 'JetBrains Mono', fontSize: 17, color: '#97C459', width: 30 }}&gt;01&lt;/Text&gt;&#10;                    &lt;Box style={{ flex: 1 }}&gt;&#10;                        &lt;Text style={{ fontFamily: 'Inter', fontSize: 18, fontWeight: 'bold', color: '#04342C' }}&gt;&#10;                            Selective branch cancellation&#10;                        &lt;/Text&gt;&#10;                        &lt;Text style={{ fontFamily: 'Inter', fontSize: 15.5, lineHeight: 1.5, color: '#0B1F1A', marginTop: 4 }}&gt;&#10;                            The dependency that matters is normally invisible. Fingerprinting it turns “cancel the stale work” from a&#10;                            heuristic into a decision with a reason.&#10;                        &lt;/Text&gt;&#10;                    &lt;/Box&gt;&#10;                &lt;/Box&gt;&#10;&#10;                &lt;Box style={{ flexDirection: 'row', gap: 16, marginTop: 14 }}&gt;&#10;                    &lt;Text style={{ fontFamily: 'JetBrains Mono', fontSize: 17, color: '#97C459', width: 30 }}&gt;02&lt;/Text&gt;&#10;                    &lt;Box style={{ flex: 1 }}&gt;&#10;                        &lt;Text style={{ fontFamily: 'Inter', fontSize: 18, fontWeight: 'bold', color: '#04342C' }}&gt;&#10;                            An audit log that proves its own guarantee&#10;                        &lt;/Text&gt;&#10;                        &lt;Text style={{ fontFamily: 'Inter', fontSize: 15.5, lineHeight: 1.5, color: '#0B1F1A', marginTop: 4 }}&gt;&#10;                            It records the effect when it lands, not only when a retry replays it. We found that gap by trying to read&#10;                            the guarantee out of the log.&#10;                        &lt;/Text&gt;&#10;                    &lt;/Box&gt;&#10;                &lt;/Box&gt;&#10;&#10;                &lt;Box style={{ flexDirection: 'row', gap: 16, marginTop: 14 }}&gt;&#10;                    &lt;Text style={{ fontFamily: 'JetBrains Mono', fontSize: 17, color: '#97C459', width: 30 }}&gt;03&lt;/Text&gt;&#10;                    &lt;Box style={{ flex: 1 }}&gt;&#10;                        &lt;Text style={{ fontFamily: 'Inter', fontSize: 18, fontWeight: 'bold', color: '#04342C' }}&gt;&#10;                            A fast path that cannot cheat&#10;                        &lt;/Text&gt;&#10;                        &lt;Text style={{ fontFamily: 'Inter', fontSize: 15.5, lineHeight: 1.5, color: '#0B1F1A', marginTop: 4 }}&gt;&#10;                            The acknowledgement passes the same ungrounded-claim audit as anything else said mid-retrieval. Speed is&#10;                            not permitted to become a loophole.&#10;                        &lt;/Text&gt;&#10;                    &lt;/Box&gt;&#10;                &lt;/Box&gt;&#10;&#10;                &lt;Box style={{ flexDirection: 'row', gap: 16, marginTop: 14 }}&gt;&#10;                    &lt;Text style={{ fontFamily: 'JetBrains Mono', fontSize: 17, color: '#97C459', width: 30 }}&gt;04&lt;/Text&gt;&#10;                    &lt;Box style={{ flex: 1 }}&gt;&#10;                        &lt;Text style={{ fontFamily: 'Inter', fontSize: 18, fontWeight: 'bold', color: '#04342C' }}&gt;&#10;                            Visual grounding with honest limits&#10;                        &lt;/Text&gt;&#10;                        &lt;Text style={{ fontFamily: 'Inter', fontSize: 15.5, lineHeight: 1.5, color: '#0B1F1A', marginTop: 4 }}&gt;&#10;                            Requirements the database cannot enforce are reported as unenforceable — never described as a filter that&#10;                            was applied.&#10;                        &lt;/Text&gt;&#10;                    &lt;/Box&gt;&#10;                &lt;/Box&gt;&#10;&#10;                &lt;Box style={{ flexDirection: 'row', gap: 16, marginTop: 14 }}&gt;&#10;                    &lt;Text style={{ fontFamily: 'JetBrains Mono', fontSize: 17, color: '#97C459', width: 30 }}&gt;05&lt;/Text&gt;&#10;                    &lt;Box style={{ flex: 1 }}&gt;&#10;                        &lt;Text style={{ fontFamily: 'Inter', fontSize: 18, fontWeight: 'bold', color: '#04342C' }}&gt;&#10;                            A deterministic benchmark&#10;                        &lt;/Text&gt;&#10;                        &lt;Text style={{ fontFamily: 'Inter', fontSize: 15.5, lineHeight: 1.5, color: '#0B1F1A', marginTop: 4 }}&gt;&#10;                            Branch lifecycle runs on a virtual clock, so a cancellation latency is a measurement rather than a&#10;                            coincidence.&#10;                        &lt;/Text&gt;&#10;                    &lt;/Box&gt;&#10;                &lt;/Box&gt;&#10;            &lt;/Box&gt;&#10;&#10;            &lt;Box style={{&#10;                width: 384,&#10;                background: '#E1F5EE',&#10;                padding: '24px 24px 20px 24px',&#10;                flexDirection: 'column',&#10;            }}&gt;&#10;                &lt;Text style={{ fontFamily: 'JetBrains Mono', fontSize: 13, color: '#0F6E56', letterSpacing: 1.6 }}&gt;&#10;                    LIMITATIONS&#10;                &lt;/Text&gt;&#10;&#10;                &lt;Box style={{ flexDirection: 'row', gap: 12, marginTop: 16 }}&gt;&#10;                    &lt;Box style={{ width: 5, background: '#0F6E56' }} /&gt;&#10;                    &lt;Box style={{ flex: 1 }}&gt;&#10;                        &lt;Text style={{ fontFamily: 'Inter', fontSize: 15, fontWeight: 'bold', color: '#04342C' }}&gt;Public corpus&lt;/Text&gt;&#10;                        &lt;Text style={{ fontFamily: 'Inter', fontSize: 14, lineHeight: 1.4, color: '#0B1F1A', marginTop: 2 }}&gt;&#10;                            A transformed public recruitment dataset. Retrieval numbers describe this dataset only.&#10;                        &lt;/Text&gt;&#10;                    &lt;/Box&gt;&#10;                &lt;/Box&gt;&#10;&#10;                &lt;Box style={{ flexDirection: 'row', gap: 12, marginTop: 12 }}&gt;&#10;                    &lt;Box style={{ width: 5, background: '#0F6E56' }} /&gt;&#10;                    &lt;Box style={{ flex: 1 }}&gt;&#10;                        &lt;Text style={{ fontFamily: 'Inter', fontSize: 15, fontWeight: 'bold', color: '#04342C' }}&gt;Simulated benchmark&lt;/Text&gt;&#10;                        &lt;Text style={{ fontFamily: 'Inter', fontSize: 14, lineHeight: 1.4, color: '#0B1F1A', marginTop: 2 }}&gt;&#10;                            It proves control behaviour — what was cancelled, preserved, deduplicated — not database performance at scale.&#10;                        &lt;/Text&gt;&#10;                    &lt;/Box&gt;&#10;                &lt;/Box&gt;&#10;&#10;                &lt;Box style={{ flexDirection: 'row', gap: 12, marginTop: 12 }}&gt;&#10;                    &lt;Box style={{ width: 5, background: '#0F6E56' }} /&gt;&#10;                    &lt;Box style={{ flex: 1 }}&gt;&#10;                        &lt;Text style={{ fontFamily: 'Inter', fontSize: 15, fontWeight: 'bold', color: '#04342C' }}&gt;Rule-based image parser&lt;/Text&gt;&#10;                        &lt;Text style={{ fontFamily: 'Inter', fontSize: 14, lineHeight: 1.4, color: '#0B1F1A', marginTop: 2 }}&gt;&#10;                            Handles requirement extraction well but will not generalise to arbitrary layouts. That interface is where a&#10;                            vision model plugs in.&#10;                        &lt;/Text&gt;&#10;                    &lt;/Box&gt;&#10;                &lt;/Box&gt;&#10;&#10;                &lt;Box style={{ flexDirection: 'row', gap: 12, marginTop: 12 }}&gt;&#10;                    &lt;Box style={{ width: 5, background: '#0F6E56' }} /&gt;&#10;                    &lt;Box style={{ flex: 1 }}&gt;&#10;                        &lt;Text style={{ fontFamily: 'Inter', fontSize: 15, fontWeight: 'bold', color: '#04342C' }}&gt;Inherited ranking quality&lt;/Text&gt;&#10;                        &lt;Text style={{ fontFamily: 'Inter', fontSize: 14, lineHeight: 1.4, color: '#0B1F1A', marginTop: 2 }}&gt;&#10;                            This work neither claims nor measures an improvement in retrieval ranking.&#10;                        &lt;/Text&gt;&#10;                    &lt;/Box&gt;&#10;                &lt;/Box&gt;&#10;&#10;                &lt;Box style={{ flexDirection: 'row', gap: 12, marginTop: 12 }}&gt;&#10;                    &lt;Box style={{ width: 5, background: '#0F6E56' }} /&gt;&#10;                    &lt;Box style={{ flex: 1 }}&gt;&#10;                        &lt;Text style={{ fontFamily: 'Inter', fontSize: 15, fontWeight: 'bold', color: '#04342C' }}&gt;Local fast path&lt;/Text&gt;&#10;                        &lt;Text style={{ fontFamily: 'Inter', fontSize: 14, lineHeight: 1.4, color: '#0B1F1A', marginTop: 2 }}&gt;&#10;                            The 250 ms budget is met because the sentence is generated locally. A hosted model would need its own budget.&#10;                        &lt;/Text&gt;&#10;                    &lt;/Box&gt;&#10;                &lt;/Box&gt;&#10;            &lt;/Box&gt;&#10;        &lt;/Box&gt;&#10;&#10;        &lt;Box style={{&#10;            height: 60,&#10;            paddingBottom: 20,&#10;            flexDirection: 'row',&#10;            alignItems: 'center',&#10;            justifyContent: 'space-between',&#10;        }}&gt;&#10;            &lt;Text style={{ fontFamily: 'Inter', fontSize: 14, color: '#6B7280' }}&gt;&#10;                Talent Atlas · Samsung PRISM Y2026 · Theme 05&#10;            &lt;/Text&gt;&#10;            &lt;Text style={{ fontFamily: 'JetBrains Mono', fontSize: 14, color: '#6B7280' }}&gt;&#10;                11 / 12&#10;            &lt;/Text&gt;&#10;        &lt;/Box&gt;&#10;    &lt;/Box&gt;&#10;&lt;/Slide&gt;&#10;"/>
        <p:cNvGrpSpPr/>
        <p:nvPr/>
      </p:nvGrpSpPr>
      <p:grpSpPr>
        <a:xfrm>
          <a:off x="0" y="0"/>
          <a:ext cx="0" cy="0"/>
          <a:chOff x="0" y="0"/>
          <a:chExt cx="0" cy="0"/>
        </a:xfrm>
      </p:grpSpPr>
      <p:sp>
        <p:nvSpPr>
          <p:cNvPr id="79" name=""/>
          <p:cNvSpPr/>
          <p:nvPr/>
        </p:nvSpPr>
        <p:spPr>
          <a:xfrm rot="0" flipH="0" flipV="0">
            <a:off x="0" y="0"/>
            <a:ext cx="12192000" cy="6858000"/>
          </a:xfrm>
          <a:prstGeom prst="rect">
            <a:avLst/>
          </a:prstGeom>
          <a:solidFill>
            <a:srgbClr val="FFFFFF"/>
          </a:solidFill>
          <a:ln/>
        </p:spPr>
        <p:txBody>
          <a:bodyPr/>
          <a:p/>
        </p:txBody>
      </p:sp>
      <p:sp>
        <p:nvSpPr>
          <p:cNvPr id="80" name=""/>
          <p:cNvSpPr/>
          <p:nvPr/>
        </p:nvSpPr>
        <p:spPr>
          <a:xfrm rot="0" flipH="0" flipV="0">
            <a:off x="685800" y="409575"/>
            <a:ext cx="533400" cy="57150"/>
          </a:xfrm>
          <a:prstGeom prst="rect">
            <a:avLst/>
          </a:prstGeom>
          <a:solidFill>
            <a:srgbClr val="97C459"/>
          </a:solidFill>
          <a:ln/>
        </p:spPr>
        <p:txBody>
          <a:bodyPr/>
          <a:p/>
        </p:txBody>
      </p:sp>
      <p:sp>
        <p:nvSpPr>
          <p:cNvPr id="81" name="" descr="{&quot;isTemplate&quot;:true,&quot;type&quot;:&quot;text&quot;}"/>
          <p:cNvSpPr txBox="1"/>
          <p:nvPr/>
        </p:nvSpPr>
        <p:spPr>
          <a:xfrm rot="0" flipH="0" flipV="0">
            <a:off x="685800" y="600075"/>
            <a:ext cx="10820400" cy="390525"/>
          </a:xfrm>
          <a:prstGeom prst="rect"/>
        </p:spPr>
        <p:txBody>
          <a:bodyPr wrap="none" lIns="0" tIns="0" rIns="0" bIns="0"/>
          <a:p>
            <a:pPr>
              <a:lnSpc>
                <a:spcPct val="100000"/>
              </a:lnSpc>
            </a:pPr>
            <a:r>
              <a:rPr lang="en-US" sz="2550" b="1">
                <a:solidFill>
                  <a:srgbClr val="0B1F1A"/>
                </a:solidFill>
                <a:latin typeface="Inter"/>
                <a:ea typeface="Inter"/>
              </a:rPr>
              <a:t>What is new, and what we did not solve</a:t>
            </a:r>
            <a:endParaRPr/>
          </a:p>
        </p:txBody>
      </p:sp>
      <p:sp>
        <p:nvSpPr>
          <p:cNvPr id="82" name="" descr="{&quot;isTemplate&quot;:true,&quot;type&quot;:&quot;text&quot;}"/>
          <p:cNvSpPr txBox="1"/>
          <p:nvPr/>
        </p:nvSpPr>
        <p:spPr>
          <a:xfrm rot="0" flipH="0" flipV="0">
            <a:off x="685800" y="1143000"/>
            <a:ext cx="6781800" cy="152400"/>
          </a:xfrm>
          <a:prstGeom prst="rect"/>
        </p:spPr>
        <p:txBody>
          <a:bodyPr wrap="none" lIns="0" tIns="0" rIns="0" bIns="0"/>
          <a:p>
            <a:pPr>
              <a:lnSpc>
                <a:spcPct val="100000"/>
              </a:lnSpc>
            </a:pPr>
            <a:r>
              <a:rPr lang="en-US" sz="975" spc="120">
                <a:solidFill>
                  <a:srgbClr val="0F6E56"/>
                </a:solidFill>
                <a:latin typeface="JetBrains Mono"/>
                <a:ea typeface="JetBrains Mono"/>
              </a:rPr>
              <a:t>INNOVATION HIGHLIGHTS</a:t>
            </a:r>
            <a:endParaRPr/>
          </a:p>
        </p:txBody>
      </p:sp>
      <p:sp>
        <p:nvSpPr>
          <p:cNvPr id="83" name="" descr="{&quot;isTemplate&quot;:true,&quot;type&quot;:&quot;text&quot;}"/>
          <p:cNvSpPr txBox="1"/>
          <p:nvPr/>
        </p:nvSpPr>
        <p:spPr>
          <a:xfrm rot="0" flipH="0" flipV="0">
            <a:off x="685800" y="1466850"/>
            <a:ext cx="285750" cy="781050"/>
          </a:xfrm>
          <a:prstGeom prst="rect"/>
        </p:spPr>
        <p:txBody>
          <a:bodyPr wrap="none" lIns="0" tIns="0" rIns="0" bIns="0"/>
          <a:p>
            <a:pPr>
              <a:lnSpc>
                <a:spcPct val="100000"/>
              </a:lnSpc>
            </a:pPr>
            <a:r>
              <a:rPr lang="en-US" sz="1275">
                <a:solidFill>
                  <a:srgbClr val="97C459"/>
                </a:solidFill>
                <a:latin typeface="JetBrains Mono"/>
                <a:ea typeface="JetBrains Mono"/>
              </a:rPr>
              <a:t>01</a:t>
            </a:r>
            <a:endParaRPr/>
          </a:p>
        </p:txBody>
      </p:sp>
      <p:sp>
        <p:nvSpPr>
          <p:cNvPr id="84" name="" descr="{&quot;isTemplate&quot;:true,&quot;type&quot;:&quot;text&quot;}"/>
          <p:cNvSpPr txBox="1"/>
          <p:nvPr/>
        </p:nvSpPr>
        <p:spPr>
          <a:xfrm rot="0" flipH="0" flipV="0">
            <a:off x="1123950" y="1466850"/>
            <a:ext cx="6343650" cy="209550"/>
          </a:xfrm>
          <a:prstGeom prst="rect"/>
        </p:spPr>
        <p:txBody>
          <a:bodyPr wrap="none" lIns="0" tIns="0" rIns="0" bIns="0"/>
          <a:p>
            <a:pPr>
              <a:lnSpc>
                <a:spcPct val="100000"/>
              </a:lnSpc>
            </a:pPr>
            <a:r>
              <a:rPr lang="en-US" sz="1350" b="1">
                <a:solidFill>
                  <a:srgbClr val="04342C"/>
                </a:solidFill>
                <a:latin typeface="Inter"/>
                <a:ea typeface="Inter"/>
              </a:rPr>
              <a:t>Selective branch cancellation</a:t>
            </a:r>
            <a:endParaRPr/>
          </a:p>
        </p:txBody>
      </p:sp>
      <p:sp>
        <p:nvSpPr>
          <p:cNvPr id="85" name="" descr="{&quot;isTemplate&quot;:true,&quot;type&quot;:&quot;text&quot;}"/>
          <p:cNvSpPr txBox="1"/>
          <p:nvPr/>
        </p:nvSpPr>
        <p:spPr>
          <a:xfrm rot="0" flipH="0" flipV="0">
            <a:off x="1123950" y="1714500"/>
            <a:ext cx="6343650" cy="533400"/>
          </a:xfrm>
          <a:prstGeom prst="rect"/>
        </p:spPr>
        <p:txBody>
          <a:bodyPr wrap="square" lIns="0" tIns="0" rIns="0" bIns="0">
            <a:normAutofit/>
          </a:bodyPr>
          <a:p>
            <a:pPr>
              <a:lnSpc>
                <a:spcPct val="150000"/>
              </a:lnSpc>
            </a:pPr>
            <a:r>
              <a:rPr lang="en-US" sz="1163">
                <a:solidFill>
                  <a:srgbClr val="0B1F1A"/>
                </a:solidFill>
                <a:latin typeface="Inter"/>
                <a:ea typeface="Inter"/>
              </a:rPr>
              <a:t>The dependency that matters is normally invisible. Fingerprinting it turns “cancel the stale work” from a heuristic into a decision with a reason.</a:t>
            </a:r>
            <a:endParaRPr/>
          </a:p>
        </p:txBody>
      </p:sp>
      <p:sp>
        <p:nvSpPr>
          <p:cNvPr id="86" name="" descr="{&quot;isTemplate&quot;:true,&quot;type&quot;:&quot;text&quot;}"/>
          <p:cNvSpPr txBox="1"/>
          <p:nvPr/>
        </p:nvSpPr>
        <p:spPr>
          <a:xfrm rot="0" flipH="0" flipV="0">
            <a:off x="685800" y="2381250"/>
            <a:ext cx="285750" cy="781050"/>
          </a:xfrm>
          <a:prstGeom prst="rect"/>
        </p:spPr>
        <p:txBody>
          <a:bodyPr wrap="none" lIns="0" tIns="0" rIns="0" bIns="0"/>
          <a:p>
            <a:pPr>
              <a:lnSpc>
                <a:spcPct val="100000"/>
              </a:lnSpc>
            </a:pPr>
            <a:r>
              <a:rPr lang="en-US" sz="1275">
                <a:solidFill>
                  <a:srgbClr val="97C459"/>
                </a:solidFill>
                <a:latin typeface="JetBrains Mono"/>
                <a:ea typeface="JetBrains Mono"/>
              </a:rPr>
              <a:t>02</a:t>
            </a:r>
            <a:endParaRPr/>
          </a:p>
        </p:txBody>
      </p:sp>
      <p:sp>
        <p:nvSpPr>
          <p:cNvPr id="87" name="" descr="{&quot;isTemplate&quot;:true,&quot;type&quot;:&quot;text&quot;}"/>
          <p:cNvSpPr txBox="1"/>
          <p:nvPr/>
        </p:nvSpPr>
        <p:spPr>
          <a:xfrm rot="0" flipH="0" flipV="0">
            <a:off x="1123950" y="2381250"/>
            <a:ext cx="6343650" cy="209550"/>
          </a:xfrm>
          <a:prstGeom prst="rect"/>
        </p:spPr>
        <p:txBody>
          <a:bodyPr wrap="none" lIns="0" tIns="0" rIns="0" bIns="0"/>
          <a:p>
            <a:pPr>
              <a:lnSpc>
                <a:spcPct val="100000"/>
              </a:lnSpc>
            </a:pPr>
            <a:r>
              <a:rPr lang="en-US" sz="1350" b="1">
                <a:solidFill>
                  <a:srgbClr val="04342C"/>
                </a:solidFill>
                <a:latin typeface="Inter"/>
                <a:ea typeface="Inter"/>
              </a:rPr>
              <a:t>An audit log that proves its own guarantee</a:t>
            </a:r>
            <a:endParaRPr/>
          </a:p>
        </p:txBody>
      </p:sp>
      <p:sp>
        <p:nvSpPr>
          <p:cNvPr id="88" name="" descr="{&quot;isTemplate&quot;:true,&quot;type&quot;:&quot;text&quot;}"/>
          <p:cNvSpPr txBox="1"/>
          <p:nvPr/>
        </p:nvSpPr>
        <p:spPr>
          <a:xfrm rot="0" flipH="0" flipV="0">
            <a:off x="1123950" y="2628900"/>
            <a:ext cx="6343650" cy="533400"/>
          </a:xfrm>
          <a:prstGeom prst="rect"/>
        </p:spPr>
        <p:txBody>
          <a:bodyPr wrap="square" lIns="0" tIns="0" rIns="0" bIns="0">
            <a:normAutofit/>
          </a:bodyPr>
          <a:p>
            <a:pPr>
              <a:lnSpc>
                <a:spcPct val="150000"/>
              </a:lnSpc>
            </a:pPr>
            <a:r>
              <a:rPr lang="en-US" sz="1163">
                <a:solidFill>
                  <a:srgbClr val="0B1F1A"/>
                </a:solidFill>
                <a:latin typeface="Inter"/>
                <a:ea typeface="Inter"/>
              </a:rPr>
              <a:t>It records the effect when it lands, not only when a retry replays it. We found that gap by trying to read the guarantee out of the log.</a:t>
            </a:r>
            <a:endParaRPr/>
          </a:p>
        </p:txBody>
      </p:sp>
      <p:sp>
        <p:nvSpPr>
          <p:cNvPr id="89" name="" descr="{&quot;isTemplate&quot;:true,&quot;type&quot;:&quot;text&quot;}"/>
          <p:cNvSpPr txBox="1"/>
          <p:nvPr/>
        </p:nvSpPr>
        <p:spPr>
          <a:xfrm rot="0" flipH="0" flipV="0">
            <a:off x="685800" y="3295650"/>
            <a:ext cx="285750" cy="781050"/>
          </a:xfrm>
          <a:prstGeom prst="rect"/>
        </p:spPr>
        <p:txBody>
          <a:bodyPr wrap="none" lIns="0" tIns="0" rIns="0" bIns="0"/>
          <a:p>
            <a:pPr>
              <a:lnSpc>
                <a:spcPct val="100000"/>
              </a:lnSpc>
            </a:pPr>
            <a:r>
              <a:rPr lang="en-US" sz="1275">
                <a:solidFill>
                  <a:srgbClr val="97C459"/>
                </a:solidFill>
                <a:latin typeface="JetBrains Mono"/>
                <a:ea typeface="JetBrains Mono"/>
              </a:rPr>
              <a:t>03</a:t>
            </a:r>
            <a:endParaRPr/>
          </a:p>
        </p:txBody>
      </p:sp>
      <p:sp>
        <p:nvSpPr>
          <p:cNvPr id="90" name="" descr="{&quot;isTemplate&quot;:true,&quot;type&quot;:&quot;text&quot;}"/>
          <p:cNvSpPr txBox="1"/>
          <p:nvPr/>
        </p:nvSpPr>
        <p:spPr>
          <a:xfrm rot="0" flipH="0" flipV="0">
            <a:off x="1123950" y="3295650"/>
            <a:ext cx="6343650" cy="209550"/>
          </a:xfrm>
          <a:prstGeom prst="rect"/>
        </p:spPr>
        <p:txBody>
          <a:bodyPr wrap="none" lIns="0" tIns="0" rIns="0" bIns="0"/>
          <a:p>
            <a:pPr>
              <a:lnSpc>
                <a:spcPct val="100000"/>
              </a:lnSpc>
            </a:pPr>
            <a:r>
              <a:rPr lang="en-US" sz="1350" b="1">
                <a:solidFill>
                  <a:srgbClr val="04342C"/>
                </a:solidFill>
                <a:latin typeface="Inter"/>
                <a:ea typeface="Inter"/>
              </a:rPr>
              <a:t>A fast path that cannot cheat</a:t>
            </a:r>
            <a:endParaRPr/>
          </a:p>
        </p:txBody>
      </p:sp>
      <p:sp>
        <p:nvSpPr>
          <p:cNvPr id="91" name="" descr="{&quot;isTemplate&quot;:true,&quot;type&quot;:&quot;text&quot;}"/>
          <p:cNvSpPr txBox="1"/>
          <p:nvPr/>
        </p:nvSpPr>
        <p:spPr>
          <a:xfrm rot="0" flipH="0" flipV="0">
            <a:off x="1123950" y="3543300"/>
            <a:ext cx="6343650" cy="533400"/>
          </a:xfrm>
          <a:prstGeom prst="rect"/>
        </p:spPr>
        <p:txBody>
          <a:bodyPr wrap="square" lIns="0" tIns="0" rIns="0" bIns="0">
            <a:normAutofit/>
          </a:bodyPr>
          <a:p>
            <a:pPr>
              <a:lnSpc>
                <a:spcPct val="150000"/>
              </a:lnSpc>
            </a:pPr>
            <a:r>
              <a:rPr lang="en-US" sz="1163">
                <a:solidFill>
                  <a:srgbClr val="0B1F1A"/>
                </a:solidFill>
                <a:latin typeface="Inter"/>
                <a:ea typeface="Inter"/>
              </a:rPr>
              <a:t>The acknowledgement passes the same ungrounded-claim audit as anything else said mid-retrieval. Speed is not permitted to become a loophole.</a:t>
            </a:r>
            <a:endParaRPr/>
          </a:p>
        </p:txBody>
      </p:sp>
      <p:sp>
        <p:nvSpPr>
          <p:cNvPr id="92" name="" descr="{&quot;isTemplate&quot;:true,&quot;type&quot;:&quot;text&quot;}"/>
          <p:cNvSpPr txBox="1"/>
          <p:nvPr/>
        </p:nvSpPr>
        <p:spPr>
          <a:xfrm rot="0" flipH="0" flipV="0">
            <a:off x="685800" y="4210050"/>
            <a:ext cx="285750" cy="781050"/>
          </a:xfrm>
          <a:prstGeom prst="rect"/>
        </p:spPr>
        <p:txBody>
          <a:bodyPr wrap="none" lIns="0" tIns="0" rIns="0" bIns="0"/>
          <a:p>
            <a:pPr>
              <a:lnSpc>
                <a:spcPct val="100000"/>
              </a:lnSpc>
            </a:pPr>
            <a:r>
              <a:rPr lang="en-US" sz="1275">
                <a:solidFill>
                  <a:srgbClr val="97C459"/>
                </a:solidFill>
                <a:latin typeface="JetBrains Mono"/>
                <a:ea typeface="JetBrains Mono"/>
              </a:rPr>
              <a:t>04</a:t>
            </a:r>
            <a:endParaRPr/>
          </a:p>
        </p:txBody>
      </p:sp>
      <p:sp>
        <p:nvSpPr>
          <p:cNvPr id="93" name="" descr="{&quot;isTemplate&quot;:true,&quot;type&quot;:&quot;text&quot;}"/>
          <p:cNvSpPr txBox="1"/>
          <p:nvPr/>
        </p:nvSpPr>
        <p:spPr>
          <a:xfrm rot="0" flipH="0" flipV="0">
            <a:off x="1123950" y="4210050"/>
            <a:ext cx="6343650" cy="209550"/>
          </a:xfrm>
          <a:prstGeom prst="rect"/>
        </p:spPr>
        <p:txBody>
          <a:bodyPr wrap="none" lIns="0" tIns="0" rIns="0" bIns="0"/>
          <a:p>
            <a:pPr>
              <a:lnSpc>
                <a:spcPct val="100000"/>
              </a:lnSpc>
            </a:pPr>
            <a:r>
              <a:rPr lang="en-US" sz="1350" b="1">
                <a:solidFill>
                  <a:srgbClr val="04342C"/>
                </a:solidFill>
                <a:latin typeface="Inter"/>
                <a:ea typeface="Inter"/>
              </a:rPr>
              <a:t>Visual grounding with honest limits</a:t>
            </a:r>
            <a:endParaRPr/>
          </a:p>
        </p:txBody>
      </p:sp>
      <p:sp>
        <p:nvSpPr>
          <p:cNvPr id="94" name="" descr="{&quot;isTemplate&quot;:true,&quot;type&quot;:&quot;text&quot;}"/>
          <p:cNvSpPr txBox="1"/>
          <p:nvPr/>
        </p:nvSpPr>
        <p:spPr>
          <a:xfrm rot="0" flipH="0" flipV="0">
            <a:off x="1123950" y="4457700"/>
            <a:ext cx="6343650" cy="533400"/>
          </a:xfrm>
          <a:prstGeom prst="rect"/>
        </p:spPr>
        <p:txBody>
          <a:bodyPr wrap="square" lIns="0" tIns="0" rIns="0" bIns="0">
            <a:normAutofit/>
          </a:bodyPr>
          <a:p>
            <a:pPr>
              <a:lnSpc>
                <a:spcPct val="150000"/>
              </a:lnSpc>
            </a:pPr>
            <a:r>
              <a:rPr lang="en-US" sz="1163">
                <a:solidFill>
                  <a:srgbClr val="0B1F1A"/>
                </a:solidFill>
                <a:latin typeface="Inter"/>
                <a:ea typeface="Inter"/>
              </a:rPr>
              <a:t>Requirements the database cannot enforce are reported as unenforceable — never described as a filter that was applied.</a:t>
            </a:r>
            <a:endParaRPr/>
          </a:p>
        </p:txBody>
      </p:sp>
      <p:sp>
        <p:nvSpPr>
          <p:cNvPr id="95" name="" descr="{&quot;isTemplate&quot;:true,&quot;type&quot;:&quot;text&quot;}"/>
          <p:cNvSpPr txBox="1"/>
          <p:nvPr/>
        </p:nvSpPr>
        <p:spPr>
          <a:xfrm rot="0" flipH="0" flipV="0">
            <a:off x="685800" y="5124450"/>
            <a:ext cx="285750" cy="781050"/>
          </a:xfrm>
          <a:prstGeom prst="rect"/>
        </p:spPr>
        <p:txBody>
          <a:bodyPr wrap="none" lIns="0" tIns="0" rIns="0" bIns="0"/>
          <a:p>
            <a:pPr>
              <a:lnSpc>
                <a:spcPct val="100000"/>
              </a:lnSpc>
            </a:pPr>
            <a:r>
              <a:rPr lang="en-US" sz="1275">
                <a:solidFill>
                  <a:srgbClr val="97C459"/>
                </a:solidFill>
                <a:latin typeface="JetBrains Mono"/>
                <a:ea typeface="JetBrains Mono"/>
              </a:rPr>
              <a:t>05</a:t>
            </a:r>
            <a:endParaRPr/>
          </a:p>
        </p:txBody>
      </p:sp>
      <p:sp>
        <p:nvSpPr>
          <p:cNvPr id="96" name="" descr="{&quot;isTemplate&quot;:true,&quot;type&quot;:&quot;text&quot;}"/>
          <p:cNvSpPr txBox="1"/>
          <p:nvPr/>
        </p:nvSpPr>
        <p:spPr>
          <a:xfrm rot="0" flipH="0" flipV="0">
            <a:off x="1123950" y="5124450"/>
            <a:ext cx="6343650" cy="209550"/>
          </a:xfrm>
          <a:prstGeom prst="rect"/>
        </p:spPr>
        <p:txBody>
          <a:bodyPr wrap="none" lIns="0" tIns="0" rIns="0" bIns="0"/>
          <a:p>
            <a:pPr>
              <a:lnSpc>
                <a:spcPct val="100000"/>
              </a:lnSpc>
            </a:pPr>
            <a:r>
              <a:rPr lang="en-US" sz="1350" b="1">
                <a:solidFill>
                  <a:srgbClr val="04342C"/>
                </a:solidFill>
                <a:latin typeface="Inter"/>
                <a:ea typeface="Inter"/>
              </a:rPr>
              <a:t>A deterministic benchmark</a:t>
            </a:r>
            <a:endParaRPr/>
          </a:p>
        </p:txBody>
      </p:sp>
      <p:sp>
        <p:nvSpPr>
          <p:cNvPr id="97" name="" descr="{&quot;isTemplate&quot;:true,&quot;type&quot;:&quot;text&quot;}"/>
          <p:cNvSpPr txBox="1"/>
          <p:nvPr/>
        </p:nvSpPr>
        <p:spPr>
          <a:xfrm rot="0" flipH="0" flipV="0">
            <a:off x="1123950" y="5372100"/>
            <a:ext cx="6343650" cy="533400"/>
          </a:xfrm>
          <a:prstGeom prst="rect"/>
        </p:spPr>
        <p:txBody>
          <a:bodyPr wrap="square" lIns="0" tIns="0" rIns="0" bIns="0">
            <a:normAutofit/>
          </a:bodyPr>
          <a:p>
            <a:pPr>
              <a:lnSpc>
                <a:spcPct val="150000"/>
              </a:lnSpc>
            </a:pPr>
            <a:r>
              <a:rPr lang="en-US" sz="1163">
                <a:solidFill>
                  <a:srgbClr val="0B1F1A"/>
                </a:solidFill>
                <a:latin typeface="Inter"/>
                <a:ea typeface="Inter"/>
              </a:rPr>
              <a:t>Branch lifecycle runs on a virtual clock, so a cancellation latency is a measurement rather than a coincidence.</a:t>
            </a:r>
            <a:endParaRPr/>
          </a:p>
        </p:txBody>
      </p:sp>
      <p:sp>
        <p:nvSpPr>
          <p:cNvPr id="98" name=""/>
          <p:cNvSpPr/>
          <p:nvPr/>
        </p:nvSpPr>
        <p:spPr>
          <a:xfrm rot="0" flipH="0" flipV="0">
            <a:off x="7848600" y="1143000"/>
            <a:ext cx="3657600" cy="5143500"/>
          </a:xfrm>
          <a:prstGeom prst="rect">
            <a:avLst/>
          </a:prstGeom>
          <a:solidFill>
            <a:srgbClr val="E1F5EE"/>
          </a:solidFill>
          <a:ln/>
        </p:spPr>
        <p:txBody>
          <a:bodyPr/>
          <a:p/>
        </p:txBody>
      </p:sp>
      <p:sp>
        <p:nvSpPr>
          <p:cNvPr id="99" name="" descr="{&quot;isTemplate&quot;:true,&quot;type&quot;:&quot;text&quot;}"/>
          <p:cNvSpPr txBox="1"/>
          <p:nvPr/>
        </p:nvSpPr>
        <p:spPr>
          <a:xfrm rot="0" flipH="0" flipV="0">
            <a:off x="8077200" y="1371600"/>
            <a:ext cx="3200400" cy="152400"/>
          </a:xfrm>
          <a:prstGeom prst="rect"/>
        </p:spPr>
        <p:txBody>
          <a:bodyPr wrap="none" lIns="0" tIns="0" rIns="0" bIns="0"/>
          <a:p>
            <a:pPr>
              <a:lnSpc>
                <a:spcPct val="100000"/>
              </a:lnSpc>
            </a:pPr>
            <a:r>
              <a:rPr lang="en-US" sz="975" spc="120">
                <a:solidFill>
                  <a:srgbClr val="0F6E56"/>
                </a:solidFill>
                <a:latin typeface="JetBrains Mono"/>
                <a:ea typeface="JetBrains Mono"/>
              </a:rPr>
              <a:t>LIMITATIONS</a:t>
            </a:r>
            <a:endParaRPr/>
          </a:p>
        </p:txBody>
      </p:sp>
      <p:sp>
        <p:nvSpPr>
          <p:cNvPr id="100" name=""/>
          <p:cNvSpPr/>
          <p:nvPr/>
        </p:nvSpPr>
        <p:spPr>
          <a:xfrm rot="0" flipH="0" flipV="0">
            <a:off x="8077200" y="1676400"/>
            <a:ext cx="47625" cy="647700"/>
          </a:xfrm>
          <a:prstGeom prst="rect">
            <a:avLst/>
          </a:prstGeom>
          <a:solidFill>
            <a:srgbClr val="0F6E56"/>
          </a:solidFill>
          <a:ln/>
        </p:spPr>
        <p:txBody>
          <a:bodyPr/>
          <a:p/>
        </p:txBody>
      </p:sp>
      <p:sp>
        <p:nvSpPr>
          <p:cNvPr id="101" name="" descr="{&quot;isTemplate&quot;:true,&quot;type&quot;:&quot;text&quot;}"/>
          <p:cNvSpPr txBox="1"/>
          <p:nvPr/>
        </p:nvSpPr>
        <p:spPr>
          <a:xfrm rot="0" flipH="0" flipV="0">
            <a:off x="8239125" y="1676400"/>
            <a:ext cx="3038475" cy="171450"/>
          </a:xfrm>
          <a:prstGeom prst="rect"/>
        </p:spPr>
        <p:txBody>
          <a:bodyPr wrap="none" lIns="0" tIns="0" rIns="0" bIns="0"/>
          <a:p>
            <a:pPr>
              <a:lnSpc>
                <a:spcPct val="100000"/>
              </a:lnSpc>
            </a:pPr>
            <a:r>
              <a:rPr lang="en-US" sz="1125" b="1">
                <a:solidFill>
                  <a:srgbClr val="04342C"/>
                </a:solidFill>
                <a:latin typeface="Inter"/>
                <a:ea typeface="Inter"/>
              </a:rPr>
              <a:t>Public corpus</a:t>
            </a:r>
            <a:endParaRPr/>
          </a:p>
        </p:txBody>
      </p:sp>
      <p:sp>
        <p:nvSpPr>
          <p:cNvPr id="102" name="" descr="{&quot;isTemplate&quot;:true,&quot;type&quot;:&quot;text&quot;}"/>
          <p:cNvSpPr txBox="1"/>
          <p:nvPr/>
        </p:nvSpPr>
        <p:spPr>
          <a:xfrm rot="0" flipH="0" flipV="0">
            <a:off x="8239125" y="1866900"/>
            <a:ext cx="3038475" cy="457200"/>
          </a:xfrm>
          <a:prstGeom prst="rect"/>
        </p:spPr>
        <p:txBody>
          <a:bodyPr wrap="square" lIns="0" tIns="0" rIns="0" bIns="0">
            <a:normAutofit/>
          </a:bodyPr>
          <a:p>
            <a:pPr>
              <a:lnSpc>
                <a:spcPct val="140000"/>
              </a:lnSpc>
            </a:pPr>
            <a:r>
              <a:rPr lang="en-US" sz="1050">
                <a:solidFill>
                  <a:srgbClr val="0B1F1A"/>
                </a:solidFill>
                <a:latin typeface="Inter"/>
                <a:ea typeface="Inter"/>
              </a:rPr>
              <a:t>A transformed public recruitment dataset. Retrieval numbers describe this dataset only.</a:t>
            </a:r>
            <a:endParaRPr/>
          </a:p>
        </p:txBody>
      </p:sp>
      <p:sp>
        <p:nvSpPr>
          <p:cNvPr id="103" name=""/>
          <p:cNvSpPr/>
          <p:nvPr/>
        </p:nvSpPr>
        <p:spPr>
          <a:xfrm rot="0" flipH="0" flipV="0">
            <a:off x="8077200" y="2438400"/>
            <a:ext cx="47625" cy="866775"/>
          </a:xfrm>
          <a:prstGeom prst="rect">
            <a:avLst/>
          </a:prstGeom>
          <a:solidFill>
            <a:srgbClr val="0F6E56"/>
          </a:solidFill>
          <a:ln/>
        </p:spPr>
        <p:txBody>
          <a:bodyPr/>
          <a:p/>
        </p:txBody>
      </p:sp>
      <p:sp>
        <p:nvSpPr>
          <p:cNvPr id="104" name="" descr="{&quot;isTemplate&quot;:true,&quot;type&quot;:&quot;text&quot;}"/>
          <p:cNvSpPr txBox="1"/>
          <p:nvPr/>
        </p:nvSpPr>
        <p:spPr>
          <a:xfrm rot="0" flipH="0" flipV="0">
            <a:off x="8239125" y="2438400"/>
            <a:ext cx="3038475" cy="171450"/>
          </a:xfrm>
          <a:prstGeom prst="rect"/>
        </p:spPr>
        <p:txBody>
          <a:bodyPr wrap="none" lIns="0" tIns="0" rIns="0" bIns="0"/>
          <a:p>
            <a:pPr>
              <a:lnSpc>
                <a:spcPct val="100000"/>
              </a:lnSpc>
            </a:pPr>
            <a:r>
              <a:rPr lang="en-US" sz="1125" b="1">
                <a:solidFill>
                  <a:srgbClr val="04342C"/>
                </a:solidFill>
                <a:latin typeface="Inter"/>
                <a:ea typeface="Inter"/>
              </a:rPr>
              <a:t>Simulated benchmark</a:t>
            </a:r>
            <a:endParaRPr/>
          </a:p>
        </p:txBody>
      </p:sp>
      <p:sp>
        <p:nvSpPr>
          <p:cNvPr id="105" name="" descr="{&quot;isTemplate&quot;:true,&quot;type&quot;:&quot;text&quot;}"/>
          <p:cNvSpPr txBox="1"/>
          <p:nvPr/>
        </p:nvSpPr>
        <p:spPr>
          <a:xfrm rot="0" flipH="0" flipV="0">
            <a:off x="8239125" y="2628900"/>
            <a:ext cx="3038475" cy="676275"/>
          </a:xfrm>
          <a:prstGeom prst="rect"/>
        </p:spPr>
        <p:txBody>
          <a:bodyPr wrap="square" lIns="0" tIns="0" rIns="0" bIns="0">
            <a:normAutofit/>
          </a:bodyPr>
          <a:p>
            <a:pPr>
              <a:lnSpc>
                <a:spcPct val="140000"/>
              </a:lnSpc>
            </a:pPr>
            <a:r>
              <a:rPr lang="en-US" sz="1050">
                <a:solidFill>
                  <a:srgbClr val="0B1F1A"/>
                </a:solidFill>
                <a:latin typeface="Inter"/>
                <a:ea typeface="Inter"/>
              </a:rPr>
              <a:t>It proves control behaviour — what was cancelled, preserved, deduplicated — not database performance at scale.</a:t>
            </a:r>
            <a:endParaRPr/>
          </a:p>
        </p:txBody>
      </p:sp>
      <p:sp>
        <p:nvSpPr>
          <p:cNvPr id="106" name=""/>
          <p:cNvSpPr/>
          <p:nvPr/>
        </p:nvSpPr>
        <p:spPr>
          <a:xfrm rot="0" flipH="0" flipV="0">
            <a:off x="8077200" y="3419475"/>
            <a:ext cx="47625" cy="866775"/>
          </a:xfrm>
          <a:prstGeom prst="rect">
            <a:avLst/>
          </a:prstGeom>
          <a:solidFill>
            <a:srgbClr val="0F6E56"/>
          </a:solidFill>
          <a:ln/>
        </p:spPr>
        <p:txBody>
          <a:bodyPr/>
          <a:p/>
        </p:txBody>
      </p:sp>
      <p:sp>
        <p:nvSpPr>
          <p:cNvPr id="107" name="" descr="{&quot;isTemplate&quot;:true,&quot;type&quot;:&quot;text&quot;}"/>
          <p:cNvSpPr txBox="1"/>
          <p:nvPr/>
        </p:nvSpPr>
        <p:spPr>
          <a:xfrm rot="0" flipH="0" flipV="0">
            <a:off x="8239125" y="3419475"/>
            <a:ext cx="3038475" cy="171450"/>
          </a:xfrm>
          <a:prstGeom prst="rect"/>
        </p:spPr>
        <p:txBody>
          <a:bodyPr wrap="none" lIns="0" tIns="0" rIns="0" bIns="0"/>
          <a:p>
            <a:pPr>
              <a:lnSpc>
                <a:spcPct val="100000"/>
              </a:lnSpc>
            </a:pPr>
            <a:r>
              <a:rPr lang="en-US" sz="1125" b="1">
                <a:solidFill>
                  <a:srgbClr val="04342C"/>
                </a:solidFill>
                <a:latin typeface="Inter"/>
                <a:ea typeface="Inter"/>
              </a:rPr>
              <a:t>Rule-based image parser</a:t>
            </a:r>
            <a:endParaRPr/>
          </a:p>
        </p:txBody>
      </p:sp>
      <p:sp>
        <p:nvSpPr>
          <p:cNvPr id="108" name="" descr="{&quot;isTemplate&quot;:true,&quot;type&quot;:&quot;text&quot;}"/>
          <p:cNvSpPr txBox="1"/>
          <p:nvPr/>
        </p:nvSpPr>
        <p:spPr>
          <a:xfrm rot="0" flipH="0" flipV="0">
            <a:off x="8239125" y="3609975"/>
            <a:ext cx="3038475" cy="676275"/>
          </a:xfrm>
          <a:prstGeom prst="rect"/>
        </p:spPr>
        <p:txBody>
          <a:bodyPr wrap="square" lIns="0" tIns="0" rIns="0" bIns="0">
            <a:normAutofit/>
          </a:bodyPr>
          <a:p>
            <a:pPr>
              <a:lnSpc>
                <a:spcPct val="140000"/>
              </a:lnSpc>
            </a:pPr>
            <a:r>
              <a:rPr lang="en-US" sz="1050">
                <a:solidFill>
                  <a:srgbClr val="0B1F1A"/>
                </a:solidFill>
                <a:latin typeface="Inter"/>
                <a:ea typeface="Inter"/>
              </a:rPr>
              <a:t>Handles requirement extraction well but will not generalise to arbitrary layouts. That interface is where a vision model plugs in.</a:t>
            </a:r>
            <a:endParaRPr/>
          </a:p>
        </p:txBody>
      </p:sp>
      <p:sp>
        <p:nvSpPr>
          <p:cNvPr id="109" name=""/>
          <p:cNvSpPr/>
          <p:nvPr/>
        </p:nvSpPr>
        <p:spPr>
          <a:xfrm rot="0" flipH="0" flipV="0">
            <a:off x="8077200" y="4400550"/>
            <a:ext cx="47625" cy="647700"/>
          </a:xfrm>
          <a:prstGeom prst="rect">
            <a:avLst/>
          </a:prstGeom>
          <a:solidFill>
            <a:srgbClr val="0F6E56"/>
          </a:solidFill>
          <a:ln/>
        </p:spPr>
        <p:txBody>
          <a:bodyPr/>
          <a:p/>
        </p:txBody>
      </p:sp>
      <p:sp>
        <p:nvSpPr>
          <p:cNvPr id="110" name="" descr="{&quot;isTemplate&quot;:true,&quot;type&quot;:&quot;text&quot;}"/>
          <p:cNvSpPr txBox="1"/>
          <p:nvPr/>
        </p:nvSpPr>
        <p:spPr>
          <a:xfrm rot="0" flipH="0" flipV="0">
            <a:off x="8239125" y="4400550"/>
            <a:ext cx="3038475" cy="171450"/>
          </a:xfrm>
          <a:prstGeom prst="rect"/>
        </p:spPr>
        <p:txBody>
          <a:bodyPr wrap="none" lIns="0" tIns="0" rIns="0" bIns="0"/>
          <a:p>
            <a:pPr>
              <a:lnSpc>
                <a:spcPct val="100000"/>
              </a:lnSpc>
            </a:pPr>
            <a:r>
              <a:rPr lang="en-US" sz="1125" b="1">
                <a:solidFill>
                  <a:srgbClr val="04342C"/>
                </a:solidFill>
                <a:latin typeface="Inter"/>
                <a:ea typeface="Inter"/>
              </a:rPr>
              <a:t>Inherited ranking quality</a:t>
            </a:r>
            <a:endParaRPr/>
          </a:p>
        </p:txBody>
      </p:sp>
      <p:sp>
        <p:nvSpPr>
          <p:cNvPr id="111" name="" descr="{&quot;isTemplate&quot;:true,&quot;type&quot;:&quot;text&quot;}"/>
          <p:cNvSpPr txBox="1"/>
          <p:nvPr/>
        </p:nvSpPr>
        <p:spPr>
          <a:xfrm rot="0" flipH="0" flipV="0">
            <a:off x="8239125" y="4591050"/>
            <a:ext cx="3038475" cy="457200"/>
          </a:xfrm>
          <a:prstGeom prst="rect"/>
        </p:spPr>
        <p:txBody>
          <a:bodyPr wrap="square" lIns="0" tIns="0" rIns="0" bIns="0">
            <a:normAutofit/>
          </a:bodyPr>
          <a:p>
            <a:pPr>
              <a:lnSpc>
                <a:spcPct val="140000"/>
              </a:lnSpc>
            </a:pPr>
            <a:r>
              <a:rPr lang="en-US" sz="1050">
                <a:solidFill>
                  <a:srgbClr val="0B1F1A"/>
                </a:solidFill>
                <a:latin typeface="Inter"/>
                <a:ea typeface="Inter"/>
              </a:rPr>
              <a:t>This work neither claims nor measures an improvement in retrieval ranking.</a:t>
            </a:r>
            <a:endParaRPr/>
          </a:p>
        </p:txBody>
      </p:sp>
      <p:sp>
        <p:nvSpPr>
          <p:cNvPr id="112" name=""/>
          <p:cNvSpPr/>
          <p:nvPr/>
        </p:nvSpPr>
        <p:spPr>
          <a:xfrm rot="0" flipH="0" flipV="0">
            <a:off x="8077200" y="5162550"/>
            <a:ext cx="47625" cy="866775"/>
          </a:xfrm>
          <a:prstGeom prst="rect">
            <a:avLst/>
          </a:prstGeom>
          <a:solidFill>
            <a:srgbClr val="0F6E56"/>
          </a:solidFill>
          <a:ln/>
        </p:spPr>
        <p:txBody>
          <a:bodyPr/>
          <a:p/>
        </p:txBody>
      </p:sp>
      <p:sp>
        <p:nvSpPr>
          <p:cNvPr id="113" name="" descr="{&quot;isTemplate&quot;:true,&quot;type&quot;:&quot;text&quot;}"/>
          <p:cNvSpPr txBox="1"/>
          <p:nvPr/>
        </p:nvSpPr>
        <p:spPr>
          <a:xfrm rot="0" flipH="0" flipV="0">
            <a:off x="8239125" y="5162550"/>
            <a:ext cx="3038475" cy="171450"/>
          </a:xfrm>
          <a:prstGeom prst="rect"/>
        </p:spPr>
        <p:txBody>
          <a:bodyPr wrap="none" lIns="0" tIns="0" rIns="0" bIns="0"/>
          <a:p>
            <a:pPr>
              <a:lnSpc>
                <a:spcPct val="100000"/>
              </a:lnSpc>
            </a:pPr>
            <a:r>
              <a:rPr lang="en-US" sz="1125" b="1">
                <a:solidFill>
                  <a:srgbClr val="04342C"/>
                </a:solidFill>
                <a:latin typeface="Inter"/>
                <a:ea typeface="Inter"/>
              </a:rPr>
              <a:t>Local fast path</a:t>
            </a:r>
            <a:endParaRPr/>
          </a:p>
        </p:txBody>
      </p:sp>
      <p:sp>
        <p:nvSpPr>
          <p:cNvPr id="114" name="" descr="{&quot;isTemplate&quot;:true,&quot;type&quot;:&quot;text&quot;}"/>
          <p:cNvSpPr txBox="1"/>
          <p:nvPr/>
        </p:nvSpPr>
        <p:spPr>
          <a:xfrm rot="0" flipH="0" flipV="0">
            <a:off x="8239125" y="5353050"/>
            <a:ext cx="3038475" cy="676275"/>
          </a:xfrm>
          <a:prstGeom prst="rect"/>
        </p:spPr>
        <p:txBody>
          <a:bodyPr wrap="square" lIns="0" tIns="0" rIns="0" bIns="0">
            <a:normAutofit/>
          </a:bodyPr>
          <a:p>
            <a:pPr>
              <a:lnSpc>
                <a:spcPct val="140000"/>
              </a:lnSpc>
            </a:pPr>
            <a:r>
              <a:rPr lang="en-US" sz="1050">
                <a:solidFill>
                  <a:srgbClr val="0B1F1A"/>
                </a:solidFill>
                <a:latin typeface="Inter"/>
                <a:ea typeface="Inter"/>
              </a:rPr>
              <a:t>The 250 ms budget is met because the sentence is generated locally. A hosted model would need its own budget.</a:t>
            </a:r>
            <a:endParaRPr/>
          </a:p>
        </p:txBody>
      </p:sp>
      <p:sp>
        <p:nvSpPr>
          <p:cNvPr id="115" name="" descr="{&quot;isTemplate&quot;:true,&quot;type&quot;:&quot;text&quot;}"/>
          <p:cNvSpPr txBox="1"/>
          <p:nvPr/>
        </p:nvSpPr>
        <p:spPr>
          <a:xfrm rot="0" flipH="0" flipV="0">
            <a:off x="685800" y="6400800"/>
            <a:ext cx="2962275" cy="161925"/>
          </a:xfrm>
          <a:prstGeom prst="rect"/>
        </p:spPr>
        <p:txBody>
          <a:bodyPr wrap="none" lIns="0" tIns="0" rIns="0" bIns="0"/>
          <a:p>
            <a:pPr>
              <a:lnSpc>
                <a:spcPct val="100000"/>
              </a:lnSpc>
            </a:pPr>
            <a:r>
              <a:rPr lang="en-US" sz="1050">
                <a:solidFill>
                  <a:srgbClr val="6B7280"/>
                </a:solidFill>
                <a:latin typeface="Inter"/>
                <a:ea typeface="Inter"/>
              </a:rPr>
              <a:t>Talent Atlas · Samsung PRISM Y2026 · Theme 05</a:t>
            </a:r>
            <a:endParaRPr/>
          </a:p>
        </p:txBody>
      </p:sp>
      <p:sp>
        <p:nvSpPr>
          <p:cNvPr id="116" name="" descr="{&quot;isTemplate&quot;:true,&quot;type&quot;:&quot;text&quot;}"/>
          <p:cNvSpPr txBox="1"/>
          <p:nvPr/>
        </p:nvSpPr>
        <p:spPr>
          <a:xfrm rot="0" flipH="0" flipV="0">
            <a:off x="11106150" y="6400800"/>
            <a:ext cx="400050" cy="161925"/>
          </a:xfrm>
          <a:prstGeom prst="rect"/>
        </p:spPr>
        <p:txBody>
          <a:bodyPr wrap="none" lIns="0" tIns="0" rIns="0" bIns="0"/>
          <a:p>
            <a:pPr>
              <a:lnSpc>
                <a:spcPct val="100000"/>
              </a:lnSpc>
            </a:pPr>
            <a:r>
              <a:rPr lang="en-US" sz="1050">
                <a:solidFill>
                  <a:srgbClr val="6B7280"/>
                </a:solidFill>
                <a:latin typeface="JetBrains Mono"/>
                <a:ea typeface="JetBrains Mono"/>
              </a:rPr>
              <a:t>11 / 12</a:t>
            </a:r>
            <a:endParaRPr/>
          </a:p>
        </p:txBody>
      </p:sp>
    </p:spTree>
  </p:cSld>
</p:sld>
</file>

<file path=ppt/slides/slide12.xml><?xml version="1.0" encoding="utf-8"?>
<p:sld xmlns:a="http://schemas.openxmlformats.org/drawingml/2006/main" xmlns:p="http://schemas.openxmlformats.org/presentationml/2006/main">
  <p:cSld>
    <p:spTree>
      <p:nvGrpSpPr>
        <p:cNvPr id="117" name="" descr="&lt;Slide style={{&#10;    width: 1280,&#10;    height: 720,&#10;    padding: 0,&#10;    position: 'relative',&#10;    overflow: 'hidden',&#10;    background: 'linear-gradient(140deg, #04342C 0%, #0F6E56 100%)',&#10;}}&gt;&#10;    &lt;Box style={{&#10;        position: 'absolute',&#10;        left: 300,&#10;        top: 20,&#10;        width: 680,&#10;        height: 680,&#10;        borderRadius: 340,&#10;        border: '1px solid rgba(225,245,238,0.13)',&#10;    }} /&gt;&#10;    &lt;Box style={{&#10;        position: 'absolute',&#10;        left: 400,&#10;        top: 120,&#10;        width: 480,&#10;        height: 480,&#10;        borderRadius: 240,&#10;        border: '1px solid rgba(151,196,89,0.26)',&#10;    }} /&gt;&#10;    &lt;Box style={{&#10;        position: 'absolute',&#10;        left: 490,&#10;        top: 210,&#10;        width: 300,&#10;        height: 300,&#10;        borderRadius: 150,&#10;        background: 'rgba(151,196,89,0.07)',&#10;    }} /&gt;&#10;&#10;    &lt;Box style={{&#10;        position: 'relative',&#10;        zIndex: 1,&#10;        width: '100%',&#10;        height: '100%',&#10;        padding: '64px 90px 48px 90px',&#10;        flexDirection: 'column',&#10;        alignItems: 'center',&#10;        justifyContent: 'center',&#10;    }}&gt;&#10;        &lt;Box style={{ flexDirection: 'row', alignItems: 'center', gap: 16 }}&gt;&#10;            &lt;Box style={{ width: 34, height: 4, background: '#97C459' }} /&gt;&#10;            &lt;Text style={{&#10;                fontFamily: 'JetBrains Mono',&#10;                fontSize: 15,&#10;                color: '#E1F5EE',&#10;                letterSpacing: 2.4,&#10;            }}&gt;&#10;                THEME 05 · INTERRUPTIBLE REAL-TIME AGENTS&#10;            &lt;/Text&gt;&#10;            &lt;Box style={{ width: 34, height: 4, background: '#97C459' }} /&gt;&#10;        &lt;/Box&gt;&#10;&#10;        &lt;Text style={{&#10;            fontFamily: 'Inter',&#10;            fontSize: 56,&#10;            fontWeight: 'bold',&#10;            lineHeight: 1.28,&#10;            color: '#FFFFFF',&#10;            textAlign: 'center',&#10;            marginTop: 40,&#10;            maxWidth: 940,&#10;        }}&gt;&#10;            Every turn publishes what it believes.&#10;            &lt;br /&gt;&#10;            An interruption becomes a diff, not a restart.&#10;        &lt;/Text&gt;&#10;&#10;        &lt;Box style={{&#10;            marginTop: 44,&#10;            padding: '16px 30px',&#10;            border: '1px solid rgba(151,196,89,0.55)',&#10;            borderRadius: 4,&#10;            background: 'rgba(4,52,44,0.40)',&#10;            flexDirection: 'row',&#10;            alignItems: 'center',&#10;            gap: 20,&#10;        }}&gt;&#10;            &lt;Text style={{ fontFamily: 'JetBrains Mono', fontSize: 13, color: '#97C459', letterSpacing: 1.4 }}&gt;&#10;                RELEASE TAG&#10;            &lt;/Text&gt;&#10;            &lt;Text style={{ fontFamily: 'JetBrains Mono', fontSize: 20, color: '#FFFFFF' }}&gt;&#10;                PRISM_GENAI_HACKATHON_Y2026&#10;            &lt;/Text&gt;&#10;        &lt;/Box&gt;&#10;&#10;        &lt;Box style={{&#10;            marginTop: 42,&#10;            paddingTop: 26,&#10;            borderTop: '1px solid rgba(225,245,238,0.22)',&#10;            flexDirection: 'row',&#10;            gap: 52,&#10;            alignItems: 'flex-start',&#10;        }}&gt;&#10;            &lt;Box style={{ flexDirection: 'column', gap: 7 }}&gt;&#10;                &lt;Text style={{ fontFamily: 'JetBrains Mono', fontSize: 12, color: '#97C459', letterSpacing: 1.5 }}&gt;&#10;                    TESTS&#10;                &lt;/Text&gt;&#10;                &lt;Text style={{ fontFamily: 'JetBrains Mono', fontSize: 15, color: 'rgba(225,245,238,0.90)' }}&gt;&#10;                    python -m pytest tests -q&#10;                &lt;/Text&gt;&#10;            &lt;/Box&gt;&#10;            &lt;Box style={{ flexDirection: 'column', gap: 7 }}&gt;&#10;                &lt;Text style={{ fontFamily: 'JetBrains Mono', fontSize: 12, color: '#97C459', letterSpacing: 1.5 }}&gt;&#10;                    BENCHMARK&#10;                &lt;/Text&gt;&#10;                &lt;Text style={{ fontFamily: 'JetBrains Mono', fontSize: 15, color: 'rgba(225,245,238,0.90)' }}&gt;&#10;                    scripts/benchmark_realtime_interruptions.py&#10;                &lt;/Text&gt;&#10;            &lt;/Box&gt;&#10;            &lt;Box style={{ flexDirection: 'column', gap: 7 }}&gt;&#10;                &lt;Text style={{ fontFamily: 'JetBrains Mono', fontSize: 12, color: '#97C459', letterSpacing: 1.5 }}&gt;&#10;                    EVALUATION&#10;                &lt;/Text&gt;&#10;                &lt;Text style={{ fontFamily: 'JetBrains Mono', fontSize: 15, color: 'rgba(225,245,238,0.90)' }}&gt;&#10;                    scripts/evaluate_realtime_agent.py&#10;                &lt;/Text&gt;&#10;            &lt;/Box&gt;&#10;        &lt;/Box&gt;&#10;    &lt;/Box&gt;&#10;&#10;    &lt;Box style={{&#10;        position: 'absolute',&#10;        left: 90,&#10;        right: 90,&#10;        bottom: 30,&#10;        flexDirection: 'row',&#10;        justifyContent: 'space-between',&#10;    }}&gt;&#10;        &lt;Text style={{ fontFamily: 'Inter', fontSize: 14, color: 'rgba(225,245,238,0.72)' }}&gt;&#10;            Talent Atlas · Samsung PRISM Y2026 · Theme 05&#10;        &lt;/Text&gt;&#10;        &lt;Text style={{ fontFamily: 'JetBrains Mono', fontSize: 14, color: 'rgba(225,245,238,0.72)' }}&gt;&#10;            12 / 12&#10;        &lt;/Text&gt;&#10;    &lt;/Box&gt;&#10;&lt;/Slide&gt;&#10;"/>
        <p:cNvGrpSpPr/>
        <p:nvPr/>
      </p:nvGrpSpPr>
      <p:grpSpPr>
        <a:xfrm>
          <a:off x="0" y="0"/>
          <a:ext cx="0" cy="0"/>
          <a:chOff x="0" y="0"/>
          <a:chExt cx="0" cy="0"/>
        </a:xfrm>
      </p:grpSpPr>
      <p:sp>
        <p:nvSpPr>
          <p:cNvPr id="118" name=""/>
          <p:cNvSpPr/>
          <p:nvPr/>
        </p:nvSpPr>
        <p:spPr>
          <a:xfrm rot="0" flipH="0" flipV="0">
            <a:off x="0" y="0"/>
            <a:ext cx="12192000" cy="6858000"/>
          </a:xfrm>
          <a:prstGeom prst="rect">
            <a:avLst/>
          </a:prstGeom>
          <a:gradFill>
            <a:gsLst>
              <a:gs pos="0">
                <a:srgbClr val="04342C"/>
              </a:gs>
              <a:gs pos="100000">
                <a:srgbClr val="0F6E56"/>
              </a:gs>
            </a:gsLst>
            <a:lin ang="3000000" scaled="1"/>
          </a:gradFill>
          <a:ln/>
        </p:spPr>
        <p:txBody>
          <a:bodyPr/>
          <a:p/>
        </p:txBody>
      </p:sp>
      <p:sp>
        <p:nvSpPr>
          <p:cNvPr id="119" name=""/>
          <p:cNvSpPr/>
          <p:nvPr/>
        </p:nvSpPr>
        <p:spPr>
          <a:xfrm rot="0" flipH="0" flipV="0">
            <a:off x="2857500" y="190500"/>
            <a:ext cx="6477000" cy="6477000"/>
          </a:xfrm>
          <a:prstGeom prst="roundRect">
            <a:avLst>
              <a:gd name="adj" fmla="val 50000"/>
            </a:avLst>
          </a:prstGeom>
          <a:ln w="12700">
            <a:solidFill>
              <a:srgbClr val="E1F5EE">
                <a:alpha val="13000"/>
              </a:srgbClr>
            </a:solidFill>
            <a:prstDash val="solid"/>
          </a:ln>
        </p:spPr>
        <p:txBody>
          <a:bodyPr/>
          <a:p/>
        </p:txBody>
      </p:sp>
      <p:sp>
        <p:nvSpPr>
          <p:cNvPr id="120" name=""/>
          <p:cNvSpPr/>
          <p:nvPr/>
        </p:nvSpPr>
        <p:spPr>
          <a:xfrm rot="0" flipH="0" flipV="0">
            <a:off x="3810000" y="1143000"/>
            <a:ext cx="4572000" cy="4572000"/>
          </a:xfrm>
          <a:prstGeom prst="roundRect">
            <a:avLst>
              <a:gd name="adj" fmla="val 50000"/>
            </a:avLst>
          </a:prstGeom>
          <a:ln w="12700">
            <a:solidFill>
              <a:srgbClr val="97C459">
                <a:alpha val="26000"/>
              </a:srgbClr>
            </a:solidFill>
            <a:prstDash val="solid"/>
          </a:ln>
        </p:spPr>
        <p:txBody>
          <a:bodyPr/>
          <a:p/>
        </p:txBody>
      </p:sp>
      <p:sp>
        <p:nvSpPr>
          <p:cNvPr id="121" name=""/>
          <p:cNvSpPr/>
          <p:nvPr/>
        </p:nvSpPr>
        <p:spPr>
          <a:xfrm rot="0" flipH="0" flipV="0">
            <a:off x="4667250" y="2000250"/>
            <a:ext cx="2857500" cy="2857500"/>
          </a:xfrm>
          <a:prstGeom prst="roundRect">
            <a:avLst>
              <a:gd name="adj" fmla="val 50000"/>
            </a:avLst>
          </a:prstGeom>
          <a:solidFill>
            <a:srgbClr val="97C459">
              <a:alpha val="7000"/>
            </a:srgbClr>
          </a:solidFill>
          <a:ln/>
        </p:spPr>
        <p:txBody>
          <a:bodyPr/>
          <a:p/>
        </p:txBody>
      </p:sp>
      <p:sp>
        <p:nvSpPr>
          <p:cNvPr id="122" name="" descr="{&quot;isTemplate&quot;:true,&quot;type&quot;:&quot;text&quot;}"/>
          <p:cNvSpPr txBox="1"/>
          <p:nvPr/>
        </p:nvSpPr>
        <p:spPr>
          <a:xfrm rot="0" flipH="0" flipV="0">
            <a:off x="857250" y="6410325"/>
            <a:ext cx="2962275" cy="161925"/>
          </a:xfrm>
          <a:prstGeom prst="rect"/>
        </p:spPr>
        <p:txBody>
          <a:bodyPr wrap="none" lIns="0" tIns="0" rIns="0" bIns="0"/>
          <a:p>
            <a:pPr>
              <a:lnSpc>
                <a:spcPct val="100000"/>
              </a:lnSpc>
            </a:pPr>
            <a:r>
              <a:rPr lang="en-US" sz="1050">
                <a:solidFill>
                  <a:srgbClr val="E1F5EE">
                    <a:alpha val="72000"/>
                  </a:srgbClr>
                </a:solidFill>
                <a:latin typeface="Inter"/>
                <a:ea typeface="Inter"/>
              </a:rPr>
              <a:t>Talent Atlas · Samsung PRISM Y2026 · Theme 05</a:t>
            </a:r>
            <a:endParaRPr/>
          </a:p>
        </p:txBody>
      </p:sp>
      <p:sp>
        <p:nvSpPr>
          <p:cNvPr id="123" name="" descr="{&quot;isTemplate&quot;:true,&quot;type&quot;:&quot;text&quot;}"/>
          <p:cNvSpPr txBox="1"/>
          <p:nvPr/>
        </p:nvSpPr>
        <p:spPr>
          <a:xfrm rot="0" flipH="0" flipV="0">
            <a:off x="10925175" y="6410325"/>
            <a:ext cx="409575" cy="161925"/>
          </a:xfrm>
          <a:prstGeom prst="rect"/>
        </p:spPr>
        <p:txBody>
          <a:bodyPr wrap="none" lIns="0" tIns="0" rIns="0" bIns="0"/>
          <a:p>
            <a:pPr>
              <a:lnSpc>
                <a:spcPct val="100000"/>
              </a:lnSpc>
            </a:pPr>
            <a:r>
              <a:rPr lang="en-US" sz="1050">
                <a:solidFill>
                  <a:srgbClr val="E1F5EE">
                    <a:alpha val="72000"/>
                  </a:srgbClr>
                </a:solidFill>
                <a:latin typeface="JetBrains Mono"/>
                <a:ea typeface="JetBrains Mono"/>
              </a:rPr>
              <a:t>12 / 12</a:t>
            </a:r>
            <a:endParaRPr/>
          </a:p>
        </p:txBody>
      </p:sp>
      <p:sp>
        <p:nvSpPr>
          <p:cNvPr id="124" name=""/>
          <p:cNvSpPr/>
          <p:nvPr/>
        </p:nvSpPr>
        <p:spPr>
          <a:xfrm rot="0" flipH="0" flipV="0">
            <a:off x="3467100" y="1066800"/>
            <a:ext cx="323850" cy="38100"/>
          </a:xfrm>
          <a:prstGeom prst="rect">
            <a:avLst/>
          </a:prstGeom>
          <a:solidFill>
            <a:srgbClr val="97C459"/>
          </a:solidFill>
          <a:ln/>
        </p:spPr>
        <p:txBody>
          <a:bodyPr/>
          <a:p/>
        </p:txBody>
      </p:sp>
      <p:sp>
        <p:nvSpPr>
          <p:cNvPr id="125" name="" descr="{&quot;isTemplate&quot;:true,&quot;type&quot;:&quot;text&quot;}"/>
          <p:cNvSpPr txBox="1"/>
          <p:nvPr/>
        </p:nvSpPr>
        <p:spPr>
          <a:xfrm rot="0" flipH="0" flipV="0">
            <a:off x="3943350" y="1000125"/>
            <a:ext cx="4314825" cy="171450"/>
          </a:xfrm>
          <a:prstGeom prst="rect"/>
        </p:spPr>
        <p:txBody>
          <a:bodyPr wrap="none" lIns="0" tIns="0" rIns="0" bIns="0"/>
          <a:p>
            <a:pPr>
              <a:lnSpc>
                <a:spcPct val="100000"/>
              </a:lnSpc>
            </a:pPr>
            <a:r>
              <a:rPr lang="en-US" sz="1125" spc="180">
                <a:solidFill>
                  <a:srgbClr val="E1F5EE"/>
                </a:solidFill>
                <a:latin typeface="JetBrains Mono"/>
                <a:ea typeface="JetBrains Mono"/>
              </a:rPr>
              <a:t>THEME 05 · INTERRUPTIBLE REAL-TIME AGENTS</a:t>
            </a:r>
            <a:endParaRPr/>
          </a:p>
        </p:txBody>
      </p:sp>
      <p:sp>
        <p:nvSpPr>
          <p:cNvPr id="126" name=""/>
          <p:cNvSpPr/>
          <p:nvPr/>
        </p:nvSpPr>
        <p:spPr>
          <a:xfrm rot="0" flipH="0" flipV="0">
            <a:off x="8410575" y="1066800"/>
            <a:ext cx="323850" cy="38100"/>
          </a:xfrm>
          <a:prstGeom prst="rect">
            <a:avLst/>
          </a:prstGeom>
          <a:solidFill>
            <a:srgbClr val="97C459"/>
          </a:solidFill>
          <a:ln/>
        </p:spPr>
        <p:txBody>
          <a:bodyPr/>
          <a:p/>
        </p:txBody>
      </p:sp>
      <p:sp>
        <p:nvSpPr>
          <p:cNvPr id="127" name="" descr="{&quot;isTemplate&quot;:true,&quot;type&quot;:&quot;text&quot;}"/>
          <p:cNvSpPr txBox="1"/>
          <p:nvPr/>
        </p:nvSpPr>
        <p:spPr>
          <a:xfrm rot="0" flipH="0" flipV="0">
            <a:off x="857250" y="1552575"/>
            <a:ext cx="10477500" cy="2466975"/>
          </a:xfrm>
          <a:prstGeom prst="rect"/>
        </p:spPr>
        <p:txBody>
          <a:bodyPr wrap="square" lIns="0" tIns="0" rIns="0" bIns="0">
            <a:normAutofit/>
          </a:bodyPr>
          <a:p>
            <a:pPr algn="ctr">
              <a:lnSpc>
                <a:spcPct val="128000"/>
              </a:lnSpc>
            </a:pPr>
            <a:r>
              <a:rPr lang="en-US" sz="4200" b="1">
                <a:solidFill>
                  <a:srgbClr val="FFFFFF"/>
                </a:solidFill>
                <a:latin typeface="Inter"/>
                <a:ea typeface="Inter"/>
              </a:rPr>
              <a:t>Every turn publishes what it believes.</a:t>
            </a:r>
            <a:endParaRPr/>
          </a:p>
          <a:p>
            <a:pPr algn="ctr">
              <a:lnSpc>
                <a:spcPct val="128000"/>
              </a:lnSpc>
            </a:pPr>
            <a:r>
              <a:rPr lang="en-US" sz="4200" b="1">
                <a:solidFill>
                  <a:srgbClr val="FFFFFF"/>
                </a:solidFill>
                <a:latin typeface="Inter"/>
                <a:ea typeface="Inter"/>
              </a:rPr>
              <a:t>An interruption becomes a diff, not a restart.</a:t>
            </a:r>
            <a:endParaRPr/>
          </a:p>
        </p:txBody>
      </p:sp>
      <p:sp>
        <p:nvSpPr>
          <p:cNvPr id="128" name=""/>
          <p:cNvSpPr/>
          <p:nvPr/>
        </p:nvSpPr>
        <p:spPr>
          <a:xfrm rot="0" flipH="0" flipV="0">
            <a:off x="3590925" y="4438650"/>
            <a:ext cx="5019675" cy="533400"/>
          </a:xfrm>
          <a:prstGeom prst="roundRect">
            <a:avLst>
              <a:gd name="adj" fmla="val 7143"/>
            </a:avLst>
          </a:prstGeom>
          <a:solidFill>
            <a:srgbClr val="04342C">
              <a:alpha val="40000"/>
            </a:srgbClr>
          </a:solidFill>
          <a:ln w="12700">
            <a:solidFill>
              <a:srgbClr val="97C459">
                <a:alpha val="55000"/>
              </a:srgbClr>
            </a:solidFill>
            <a:prstDash val="solid"/>
          </a:ln>
        </p:spPr>
        <p:txBody>
          <a:bodyPr/>
          <a:p/>
        </p:txBody>
      </p:sp>
      <p:sp>
        <p:nvSpPr>
          <p:cNvPr id="129" name="" descr="{&quot;isTemplate&quot;:true,&quot;type&quot;:&quot;text&quot;}"/>
          <p:cNvSpPr txBox="1"/>
          <p:nvPr/>
        </p:nvSpPr>
        <p:spPr>
          <a:xfrm rot="0" flipH="0" flipV="0">
            <a:off x="3876675" y="4629150"/>
            <a:ext cx="1009650" cy="152400"/>
          </a:xfrm>
          <a:prstGeom prst="rect"/>
        </p:spPr>
        <p:txBody>
          <a:bodyPr wrap="none" lIns="0" tIns="0" rIns="0" bIns="0"/>
          <a:p>
            <a:pPr>
              <a:lnSpc>
                <a:spcPct val="100000"/>
              </a:lnSpc>
            </a:pPr>
            <a:r>
              <a:rPr lang="en-US" sz="975" spc="105">
                <a:solidFill>
                  <a:srgbClr val="97C459"/>
                </a:solidFill>
                <a:latin typeface="JetBrains Mono"/>
                <a:ea typeface="JetBrains Mono"/>
              </a:rPr>
              <a:t>RELEASE TAG</a:t>
            </a:r>
            <a:endParaRPr/>
          </a:p>
        </p:txBody>
      </p:sp>
      <p:sp>
        <p:nvSpPr>
          <p:cNvPr id="130" name="" descr="{&quot;isTemplate&quot;:true,&quot;type&quot;:&quot;text&quot;}"/>
          <p:cNvSpPr txBox="1"/>
          <p:nvPr/>
        </p:nvSpPr>
        <p:spPr>
          <a:xfrm rot="0" flipH="0" flipV="0">
            <a:off x="5076825" y="4591050"/>
            <a:ext cx="3248025" cy="228600"/>
          </a:xfrm>
          <a:prstGeom prst="rect"/>
        </p:spPr>
        <p:txBody>
          <a:bodyPr wrap="none" lIns="0" tIns="0" rIns="0" bIns="0"/>
          <a:p>
            <a:pPr>
              <a:lnSpc>
                <a:spcPct val="100000"/>
              </a:lnSpc>
            </a:pPr>
            <a:r>
              <a:rPr lang="en-US" sz="1500">
                <a:solidFill>
                  <a:srgbClr val="FFFFFF"/>
                </a:solidFill>
                <a:latin typeface="JetBrains Mono"/>
                <a:ea typeface="JetBrains Mono"/>
              </a:rPr>
              <a:t>PRISM_GENAI_HACKATHON_Y2026</a:t>
            </a:r>
            <a:endParaRPr/>
          </a:p>
        </p:txBody>
      </p:sp>
      <p:sp>
        <p:nvSpPr>
          <p:cNvPr id="131" name=""/>
          <p:cNvSpPr/>
          <p:nvPr/>
        </p:nvSpPr>
        <p:spPr>
          <a:xfrm rot="0" flipH="0" flipV="0">
            <a:off x="2305050" y="5372100"/>
            <a:ext cx="7581900" cy="647700"/>
          </a:xfrm>
          <a:custGeom>
            <a:pathLst>
              <a:path w="796" h="68">
                <a:moveTo>
                  <a:pt x="0" y="0"/>
                </a:moveTo>
                <a:lnTo>
                  <a:pt x="796" y="0"/>
                </a:lnTo>
                <a:lnTo>
                  <a:pt x="796" y="1"/>
                </a:lnTo>
                <a:lnTo>
                  <a:pt x="0" y="1"/>
                </a:lnTo>
                <a:close/>
              </a:path>
            </a:pathLst>
          </a:custGeom>
          <a:solidFill>
            <a:srgbClr val="E1F5EE">
              <a:alpha val="22000"/>
            </a:srgbClr>
          </a:solidFill>
          <a:ln/>
        </p:spPr>
        <p:txBody>
          <a:bodyPr/>
          <a:p/>
        </p:txBody>
      </p:sp>
      <p:sp>
        <p:nvSpPr>
          <p:cNvPr id="132" name="" descr="{&quot;isTemplate&quot;:true,&quot;type&quot;:&quot;text&quot;}"/>
          <p:cNvSpPr txBox="1"/>
          <p:nvPr/>
        </p:nvSpPr>
        <p:spPr>
          <a:xfrm rot="0" flipH="0" flipV="0">
            <a:off x="2305050" y="5629275"/>
            <a:ext cx="1571625" cy="142875"/>
          </a:xfrm>
          <a:prstGeom prst="rect"/>
        </p:spPr>
        <p:txBody>
          <a:bodyPr wrap="none" lIns="0" tIns="0" rIns="0" bIns="0"/>
          <a:p>
            <a:pPr>
              <a:lnSpc>
                <a:spcPct val="100000"/>
              </a:lnSpc>
            </a:pPr>
            <a:r>
              <a:rPr lang="en-US" sz="900" spc="113">
                <a:solidFill>
                  <a:srgbClr val="97C459"/>
                </a:solidFill>
                <a:latin typeface="JetBrains Mono"/>
                <a:ea typeface="JetBrains Mono"/>
              </a:rPr>
              <a:t>TESTS</a:t>
            </a:r>
            <a:endParaRPr/>
          </a:p>
        </p:txBody>
      </p:sp>
      <p:sp>
        <p:nvSpPr>
          <p:cNvPr id="133" name="" descr="{&quot;isTemplate&quot;:true,&quot;type&quot;:&quot;text&quot;}"/>
          <p:cNvSpPr txBox="1"/>
          <p:nvPr/>
        </p:nvSpPr>
        <p:spPr>
          <a:xfrm rot="0" flipH="0" flipV="0">
            <a:off x="2305050" y="5838825"/>
            <a:ext cx="1571625" cy="171450"/>
          </a:xfrm>
          <a:prstGeom prst="rect"/>
        </p:spPr>
        <p:txBody>
          <a:bodyPr wrap="none" lIns="0" tIns="0" rIns="0" bIns="0"/>
          <a:p>
            <a:pPr>
              <a:lnSpc>
                <a:spcPct val="100000"/>
              </a:lnSpc>
            </a:pPr>
            <a:r>
              <a:rPr lang="en-US" sz="1125">
                <a:solidFill>
                  <a:srgbClr val="E1F5EE">
                    <a:alpha val="90000"/>
                  </a:srgbClr>
                </a:solidFill>
                <a:latin typeface="JetBrains Mono"/>
                <a:ea typeface="JetBrains Mono"/>
              </a:rPr>
              <a:t>python -m pytest tests -q</a:t>
            </a:r>
            <a:endParaRPr/>
          </a:p>
        </p:txBody>
      </p:sp>
      <p:sp>
        <p:nvSpPr>
          <p:cNvPr id="134" name="" descr="{&quot;isTemplate&quot;:true,&quot;type&quot;:&quot;text&quot;}"/>
          <p:cNvSpPr txBox="1"/>
          <p:nvPr/>
        </p:nvSpPr>
        <p:spPr>
          <a:xfrm rot="0" flipH="0" flipV="0">
            <a:off x="4371975" y="5629275"/>
            <a:ext cx="2809875" cy="142875"/>
          </a:xfrm>
          <a:prstGeom prst="rect"/>
        </p:spPr>
        <p:txBody>
          <a:bodyPr wrap="none" lIns="0" tIns="0" rIns="0" bIns="0"/>
          <a:p>
            <a:pPr>
              <a:lnSpc>
                <a:spcPct val="100000"/>
              </a:lnSpc>
            </a:pPr>
            <a:r>
              <a:rPr lang="en-US" sz="900" spc="113">
                <a:solidFill>
                  <a:srgbClr val="97C459"/>
                </a:solidFill>
                <a:latin typeface="JetBrains Mono"/>
                <a:ea typeface="JetBrains Mono"/>
              </a:rPr>
              <a:t>BENCHMARK</a:t>
            </a:r>
            <a:endParaRPr/>
          </a:p>
        </p:txBody>
      </p:sp>
      <p:sp>
        <p:nvSpPr>
          <p:cNvPr id="135" name="" descr="{&quot;isTemplate&quot;:true,&quot;type&quot;:&quot;text&quot;}"/>
          <p:cNvSpPr txBox="1"/>
          <p:nvPr/>
        </p:nvSpPr>
        <p:spPr>
          <a:xfrm rot="0" flipH="0" flipV="0">
            <a:off x="4371975" y="5838825"/>
            <a:ext cx="2809875" cy="171450"/>
          </a:xfrm>
          <a:prstGeom prst="rect"/>
        </p:spPr>
        <p:txBody>
          <a:bodyPr wrap="none" lIns="0" tIns="0" rIns="0" bIns="0"/>
          <a:p>
            <a:pPr>
              <a:lnSpc>
                <a:spcPct val="100000"/>
              </a:lnSpc>
            </a:pPr>
            <a:r>
              <a:rPr lang="en-US" sz="1125">
                <a:solidFill>
                  <a:srgbClr val="E1F5EE">
                    <a:alpha val="90000"/>
                  </a:srgbClr>
                </a:solidFill>
                <a:latin typeface="JetBrains Mono"/>
                <a:ea typeface="JetBrains Mono"/>
              </a:rPr>
              <a:t>scripts/benchmark_realtime_interruptions.py</a:t>
            </a:r>
            <a:endParaRPr/>
          </a:p>
        </p:txBody>
      </p:sp>
      <p:sp>
        <p:nvSpPr>
          <p:cNvPr id="136" name="" descr="{&quot;isTemplate&quot;:true,&quot;type&quot;:&quot;text&quot;}"/>
          <p:cNvSpPr txBox="1"/>
          <p:nvPr/>
        </p:nvSpPr>
        <p:spPr>
          <a:xfrm rot="0" flipH="0" flipV="0">
            <a:off x="7677150" y="5629275"/>
            <a:ext cx="2209800" cy="142875"/>
          </a:xfrm>
          <a:prstGeom prst="rect"/>
        </p:spPr>
        <p:txBody>
          <a:bodyPr wrap="none" lIns="0" tIns="0" rIns="0" bIns="0"/>
          <a:p>
            <a:pPr>
              <a:lnSpc>
                <a:spcPct val="100000"/>
              </a:lnSpc>
            </a:pPr>
            <a:r>
              <a:rPr lang="en-US" sz="900" spc="113">
                <a:solidFill>
                  <a:srgbClr val="97C459"/>
                </a:solidFill>
                <a:latin typeface="JetBrains Mono"/>
                <a:ea typeface="JetBrains Mono"/>
              </a:rPr>
              <a:t>EVALUATION</a:t>
            </a:r>
            <a:endParaRPr/>
          </a:p>
        </p:txBody>
      </p:sp>
      <p:sp>
        <p:nvSpPr>
          <p:cNvPr id="137" name="" descr="{&quot;isTemplate&quot;:true,&quot;type&quot;:&quot;text&quot;}"/>
          <p:cNvSpPr txBox="1"/>
          <p:nvPr/>
        </p:nvSpPr>
        <p:spPr>
          <a:xfrm rot="0" flipH="0" flipV="0">
            <a:off x="7677150" y="5838825"/>
            <a:ext cx="2209800" cy="171450"/>
          </a:xfrm>
          <a:prstGeom prst="rect"/>
        </p:spPr>
        <p:txBody>
          <a:bodyPr wrap="none" lIns="0" tIns="0" rIns="0" bIns="0"/>
          <a:p>
            <a:pPr>
              <a:lnSpc>
                <a:spcPct val="100000"/>
              </a:lnSpc>
            </a:pPr>
            <a:r>
              <a:rPr lang="en-US" sz="1125">
                <a:solidFill>
                  <a:srgbClr val="E1F5EE">
                    <a:alpha val="90000"/>
                  </a:srgbClr>
                </a:solidFill>
                <a:latin typeface="JetBrains Mono"/>
                <a:ea typeface="JetBrains Mono"/>
              </a:rPr>
              <a:t>scripts/evaluate_realtime_agent.py</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dc="http://purl.org/dc/elements/1.1/" xmlns:cp="http://schemas.openxmlformats.org/package/2006/metadata/core-properties">
  <dcterms:created xsi:type="dcterms:W3CDTF">2026-09-22T06:41:01Z</dcterms:created>
  <dcterms:modified xsi:type="dcterms:W3CDTF">2026-09-22T06:41:01Z</dcterms:modified>
</cp:coreProperties>
</file>
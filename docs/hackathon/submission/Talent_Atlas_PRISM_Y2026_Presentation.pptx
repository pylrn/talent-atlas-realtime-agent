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3013f6f4644710" /><Relationship Type="http://schemas.openxmlformats.org/officeDocument/2006/relationships/extended-properties" Target="/docProps/app.xml" Id="R843c957d058e4b88" /><Relationship Type="http://schemas.openxmlformats.org/officeDocument/2006/relationships/officeDocument" Target="/ppt/presentation.xml" Id="R28308869e24e4c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035b693d4b4273"/>
  </p:sldMasterIdLst>
  <p:notesMasterIdLst>
    <p:notesMasterId xmlns:r="http://schemas.openxmlformats.org/officeDocument/2006/relationships" r:id="R1245adab45e04f34"/>
  </p:notesMasterIdLst>
  <p:sldIdLst>
    <p:sldId xmlns:r="http://schemas.openxmlformats.org/officeDocument/2006/relationships" id="256" r:id="R56bbef0491bc49cc"/>
    <p:sldId xmlns:r="http://schemas.openxmlformats.org/officeDocument/2006/relationships" id="257" r:id="R3e8ec4ed0a49474a"/>
    <p:sldId xmlns:r="http://schemas.openxmlformats.org/officeDocument/2006/relationships" id="258" r:id="R69424a340e44427c"/>
    <p:sldId xmlns:r="http://schemas.openxmlformats.org/officeDocument/2006/relationships" id="259" r:id="Rd86fd21535b24ac5"/>
    <p:sldId xmlns:r="http://schemas.openxmlformats.org/officeDocument/2006/relationships" id="260" r:id="R2fa62e11b45e4e40"/>
    <p:sldId xmlns:r="http://schemas.openxmlformats.org/officeDocument/2006/relationships" id="261" r:id="Rc7f87f9587d84ac1"/>
    <p:sldId xmlns:r="http://schemas.openxmlformats.org/officeDocument/2006/relationships" id="262" r:id="R904baaa5d5ee4052"/>
    <p:sldId xmlns:r="http://schemas.openxmlformats.org/officeDocument/2006/relationships" id="263" r:id="R39ee60a68d0c4e11"/>
    <p:sldId xmlns:r="http://schemas.openxmlformats.org/officeDocument/2006/relationships" id="264" r:id="R477a895fc06a4edc"/>
    <p:sldId xmlns:r="http://schemas.openxmlformats.org/officeDocument/2006/relationships" id="265" r:id="R53d03bb24e954eb1"/>
    <p:sldId xmlns:r="http://schemas.openxmlformats.org/officeDocument/2006/relationships" id="266" r:id="Re3cb5b3c92af46b9"/>
    <p:sldId xmlns:r="http://schemas.openxmlformats.org/officeDocument/2006/relationships" id="267" r:id="R4dad68160cb143c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dd0e1ec7554fe0" /><Relationship Type="http://schemas.openxmlformats.org/officeDocument/2006/relationships/slideMaster" Target="/ppt/slideMasters/slideMaster1.xml" Id="R53035b693d4b4273" /><Relationship Type="http://schemas.openxmlformats.org/officeDocument/2006/relationships/notesMaster" Target="/ppt/notesMasters/notesMaster1.xml" Id="R1245adab45e04f34" /><Relationship Type="http://schemas.openxmlformats.org/officeDocument/2006/relationships/presProps" Target="/ppt/presProps.xml" Id="Ra3ac83abeb03471c" /><Relationship Type="http://schemas.openxmlformats.org/officeDocument/2006/relationships/tableStyles" Target="/ppt/tableStyles.xml" Id="R25830ae6f9d04988" /><Relationship Type="http://schemas.openxmlformats.org/officeDocument/2006/relationships/slide" Target="/ppt/slides/slide1.xml" Id="R56bbef0491bc49cc" /><Relationship Type="http://schemas.openxmlformats.org/officeDocument/2006/relationships/slide" Target="/ppt/slides/slide2.xml" Id="R3e8ec4ed0a49474a" /><Relationship Type="http://schemas.openxmlformats.org/officeDocument/2006/relationships/slide" Target="/ppt/slides/slide3.xml" Id="R69424a340e44427c" /><Relationship Type="http://schemas.openxmlformats.org/officeDocument/2006/relationships/slide" Target="/ppt/slides/slide4.xml" Id="Rd86fd21535b24ac5" /><Relationship Type="http://schemas.openxmlformats.org/officeDocument/2006/relationships/slide" Target="/ppt/slides/slide5.xml" Id="R2fa62e11b45e4e40" /><Relationship Type="http://schemas.openxmlformats.org/officeDocument/2006/relationships/slide" Target="/ppt/slides/slide6.xml" Id="Rc7f87f9587d84ac1" /><Relationship Type="http://schemas.openxmlformats.org/officeDocument/2006/relationships/slide" Target="/ppt/slides/slide7.xml" Id="R904baaa5d5ee4052" /><Relationship Type="http://schemas.openxmlformats.org/officeDocument/2006/relationships/slide" Target="/ppt/slides/slide8.xml" Id="R39ee60a68d0c4e11" /><Relationship Type="http://schemas.openxmlformats.org/officeDocument/2006/relationships/slide" Target="/ppt/slides/slide9.xml" Id="R477a895fc06a4edc" /><Relationship Type="http://schemas.openxmlformats.org/officeDocument/2006/relationships/slide" Target="/ppt/slides/slide10.xml" Id="R53d03bb24e954eb1" /><Relationship Type="http://schemas.openxmlformats.org/officeDocument/2006/relationships/slide" Target="/ppt/slides/slide11.xml" Id="Re3cb5b3c92af46b9" /><Relationship Type="http://schemas.openxmlformats.org/officeDocument/2006/relationships/slide" Target="/ppt/slides/slide12.xml" Id="R4dad68160cb143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1f681929fb4e7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b866edd09c45d6" /><Relationship Type="http://schemas.openxmlformats.org/officeDocument/2006/relationships/notesMaster" Target="/ppt/notesMasters/notesMaster1.xml" Id="Rf89f0075391740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2580a1f64841e6" /><Relationship Type="http://schemas.openxmlformats.org/officeDocument/2006/relationships/notesMaster" Target="/ppt/notesMasters/notesMaster1.xml" Id="R03f31dd493ac4f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fa10f0e736445d" /><Relationship Type="http://schemas.openxmlformats.org/officeDocument/2006/relationships/notesMaster" Target="/ppt/notesMasters/notesMaster1.xml" Id="Rbdffbc330da34c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e25d3101a6462e" /><Relationship Type="http://schemas.openxmlformats.org/officeDocument/2006/relationships/notesMaster" Target="/ppt/notesMasters/notesMaster1.xml" Id="R2ae11893585340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357acaa10a4fef" /><Relationship Type="http://schemas.openxmlformats.org/officeDocument/2006/relationships/notesMaster" Target="/ppt/notesMasters/notesMaster1.xml" Id="Rd70191bf3bdd4d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b7d313be954bb7" /><Relationship Type="http://schemas.openxmlformats.org/officeDocument/2006/relationships/notesMaster" Target="/ppt/notesMasters/notesMaster1.xml" Id="R67b6d8bde7c844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b7c858a69a49c4" /><Relationship Type="http://schemas.openxmlformats.org/officeDocument/2006/relationships/notesMaster" Target="/ppt/notesMasters/notesMaster1.xml" Id="R7da5f34109264c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0ccdd66abb4b37" /><Relationship Type="http://schemas.openxmlformats.org/officeDocument/2006/relationships/notesMaster" Target="/ppt/notesMasters/notesMaster1.xml" Id="R9c9f4f870b1b41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a9e651b36840de" /><Relationship Type="http://schemas.openxmlformats.org/officeDocument/2006/relationships/notesMaster" Target="/ppt/notesMasters/notesMaster1.xml" Id="Rdfb827ea5df14ed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82176b41cf4d32" /><Relationship Type="http://schemas.openxmlformats.org/officeDocument/2006/relationships/notesMaster" Target="/ppt/notesMasters/notesMaster1.xml" Id="R26fa4c59697543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6507c214ad49bf" /><Relationship Type="http://schemas.openxmlformats.org/officeDocument/2006/relationships/notesMaster" Target="/ppt/notesMasters/notesMaster1.xml" Id="Re7f849b6074a41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9d5ba03a63044c3" /><Relationship Type="http://schemas.openxmlformats.org/officeDocument/2006/relationships/notesMaster" Target="/ppt/notesMasters/notesMaster1.xml" Id="R1ed2f728cf5540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Talent Atlas combines a Gemini Live conversation layer with an application-owned, revision-aware retrieval harness. The demonstration video follows the same flow presented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corpus uses transformed public recruitment records for the demonstration. The system is designed to show the complete retrieval and orchestration path, not only a chat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direct endpoint and the live agent do not maintain separate ranking implementations. Both normalize into the same canonical specification before retrieval.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request can also carry location, country, city, salary limits, experience limits, excluded skills, preferred locations, roles, themes, result count and per-request pipeline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branch emits candidates and telemetry. Reciprocal Rank Fusion compares rank positions rather than assuming scores from different retrieval methods share the same scale.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 descriptions teach the model when to call each function. The dispatcher does not trust the model's prose: it validates arguments and enforces read-only versus state-modifying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replacement intent can start a clean plan. A refinement creates a child revision, records changed fields and selectively invalidates affected branches.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browser continues listening after each response. Barge-in cancels generated speech first, while application state and valid retrieval remain intact.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user can stop the microphone to explain the demo, restart it and ask about the current results. The application remains the source of session truth, not the audio transport.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Selecting a node reveals summary, input, results, evidence and the raw event. Langfuse complements the product inspector with end-to-end traces and scores.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same evidence structure powers the conversational answer. The model does not maintain a separate hidden candidate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repository contains the source code, requirements, Docker configuration, AI disclosure, demonstration video and the tagged submission commit.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98291717c40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664997f17a45ac" /><Relationship Type="http://schemas.openxmlformats.org/officeDocument/2006/relationships/slideLayout" Target="/ppt/slideLayouts/slideLayout1.xml" Id="Rbe6e2df7700244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6e2df7700244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a12dd2f2342f9" /><Relationship Type="http://schemas.openxmlformats.org/officeDocument/2006/relationships/image" Target="/ppt/media/image.jpeg" Id="Raa85642e7ab74303" /><Relationship Type="http://schemas.openxmlformats.org/officeDocument/2006/relationships/notesSlide" Target="/ppt/notesSlides/notesSlide1.xml" Id="R9a7ed241a27042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7fa043a07480a" /><Relationship Type="http://schemas.openxmlformats.org/officeDocument/2006/relationships/image" Target="/ppt/media/image.png" Id="R20b9bab34e3846bd" /><Relationship Type="http://schemas.openxmlformats.org/officeDocument/2006/relationships/notesSlide" Target="/ppt/notesSlides/notesSlide2.xml" Id="R36c5d76500ba4c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395ab3be84bd5" /><Relationship Type="http://schemas.openxmlformats.org/officeDocument/2006/relationships/image" Target="/ppt/media/image2.png" Id="Rcac329cdc0fe414d" /><Relationship Type="http://schemas.openxmlformats.org/officeDocument/2006/relationships/image" Target="/ppt/media/image3.png" Id="Rb98d8b2ee0d447df" /><Relationship Type="http://schemas.openxmlformats.org/officeDocument/2006/relationships/notesSlide" Target="/ppt/notesSlides/notesSlide3.xml" Id="R12f95d4c341c4b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3b6ca44c64424d" /><Relationship Type="http://schemas.openxmlformats.org/officeDocument/2006/relationships/notesSlide" Target="/ppt/notesSlides/notesSlide4.xml" Id="R349a71d982c345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54bea76d94d8c" /><Relationship Type="http://schemas.openxmlformats.org/officeDocument/2006/relationships/notesSlide" Target="/ppt/notesSlides/notesSlide5.xml" Id="R3760822f8c5f45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87603d5874b2d" /><Relationship Type="http://schemas.openxmlformats.org/officeDocument/2006/relationships/notesSlide" Target="/ppt/notesSlides/notesSlide6.xml" Id="Rf27fe932f36042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fb354dc844021" /><Relationship Type="http://schemas.openxmlformats.org/officeDocument/2006/relationships/notesSlide" Target="/ppt/notesSlides/notesSlide7.xml" Id="Ra21fc640ea7246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8d1ec535d4bb7" /><Relationship Type="http://schemas.openxmlformats.org/officeDocument/2006/relationships/notesSlide" Target="/ppt/notesSlides/notesSlide8.xml" Id="R167b6023fabe43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376542728445a6" /><Relationship Type="http://schemas.openxmlformats.org/officeDocument/2006/relationships/notesSlide" Target="/ppt/notesSlides/notesSlide9.xml" Id="R7b2f89b5180f46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55d19c68d4b41" /><Relationship Type="http://schemas.openxmlformats.org/officeDocument/2006/relationships/image" Target="/ppt/media/image4.png" Id="R3ddaa674976e4207" /><Relationship Type="http://schemas.openxmlformats.org/officeDocument/2006/relationships/notesSlide" Target="/ppt/notesSlides/notesSlide10.xml" Id="Rd70e5f0fae9c4c5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d67efe1be4af7" /><Relationship Type="http://schemas.openxmlformats.org/officeDocument/2006/relationships/image" Target="/ppt/media/image5.png" Id="Rbd39ea50602744a9" /><Relationship Type="http://schemas.openxmlformats.org/officeDocument/2006/relationships/notesSlide" Target="/ppt/notesSlides/notesSlide11.xml" Id="Rb8226dbae2dc45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a4e3410d24980" /><Relationship Type="http://schemas.openxmlformats.org/officeDocument/2006/relationships/notesSlide" Target="/ppt/notesSlides/notesSlide12.xml" Id="R140768f3f1934d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B3BFE-8A80-43F2-A65A-BD386069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C87EA-E9C5-4AC0-A910-5187A706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3F9598-DBF9-45E9-B406-95FD119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A18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A184"/>
                </a:solidFill>
                <a:latin typeface="Arial"/>
                <a:ea typeface="Arial"/>
                <a:cs typeface="Arial"/>
              </a:rPr>
              <a:t>SAMSUNG PRISM GENAI HACKATHON Y2026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4E846-2FBC-4C5D-917A-ACEF0961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3714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Talent</a:t>
            </a:r>
          </a:p>
          <a:p xmlns:a="http://schemas.openxmlformats.org/drawingml/2006/main">
            <a:pPr algn="l">
              <a:defRPr sz="4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Atlas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1AE96F-1A72-4DC1-9FCF-EB7B6BFB9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3714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Interruptible real-time recruiting, grounded in hybrid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C0B336-DBA8-4F12-B3AA-8809FFEC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4A18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F4A184"/>
                </a:solidFill>
                <a:latin typeface="Arial"/>
                <a:ea typeface="Arial"/>
                <a:cs typeface="Arial"/>
              </a:rPr>
              <a:t>THEME 05  /  INTERRUPTIBLE REAL-TIME AGENTS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FD83A9-175B-42EA-BECD-ABC1648A9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53075"/>
            <a:ext cx="3714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CED8DE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ED8DE"/>
                </a:solidFill>
                <a:latin typeface="Arial"/>
                <a:ea typeface="Arial"/>
                <a:cs typeface="Arial"/>
              </a:rPr>
              <a:t>A live agent that listens, searches, revises and explains without losing the active goal.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D318E4-AA85-449A-B114-C3CE2977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723900"/>
            <a:ext cx="6724650" cy="5410200"/>
          </a:xfrm>
          <a:prstGeom xmlns:a="http://schemas.openxmlformats.org/drawingml/2006/main" prst="roundRect">
            <a:avLst>
              <a:gd name="adj" fmla="val 17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5642e7ab74303"/>
          <a:srcRect xmlns:a="http://schemas.openxmlformats.org/drawingml/2006/main" l="10742" t="0" r="107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800100"/>
            <a:ext cx="6572250" cy="5257800"/>
          </a:xfrm>
          <a:prstGeom xmlns:a="http://schemas.openxmlformats.org/drawingml/2006/main" prst="roundRect">
            <a:avLst>
              <a:gd name="adj" fmla="val 217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74EA3-09FA-491F-98B1-F1672F21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628650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9AA7B2"/>
                </a:solidFill>
                <a:latin typeface="Menlo"/>
                <a:ea typeface="Menlo"/>
                <a:cs typeface="Menlo"/>
              </a:defRPr>
            </a:pPr>
            <a:r>
              <a:rPr sz="825" b="0" i="0">
                <a:solidFill>
                  <a:srgbClr val="9AA7B2"/>
                </a:solidFill>
                <a:latin typeface="Menlo"/>
                <a:ea typeface="Menlo"/>
                <a:cs typeface="Menlo"/>
              </a:rPr>
              <a:t>PRISM_GENAI_HACKATHON_Y2026</a:t>
            </a:r>
          </a:p>
        </p:txBody>
      </p:sp>
    </p:spTree>
    <p:extLst>
      <p:ext uri="{BB962C8B-B14F-4D97-AF65-F5344CB8AC3E}">
        <p14:creationId xmlns:p14="http://schemas.microsoft.com/office/powerpoint/2010/main" val="1630719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6862B7-B463-4C77-A69E-8F228333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C197E-8B04-4BD8-B720-4132AD13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PRODUCT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824371-E9F4-4A35-964C-B08E0098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829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One recruiting conversation, backed by a complete search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A7908-683E-4079-9621-EB9E0B10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C86E4A-A99C-4643-8467-1690898C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84E98-F32D-4C91-BFB9-69C4016E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A recruiter can speak, type or share a role image. Talent Atlas turns the request into a validated search plan, retrieves candidates through four complementary paths and explains every ranking from source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9F4000-AB52-423D-A608-9ECEE165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6000750" cy="241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57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Search 15,352 transformed candidate profiles and 32,069 evidence chunks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57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Refine one constraint while preserving the rest of the session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57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Compare, inspect and shortlist candidates through guarded tools</a:t>
            </a:r>
          </a:p>
          <a:p xmlns:a="http://schemas.openxmlformats.org/drawingml/2006/main">
            <a:pPr marL="228600" indent="-114300" algn="l">
              <a:spcAft>
                <a:spcPts val="1200"/>
              </a:spcAft>
              <a:buChar char="•"/>
              <a:defRPr sz="157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Open the evidence graph to audit inputs, timing, results and raw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7070AE-BE7D-4601-AA92-533056255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28750"/>
            <a:ext cx="4667250" cy="4038600"/>
          </a:xfrm>
          <a:prstGeom xmlns:a="http://schemas.openxmlformats.org/drawingml/2006/main" prst="roundRect">
            <a:avLst>
              <a:gd name="adj" fmla="val 23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9bab34e3846bd"/>
          <a:srcRect xmlns:a="http://schemas.openxmlformats.org/drawingml/2006/main" l="13695" t="0" r="1369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4700" y="1504950"/>
            <a:ext cx="4514850" cy="3886200"/>
          </a:xfrm>
          <a:prstGeom xmlns:a="http://schemas.openxmlformats.org/drawingml/2006/main" prst="roundRect">
            <a:avLst>
              <a:gd name="adj" fmla="val 294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8063F-F967-4F2E-87CF-51E8E8F7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572125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A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446F7A-9880-4B91-B3A8-80749463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5816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89CFF-5365-40C5-82F3-C7C9ACC0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72125"/>
            <a:ext cx="742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3E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47C021-F2B2-4F7C-A5CC-A4655A1C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816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99ECB-3DD4-4AED-A2A3-498609E5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72125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32D7C-8EB6-4795-89ED-913C0A8E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581650"/>
            <a:ext cx="83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875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875A8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6A7FB-7684-46A3-90E1-4DB445C2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572125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EAE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8B736-A4AA-4F17-9B7C-218952B3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55816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871876-6EC9-44A7-BCB9-A16E2259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Samsung PRISM Y2026  •  Theme 05</a:t>
            </a:r>
          </a:p>
        </p:txBody>
      </p:sp>
    </p:spTree>
    <p:extLst>
      <p:ext uri="{BB962C8B-B14F-4D97-AF65-F5344CB8AC3E}">
        <p14:creationId xmlns:p14="http://schemas.microsoft.com/office/powerpoint/2010/main" val="1065233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3FA01-E985-4386-A8EA-5B83058D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96E3A-A36A-4153-979A-C118E059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SYSTEM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1321A-F03C-45A2-AFF8-E2FBA2B6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Two interfaces share one validated search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77076-1AF5-4073-AF42-41B5C466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BC5C0-E853-4A7E-A215-1D131148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00C9E0-BE73-4CEF-9F59-88866D99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Direct 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CFF93-D09F-4626-B83A-26CC404F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57375"/>
            <a:ext cx="4857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The /search UI exposes modes, filters, pipeline overrides and the resulting evidence contract.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D5E7EB-B83B-4425-A286-5611B4EC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33650"/>
            <a:ext cx="5372100" cy="3105150"/>
          </a:xfrm>
          <a:prstGeom xmlns:a="http://schemas.openxmlformats.org/drawingml/2006/main" prst="roundRect">
            <a:avLst>
              <a:gd name="adj" fmla="val 30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329cdc0fe414d"/>
          <a:srcRect xmlns:a="http://schemas.openxmlformats.org/drawingml/2006/main" l="0" t="4745" r="0" b="4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609850"/>
            <a:ext cx="521970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7BB2E-E774-495A-B3C1-83154262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85900"/>
            <a:ext cx="5219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Conversational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C8C97-8798-4EE0-804E-F949D703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57375"/>
            <a:ext cx="521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The Talent UI lets Gemini Live call the same search engine, then continue with inspect, compare and shortlist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20A42-A601-450A-90F1-E0EB5538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5372100" cy="3105150"/>
          </a:xfrm>
          <a:prstGeom xmlns:a="http://schemas.openxmlformats.org/drawingml/2006/main" prst="roundRect">
            <a:avLst>
              <a:gd name="adj" fmla="val 30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d8b2ee0d447df"/>
          <a:srcRect xmlns:a="http://schemas.openxmlformats.org/drawingml/2006/main" l="0" t="4745" r="0" b="47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19850" y="2609850"/>
            <a:ext cx="5219700" cy="2952750"/>
          </a:xfrm>
          <a:prstGeom xmlns:a="http://schemas.openxmlformats.org/drawingml/2006/main" prst="roundRect">
            <a:avLst>
              <a:gd name="adj" fmla="val 3871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45855-FE1A-44BD-8767-A2FE7BA4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5724525"/>
            <a:ext cx="23431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42472-4B11-4026-A680-84B317A8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7912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9684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Canonical search specification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B1C13A-F9B7-46E4-A3A7-F5592553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781675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5F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FF164-B61C-4047-B1BB-128AD382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781675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5F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8EE0F9-0D2C-43DE-B3FC-02CAF6F7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Samsung PRISM Y2026  •  Theme 05</a:t>
            </a:r>
          </a:p>
        </p:txBody>
      </p:sp>
    </p:spTree>
    <p:extLst>
      <p:ext uri="{BB962C8B-B14F-4D97-AF65-F5344CB8AC3E}">
        <p14:creationId xmlns:p14="http://schemas.microsoft.com/office/powerpoint/2010/main" val="1799712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6B0C8-6D00-4CB8-902E-D41A7233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09F5DA-4EA2-43FC-B742-EBFB861A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DIRECT SEARCH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1A593-2F80-440F-8CE7-09AEB1F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The /search endpoint exposes the retrieval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5BFF1-BF73-441B-BBF4-22CCBD68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B4541-1FF8-49B0-8323-C459E0D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44414-6AD1-40BA-9C5D-0C641906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The API accepts plain language plus explicit constraints. Pydantic validates the request before any retrieval branch runs.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5E37ED-E508-4105-9D9F-3C56DB34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47900"/>
            <a:ext cx="5619750" cy="34290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6A80DE-6DAC-4DB1-B920-72A5F03F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76500"/>
            <a:ext cx="5143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{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"query": "accounting and financial reporting",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"must_skills": ["accounting", "auditing"],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"should": {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  "skills": ["forecasting"],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  "themes": ["financial reporting"]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},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"min_years_exp": 5,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"status": "active",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"mode": "agent-quality",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"keyword_policy": "auto",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"top_k": 10,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  "config_overrides": { "use_mmr": true }</a:t>
            </a:r>
          </a:p>
          <a:p xmlns:a="http://schemas.openxmlformats.org/drawingml/2006/main">
            <a:pPr algn="l">
              <a:defRPr sz="1350" b="0" i="0">
                <a:solidFill>
                  <a:srgbClr val="E9F0F3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E9F0F3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826AF-CCC2-4C90-82E4-31491F4F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Four search modes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92884-37F1-464C-A10F-FBC3F3FA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No-LLM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9CA87-727F-46E5-901D-5F27B2DF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813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Deterministic parser and local 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4EE0D-9D0F-4C66-8A36-6B711014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5755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41A97A-4B01-4001-8A7B-9EBB947B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480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Fast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2AE83-20C9-436A-8B41-95F3C13D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4805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LLM planning with a low-latency preset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E6ACF1-5C15-471C-A571-C15610AE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2430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2CB114-BB11-44AF-8349-352C9871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148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88A67-D4EF-4B6F-8548-E4DBEFC0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1480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197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Stronger planning and ranking configuration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0CD76-2A09-4CBF-AD81-58267BD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91050"/>
            <a:ext cx="472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347C30-394E-4D9F-B8E0-150F743C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7815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Agent quality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376136-5C13-4538-BDFE-3A1E1ACC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81550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315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Structured agent plan with bounded reranking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ABF0EC-794D-4E62-A9E2-440F673C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10200"/>
            <a:ext cx="472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Hard constraints can remove a candidate. Preferred signals influence ranking without silently excluding people.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9024D-DA8B-4610-BC4A-10D808D7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Samsung PRISM Y2026  •  Theme 05</a:t>
            </a:r>
          </a:p>
        </p:txBody>
      </p:sp>
    </p:spTree>
    <p:extLst>
      <p:ext uri="{BB962C8B-B14F-4D97-AF65-F5344CB8AC3E}">
        <p14:creationId xmlns:p14="http://schemas.microsoft.com/office/powerpoint/2010/main" val="268938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C864541-EB9F-4F1F-8B3E-20236EA0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4692-B570-41AE-AB5D-30303A57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RETRIEVAL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AFE561-E0C0-4BCA-996F-712DA6B1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Hybrid RAG retrieves broadly, then ranks from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9090D-9A12-4322-AB50-22F41DF8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58A2B-C02C-4ADF-8565-291CC9E7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F0EB8-E9FB-4FEA-AB9D-052BF961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3675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46496-7B80-4016-8DC7-A6C17561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367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BC5B0-461F-4B9F-8403-26C0D98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38450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Validated 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3A1CD-DC68-4C2D-9984-60042119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1467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semantic intent + hard filters + preferences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A6998-D4E3-4779-AF18-7FD1C76D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049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B5597A-4BFA-4DCB-A295-1F02FB9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04950"/>
            <a:ext cx="66675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50ED1-85DC-4E0F-86A2-BC55B136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609725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SQL eligibility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FE705-8E7A-4D1A-A78C-FE60F81A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1885950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status, location, experience, salary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BA83C-FBD7-4689-9E8B-78EBDBF7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31ACFE-76E7-4635-9040-398E3ED90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66675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D58549-22DB-4874-BEBF-8CFC8739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486025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Vector meaning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CBCB8-8879-4B20-ADE3-FBADCD48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762250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similar concepts when wording differs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2CF2D5-F19E-4F2C-AC5D-82B70565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E59344-DBD2-47A8-AA55-EC612BF4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66675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C4492-C2FA-4FD5-9F33-64A00EBE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362325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BM25 keywords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AF5EA1-C550-4949-A805-D040341B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638550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073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exact terms and rare phrases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12F7A-B5C2-43B8-911B-E5D026C9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1809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367397-29D7-4A23-A796-13D24C1D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33850"/>
            <a:ext cx="66675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60937C-4D61-4197-B508-5705FF0B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238625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Exact skills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245C0-F76E-4226-9891-6DB0E271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514850"/>
            <a:ext cx="1552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canonical skill overlap and weights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670D62-6AC3-43BC-8F3E-A2A84D50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33675"/>
            <a:ext cx="1962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0338D7-CCF2-4CC3-9AC2-21DEC785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3367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5A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5F855C-D7A1-4F25-BF40-5C81D94B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838450"/>
            <a:ext cx="1704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13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Reciprocal rank fusion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9E751E-CF2B-4084-9F1E-E1793326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14675"/>
            <a:ext cx="1704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combine positions without comparing incompatible scores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F51184-8351-4B35-B3DC-085104A17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33675"/>
            <a:ext cx="1857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90E132-B78D-4D0F-837C-CB253698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33675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5A8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393D34-D1EF-4C96-B336-995C146C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838450"/>
            <a:ext cx="1600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33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Cross-encoder 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C517143-A474-4FD5-831C-8A6092A1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14675"/>
            <a:ext cx="1600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careful second pass over the strongest pool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102F40-CC58-4F5F-887D-2E3BF08A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860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9DAC29-48A9-4546-8F27-7D7E2EE4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86050"/>
            <a:ext cx="6667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634CDA-A335-47B7-8B6A-C1A6166C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790825"/>
            <a:ext cx="1266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Grounded result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F4573D9-0932-4BF2-99A5-5632CFCF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3067050"/>
            <a:ext cx="1266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rank, evidence and score breakdown</a:t>
            </a:r>
          </a:p>
        </p:txBody>
      </p:sp>
      <p:cxnSp>
        <p:nvCxnSpPr>
          <p:cNvPr id="9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266950" y="1866900"/>
            <a:ext cx="5905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0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667250" y="1866900"/>
            <a:ext cx="64770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266950" y="2743200"/>
            <a:ext cx="590550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14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4667250" y="2743200"/>
            <a:ext cx="647700" cy="381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266950" y="3124200"/>
            <a:ext cx="590550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9" name=""/>
          <p:cNvCxnSpPr>
            <a:stCxn xmlns:a="http://schemas.openxmlformats.org/drawingml/2006/main" id="18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4667250" y="3124200"/>
            <a:ext cx="647700" cy="495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100" name=""/>
          <p:cNvCxnSpPr>
            <a:stCxn xmlns:a="http://schemas.openxmlformats.org/drawingml/2006/main" id="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266950" y="3124200"/>
            <a:ext cx="590550" cy="1371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101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 flipV="1">
            <a:off x="4667250" y="3124200"/>
            <a:ext cx="647700" cy="1371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102" name=""/>
          <p:cNvCxnSpPr>
            <a:stCxn xmlns:a="http://schemas.openxmlformats.org/drawingml/2006/main" id="26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7277100" y="31242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103" name=""/>
          <p:cNvCxnSpPr>
            <a:stCxn xmlns:a="http://schemas.openxmlformats.org/drawingml/2006/main" id="30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9763125" y="3124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4A4973-E5FE-4D9C-A3BF-0B5C5DA9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Why hybrid?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2E88014-E7CA-48A0-A251-A925377D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43500"/>
            <a:ext cx="9334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Vector retrieval protects meaning. BM25 and skill search protect exact language. SQL enforces facts. Fusion rewards candidates supported by more than one path.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F4F7903-89A0-4EA9-8817-2821BA89E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3EE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029E5F-710B-4E2B-BFF2-465ED1CD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PARALLEL RETRIEVAL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1FF9AC3-3665-4020-AA92-C60B1576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957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1F7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2D28645-190D-410B-9F22-9372CBA8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052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875A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875A8"/>
                </a:solidFill>
                <a:latin typeface="Arial"/>
                <a:ea typeface="Arial"/>
                <a:cs typeface="Arial"/>
              </a:rPr>
              <a:t>BOUNDED REVIEW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2376F25-C3C9-4ECF-9C66-F1D658CA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5285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CEAE2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30D729C-3370-4D76-A3E1-EC10F1B8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6237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5468AB1-4061-47BC-8EB2-74688499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Samsung PRISM Y2026  •  Theme 05</a:t>
            </a:r>
          </a:p>
        </p:txBody>
      </p:sp>
    </p:spTree>
    <p:extLst>
      <p:ext uri="{BB962C8B-B14F-4D97-AF65-F5344CB8AC3E}">
        <p14:creationId xmlns:p14="http://schemas.microsoft.com/office/powerpoint/2010/main" val="15229578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E216A4-3406-4377-B83B-D68381A1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7E6C6C-91BE-4F35-9F08-27A61A2D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AGENT ORCHESTRATION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5ADDD-425F-4CAC-A5FD-1A5FC0B4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24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Gemini Live orchestrates typed tools through an application-owned harness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5E9723-41A7-4405-8D17-CC4FF216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72026C-099A-45B1-AD79-ED24BD7B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A17A7F-D57F-48A4-A80C-D88E8D9A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38325"/>
            <a:ext cx="1809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513EC-C77B-480D-96DA-74032B68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38325"/>
            <a:ext cx="666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E03D72-81B4-4496-B752-C093FBF5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43100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Gemini Live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49E7A-0A2A-4EEF-A961-A9EA9CC9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continuous audio, transcript and function calls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E1533-B98D-4E1B-8BF8-04A0D14C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38325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8C1374-2368-4C85-8723-01619B12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838325"/>
            <a:ext cx="666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5A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7ED7C-FB69-42A6-A6D6-5E6E5CC0D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43100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Typed tool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834217-4CDC-409D-BF41-C83DE231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19325"/>
            <a:ext cx="1743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258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name, description, JSON schema, effect and blocking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05BFB-E87F-451D-B874-418DF3BB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38325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7AD2F-ED1B-46B7-9469-B5CB487C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838325"/>
            <a:ext cx="666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E05FB-922A-4E7C-B107-643E4EFC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43100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Guarded dispatcher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4053D4-BC9A-432D-B71A-EEC76CCD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19325"/>
            <a:ext cx="1743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allowlist, schema validation, call IDs and effect policy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43DD84-C394-4F6F-B415-5A8003DF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38325"/>
            <a:ext cx="2000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A9D6E2-B729-4F53-AB4D-EAC7F5D4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838325"/>
            <a:ext cx="666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A6C5A7-7F85-416E-B777-02032D57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1743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Revisioned session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13736C-1462-4177-870F-62A6E4B6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19325"/>
            <a:ext cx="1743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plan, results, memory, shortlist and event journal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401F9A-C922-45A1-A48F-E5A3EF61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38325"/>
            <a:ext cx="1219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F4109E-AB97-4BBD-807D-0F22526B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838325"/>
            <a:ext cx="66675" cy="838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ECF8AE-B07A-478C-9E3A-C2A60A6A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1943100"/>
            <a:ext cx="9620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738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Grounded answer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E5F736-AD79-4031-AF96-111E3A6D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2219325"/>
            <a:ext cx="9620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042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only after approved evidence exists</a:t>
            </a:r>
          </a:p>
        </p:txBody>
      </p:sp>
      <p:cxnSp>
        <p:nvCxnSpPr>
          <p:cNvPr id="6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62200" y="22574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65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905375" y="2257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66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7477125" y="22574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0048875" y="2257425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44A59B-84AE-4914-9E71-51A522F6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86125"/>
            <a:ext cx="558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Search &amp; conversation tools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E6BC45-8391-47FC-8030-FDD82426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2724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350" b="0" i="0">
                <a:solidFill>
                  <a:srgbClr val="102534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02534"/>
                </a:solidFill>
                <a:latin typeface="Menlo"/>
                <a:ea typeface="Menlo"/>
                <a:cs typeface="Menlo"/>
              </a:rPr>
              <a:t>search_candidates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350" b="0" i="0">
                <a:solidFill>
                  <a:srgbClr val="102534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02534"/>
                </a:solidFill>
                <a:latin typeface="Menlo"/>
                <a:ea typeface="Menlo"/>
                <a:cs typeface="Menlo"/>
              </a:rPr>
              <a:t>interrupt_search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350" b="0" i="0">
                <a:solidFill>
                  <a:srgbClr val="102534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02534"/>
                </a:solidFill>
                <a:latin typeface="Menlo"/>
                <a:ea typeface="Menlo"/>
                <a:cs typeface="Menlo"/>
              </a:rPr>
              <a:t>inspect_candidate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350" b="0" i="0">
                <a:solidFill>
                  <a:srgbClr val="102534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02534"/>
                </a:solidFill>
                <a:latin typeface="Menlo"/>
                <a:ea typeface="Menlo"/>
                <a:cs typeface="Menlo"/>
              </a:rPr>
              <a:t>compare_candidates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350" b="0" i="0">
                <a:solidFill>
                  <a:srgbClr val="102534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02534"/>
                </a:solidFill>
                <a:latin typeface="Menlo"/>
                <a:ea typeface="Menlo"/>
                <a:cs typeface="Menlo"/>
              </a:rPr>
              <a:t>format_current_answer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E89178-853B-45B5-AD26-68344CD1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95700"/>
            <a:ext cx="2724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350" b="0" i="0">
                <a:solidFill>
                  <a:srgbClr val="102534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02534"/>
                </a:solidFill>
                <a:latin typeface="Menlo"/>
                <a:ea typeface="Menlo"/>
                <a:cs typeface="Menlo"/>
              </a:rPr>
              <a:t>cancel_current_action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350" b="0" i="0">
                <a:solidFill>
                  <a:srgbClr val="102534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02534"/>
                </a:solidFill>
                <a:latin typeface="Menlo"/>
                <a:ea typeface="Menlo"/>
                <a:cs typeface="Menlo"/>
              </a:rPr>
              <a:t>list_skills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350" b="0" i="0">
                <a:solidFill>
                  <a:srgbClr val="102534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02534"/>
                </a:solidFill>
                <a:latin typeface="Menlo"/>
                <a:ea typeface="Menlo"/>
                <a:cs typeface="Menlo"/>
              </a:rPr>
              <a:t>request_clarification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350" b="0" i="0">
                <a:solidFill>
                  <a:srgbClr val="102534"/>
                </a:solidFill>
                <a:latin typeface="Menlo"/>
                <a:ea typeface="Menlo"/>
                <a:cs typeface="Menlo"/>
              </a:defRPr>
            </a:pPr>
            <a:r>
              <a:rPr sz="1350" b="0" i="0">
                <a:solidFill>
                  <a:srgbClr val="102534"/>
                </a:solidFill>
                <a:latin typeface="Menlo"/>
                <a:ea typeface="Menlo"/>
                <a:cs typeface="Menlo"/>
              </a:rPr>
              <a:t>use_role_image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A3FCE7-2D58-41AE-81ED-80747F0B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86125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Explicit durable write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B32B76-EEF5-447B-88EA-2322B40C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33800"/>
            <a:ext cx="23622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CEAE2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69ACBE-AA0E-4D18-A518-22348B9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9052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F5F38"/>
                </a:solidFill>
                <a:latin typeface="Menlo"/>
                <a:ea typeface="Menlo"/>
                <a:cs typeface="Menlo"/>
              </a:defRPr>
            </a:pPr>
            <a:r>
              <a:rPr sz="1425" b="1" i="0">
                <a:solidFill>
                  <a:srgbClr val="CF5F38"/>
                </a:solidFill>
                <a:latin typeface="Menlo"/>
                <a:ea typeface="Menlo"/>
                <a:cs typeface="Menlo"/>
              </a:rPr>
              <a:t>add_to_shortlist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E0500D-F982-456B-8F9A-11CA339B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2481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286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Idempotency key + scope supersession + effect log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353A24-1999-4777-BCEC-DB72CB04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05175"/>
            <a:ext cx="21526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The model chooses a tool. The application decides whether that call is valid and what state it may change.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36A9F3-6661-47BB-937F-1B682545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Samsung PRISM Y2026  •  Theme 05</a:t>
            </a:r>
          </a:p>
        </p:txBody>
      </p:sp>
    </p:spTree>
    <p:extLst>
      <p:ext uri="{BB962C8B-B14F-4D97-AF65-F5344CB8AC3E}">
        <p14:creationId xmlns:p14="http://schemas.microsoft.com/office/powerpoint/2010/main" val="14619576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83B35E-C929-42FB-A04A-1A179733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8985CD-8EEB-43CB-990D-A8865194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REVISION-AWARE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145A2-EFA4-4489-A1FE-41582B30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504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An interruption edits the active plan instead of restarting the conversation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00825-B759-4533-ABE8-C214EA91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C2682-FFAE-452E-A3FF-328AEE2D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ACE9A-E0D2-4C6F-B501-AA12507B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525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Initial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BEF3D-2ADB-464A-B61C-E6D0C369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48958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70B5F-F0D5-432B-A6F5-9F22A408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“Find finance candidates in Bangalore with 5+ years and accounting experience.”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C1A25-0423-4EB9-B5C2-4199C85E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03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User interrupts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51570D-09AA-4C02-967E-40DAA7EE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48958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CEAE2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946233-60F4-4490-9A1C-DF825CF6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87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“Actually, drop Bangalore. Keep everything else.”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907DD-EF9D-49FB-A102-77652DCB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95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F5F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DEA0F-44B6-45FD-AAE8-D7208928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67175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F5F3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ECE3D-1FC7-4FD0-BD54-7BB6D248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Revision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77E2CC-FD49-49C5-9916-D553B45F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29175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534"/>
                </a:solidFill>
                <a:latin typeface="Arial"/>
                <a:ea typeface="Arial"/>
                <a:cs typeface="Arial"/>
              </a:rPr>
              <a:t>changed: </a:t>
            </a:r>
            <a:r>
              <a:rPr sz="1350">
                <a:solidFill>
                  <a:srgbClr val="102534"/>
                </a:solidFill>
                <a:latin typeface="Arial"/>
                <a:ea typeface="Arial"/>
                <a:cs typeface="Arial"/>
              </a:rPr>
              <a:t>city = null</a:t>
            </a:r>
          </a:p>
          <a:p xmlns:a="http://schemas.openxmlformats.org/drawingml/2006/main">
            <a:pPr>
              <a:defRPr sz="135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534"/>
                </a:solidFill>
                <a:latin typeface="Arial"/>
                <a:ea typeface="Arial"/>
                <a:cs typeface="Arial"/>
              </a:rPr>
              <a:t>retained: </a:t>
            </a:r>
            <a:r>
              <a:rPr sz="1350">
                <a:solidFill>
                  <a:srgbClr val="102534"/>
                </a:solidFill>
                <a:latin typeface="Arial"/>
                <a:ea typeface="Arial"/>
                <a:cs typeface="Arial"/>
              </a:rPr>
              <a:t>country, min_years_exp, must_skills, query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539B26-3F4C-46F0-8F7B-94A7ACD1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52575"/>
            <a:ext cx="5448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Branch dependency 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22679-718A-4459-B11A-327FE9D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1428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87181-9E95-43AB-B0DF-2C5DC6F9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33600"/>
            <a:ext cx="6667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A7B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ACA7BC-BC62-407A-A555-24DB5C21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238375"/>
            <a:ext cx="1171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Revision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86856F-D673-427B-B460-BC34D2CC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514600"/>
            <a:ext cx="11715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city = Bangalore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CF5B33-3D54-4589-B068-51C399A2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85925"/>
            <a:ext cx="14097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EE7AC3-8867-4B48-8FCA-A29AF8E9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85925"/>
            <a:ext cx="66675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13934-2FDD-425D-867D-8B59C076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790700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SQL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674A3B-AEA4-4BCD-9665-68842EA2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06692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cancel + rerun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592C4-9B58-4459-89D0-6951CDC2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66975"/>
            <a:ext cx="14097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A393D-D74C-4DCD-A927-9530D56E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66975"/>
            <a:ext cx="66675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9AE35F-8934-4E40-BF28-023B1F43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71750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Vector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44EF0E-88DE-4209-AB0C-C781A2F5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84797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reuse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6775D5-8D1D-486C-BF02-66E741A4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48025"/>
            <a:ext cx="14097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CD9253-B2BB-402A-83B5-DC88EA1D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48025"/>
            <a:ext cx="66675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703093-1B15-4E4A-8218-F1545A64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352800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BM25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88AFF4-C79C-4EEF-B533-4EFC785D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62902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reuse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E3DBA2-0B80-4B8F-9DDF-1CB19A94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29075"/>
            <a:ext cx="14097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21E7FE0-F0B4-4B38-A68A-AD87E3D2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29075"/>
            <a:ext cx="66675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5FF80E-798A-4F44-9F92-5B01722B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133850"/>
            <a:ext cx="11525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Skills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715D537-7B66-4798-8D64-CB25D1F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41007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reuse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5F79A51-9A6A-4162-91D1-D649A60D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14650"/>
            <a:ext cx="12763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065BF3-63C2-498D-8DC0-07DCC422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914650"/>
            <a:ext cx="6667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5A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9BF106-4E82-4C10-B64A-A8E7AC1F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019425"/>
            <a:ext cx="1019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Revision 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48ABE3-EDAB-4D26-A7C7-BC3772C3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295650"/>
            <a:ext cx="1019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broader location, same intent</a:t>
            </a:r>
          </a:p>
        </p:txBody>
      </p:sp>
      <p:cxnSp>
        <p:nvCxnSpPr>
          <p:cNvPr id="91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620000" y="2000250"/>
            <a:ext cx="704850" cy="466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2" name=""/>
          <p:cNvCxnSpPr>
            <a:stCxn xmlns:a="http://schemas.openxmlformats.org/drawingml/2006/main" id="21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734550" y="2000250"/>
            <a:ext cx="628650" cy="1304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3" name=""/>
          <p:cNvCxnSpPr>
            <a:stCxn xmlns:a="http://schemas.openxmlformats.org/drawingml/2006/main" id="17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620000" y="2466975"/>
            <a:ext cx="704850" cy="314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4" name=""/>
          <p:cNvCxnSpPr>
            <a:stCxn xmlns:a="http://schemas.openxmlformats.org/drawingml/2006/main" id="25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9734550" y="2781300"/>
            <a:ext cx="62865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5" name=""/>
          <p:cNvCxnSpPr>
            <a:stCxn xmlns:a="http://schemas.openxmlformats.org/drawingml/2006/main" id="1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7620000" y="2466975"/>
            <a:ext cx="704850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6" name=""/>
          <p:cNvCxnSpPr>
            <a:stCxn xmlns:a="http://schemas.openxmlformats.org/drawingml/2006/main" id="29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9734550" y="3305175"/>
            <a:ext cx="628650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7" name=""/>
          <p:cNvCxnSpPr>
            <a:stCxn xmlns:a="http://schemas.openxmlformats.org/drawingml/2006/main" id="17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620000" y="2466975"/>
            <a:ext cx="704850" cy="18764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98" name=""/>
          <p:cNvCxnSpPr>
            <a:stCxn xmlns:a="http://schemas.openxmlformats.org/drawingml/2006/main" id="33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V="1">
            <a:off x="9734550" y="3305175"/>
            <a:ext cx="628650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11086C-3928-4592-B7EC-F59FF848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5448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Only work that depended on the changed field becomes stale. Valid retrieval and conversation context stay attached to the session.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9DFD34-6AD3-4AAB-BB02-98E265EA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Samsung PRISM Y2026  •  Theme 05</a:t>
            </a:r>
          </a:p>
        </p:txBody>
      </p:sp>
    </p:spTree>
    <p:extLst>
      <p:ext uri="{BB962C8B-B14F-4D97-AF65-F5344CB8AC3E}">
        <p14:creationId xmlns:p14="http://schemas.microsoft.com/office/powerpoint/2010/main" val="10190265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EEDDD4-5EF1-498C-87C4-28B4C6EA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9E556-F5F1-495C-AAB9-33A0DEAE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FULL-DUPLEX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18EB12-0F09-4451-92AD-E8A7E32C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Fast path stays responsive while the slow path reasons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FB234C-9E27-45F3-B5E9-E67AADC5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C910E-9CC7-4AE6-9965-44CE41F1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12415-33FB-472F-850F-F1DF1949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User speech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E9965-E5DD-47F7-AE53-1EEA4F2C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0027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DB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3A3D15-C8BA-441A-A995-74273BFD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764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1F16D-0A94-4D5A-9E18-B05024BB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Transcript prefix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199C2-D176-4CA8-B2DE-51918DF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764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EB4ED-9271-4F5E-AD2D-BFFAA58F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003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Immediate acknowledgement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C054A8-479D-4CF1-97DA-6DD8582C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764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5A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74AE4-9BEA-4826-90C0-4F0B887A7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003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875A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875A8"/>
                </a:solidFill>
                <a:latin typeface="Arial"/>
                <a:ea typeface="Arial"/>
                <a:cs typeface="Arial"/>
              </a:rPr>
              <a:t>Tool calls + retrieval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2B44EA-54FB-4B44-B863-F883B086D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0764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6A61E-18A5-4F5C-9217-B0120B07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003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Grounded spoken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8F340-2952-4967-9C9D-817962C7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4991100" cy="20764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071B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ECEFD1-6C7D-4153-A849-C45C5281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A18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A184"/>
                </a:solidFill>
                <a:latin typeface="Arial"/>
                <a:ea typeface="Arial"/>
                <a:cs typeface="Arial"/>
              </a:rPr>
              <a:t>FAST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CFBC3-F85C-4EE6-96E2-A8EC6A82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62400"/>
            <a:ext cx="4210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“Got it. I’m removing the Bangalore location filter.”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76EEAA-1D2C-4D7E-97F9-FA9CAB4F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10125"/>
            <a:ext cx="421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ED8D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ED8DE"/>
                </a:solidFill>
                <a:latin typeface="Arial"/>
                <a:ea typeface="Arial"/>
                <a:cs typeface="Arial"/>
              </a:rPr>
              <a:t>Generated from the instruction diff. It does not claim a search result.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442EB0-39E4-4195-A493-975541CF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5543550" cy="20764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5AB64-6E61-43F6-8D63-908DBD52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875A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875A8"/>
                </a:solidFill>
                <a:latin typeface="Arial"/>
                <a:ea typeface="Arial"/>
                <a:cs typeface="Arial"/>
              </a:rPr>
              <a:t>SLOW PATH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27BA9-16E4-434D-BEC9-DFAA26A7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4762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Validate the revised plan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Cancel only stale retrieval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Fuse and rerank candidates</a:t>
            </a:r>
          </a:p>
          <a:p xmlns:a="http://schemas.openxmlformats.org/drawingml/2006/main">
            <a:pPr marL="228600" indent="-114300" algn="l">
              <a:spcAft>
                <a:spcPts val="700"/>
              </a:spcAft>
              <a:buChar char="•"/>
              <a:defRPr sz="142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Ground the response in returned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DD04D7-6643-4041-8F75-BE705F7A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The assistant may acknowledge immediately, but candidate claims wait for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131910-D327-48B2-A919-16CCD6B3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Samsung PRISM Y2026  •  Theme 05</a:t>
            </a:r>
          </a:p>
        </p:txBody>
      </p:sp>
    </p:spTree>
    <p:extLst>
      <p:ext uri="{BB962C8B-B14F-4D97-AF65-F5344CB8AC3E}">
        <p14:creationId xmlns:p14="http://schemas.microsoft.com/office/powerpoint/2010/main" val="21220582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B8BCA6-0A47-49A9-B8F6-87BD986B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1A560-D3DA-40B0-8E6C-D3475212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CONVERSATION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2D0F9-08E5-4537-A26B-CE7EE4C5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Voice, text and role images share one bounded session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51CD5-24CA-4D50-82AB-AE3E322A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A5B1A-41A0-443F-96E4-E27641C1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A7C3B-DA8E-425C-897F-2C1998C7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257D5-166C-470B-95B2-19F1CEE1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A36F5-1B83-4F91-820C-E3A4E78A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47850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B304E2-25AD-4564-BFA1-4D8FA279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24075"/>
            <a:ext cx="1552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Gemini Live full-duplex audio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9E36C-37A0-4786-95BE-909EFA9B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661B2-8A7A-40AE-AC2C-C2A3ADDF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71775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82C7C6-8E70-4AFC-B50D-248CE9ED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F03A7B-4EAD-4452-8F18-C7C5B24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52775"/>
            <a:ext cx="1552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typed query or job description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766BD-19CC-44D9-BAF5-80676387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00475"/>
            <a:ext cx="18097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F0C09D-7366-449E-9282-304F9E25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00475"/>
            <a:ext cx="66675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5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CD1C6C-8A8C-462D-8980-024292B0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15525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Role image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445F2-C804-4E2C-AF2C-CF4CA4F1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81475"/>
            <a:ext cx="1552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visible role text and requirement extraction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71322B-18C8-48E3-A01F-B9F835F6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381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EDAB0-31DF-4842-951B-12FB55244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856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3C39C2-3BAF-4BF6-B5AA-9E6E21CC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714625"/>
            <a:ext cx="2124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Session memory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8E4EF-10BC-4989-99C4-BBE90261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90850"/>
            <a:ext cx="21240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active plan + current results + selected candidates + event journal</a:t>
            </a:r>
          </a:p>
        </p:txBody>
      </p:sp>
      <p:cxnSp>
        <p:nvCxnSpPr>
          <p:cNvPr id="61" name=""/>
          <p:cNvCxnSpPr>
            <a:stCxn xmlns:a="http://schemas.openxmlformats.org/drawingml/2006/main" id="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362200" y="2143125"/>
            <a:ext cx="971550" cy="1000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10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2362200" y="3143250"/>
            <a:ext cx="97155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2362200" y="3143250"/>
            <a:ext cx="971550" cy="1057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D07C84-BB7A-4A54-BCAC-372994E2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332FE7-4170-4EF1-8E51-51852623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75A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86DE59-DC12-405F-8B8B-87836477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714625"/>
            <a:ext cx="1838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Agent tools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F12D79-695D-4D22-941E-6456CACD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990850"/>
            <a:ext cx="1838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search, inspect, compare, clarify and shortlist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55D0B4-874A-4523-BF31-3FA57FE0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09850"/>
            <a:ext cx="20193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8BF54A-490F-4402-A761-E08EB63B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09850"/>
            <a:ext cx="66675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4E67E6-5C55-4145-9264-5B1990E5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714625"/>
            <a:ext cx="1762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Shared UI state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7C28BC-7A7E-4F5A-AF7C-9219981E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990850"/>
            <a:ext cx="17621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conversation, ranked results and evidence graph</a:t>
            </a:r>
          </a:p>
        </p:txBody>
      </p:sp>
      <p:cxnSp>
        <p:nvCxnSpPr>
          <p:cNvPr id="72" name=""/>
          <p:cNvCxnSpPr>
            <a:stCxn xmlns:a="http://schemas.openxmlformats.org/drawingml/2006/main" id="18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715000" y="3143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25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8763000" y="31432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AA7B2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7CB134-C3A6-45FA-ADEA-A99AC317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29100"/>
            <a:ext cx="3314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What persists when voice stops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56E92F-9972-4780-8B0E-B5A32F10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48200"/>
            <a:ext cx="37719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The current search revision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Retrieved candidate IDs and evidence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Conversation messages and tool outcomes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C24189-46A1-4DC4-80E7-B2F24F53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29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What does not persist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77105E-D493-49C0-AB6D-CCC1B4E4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48200"/>
            <a:ext cx="3429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A cross-session personal profile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Unsupported image requirements as fake filters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35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Unvalidated model guesses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B39DAD-3FE7-443C-A841-E03D2020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Samsung PRISM Y2026  •  Theme 05</a:t>
            </a:r>
          </a:p>
        </p:txBody>
      </p:sp>
    </p:spTree>
    <p:extLst>
      <p:ext uri="{BB962C8B-B14F-4D97-AF65-F5344CB8AC3E}">
        <p14:creationId xmlns:p14="http://schemas.microsoft.com/office/powerpoint/2010/main" val="310779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24018E-62F9-45E2-89B8-42223984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F43F8-7EA7-4AC3-BFCF-49B92D85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EVIDENCE AND OBSERVABILITY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E282F-D7CA-44B0-BDA2-FCDA6175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Every tool call and retrieval stage is inspectable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0F530-19B6-44F1-A018-B2A5C457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651D2-2CDE-4E6A-B8AA-14174558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72EA8-A79C-4ECF-B532-232ECE96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19225"/>
            <a:ext cx="7277100" cy="4619625"/>
          </a:xfrm>
          <a:prstGeom xmlns:a="http://schemas.openxmlformats.org/drawingml/2006/main" prst="roundRect">
            <a:avLst>
              <a:gd name="adj" fmla="val 20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daa674976e4207"/>
          <a:srcRect xmlns:a="http://schemas.openxmlformats.org/drawingml/2006/main" l="0" t="4856" r="0" b="48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495425"/>
            <a:ext cx="7124700" cy="4467225"/>
          </a:xfrm>
          <a:prstGeom xmlns:a="http://schemas.openxmlformats.org/drawingml/2006/main" prst="roundRect">
            <a:avLst>
              <a:gd name="adj" fmla="val 255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E3235-7C9F-4E54-9E6E-245CA9FC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Evidence inspector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A5070-1924-4258-8E22-38224750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31623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42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Query branches diverge and converge visibly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42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Each node exposes its validated input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42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Results, evidence and raw events remain available</a:t>
            </a:r>
          </a:p>
          <a:p xmlns:a="http://schemas.openxmlformats.org/drawingml/2006/main">
            <a:pPr marL="228600" indent="-114300" algn="l">
              <a:spcAft>
                <a:spcPts val="1000"/>
              </a:spcAft>
              <a:buChar char="•"/>
              <a:defRPr sz="142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Revisions show reuse, cancellation and changed fields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09680-2DE2-4C1E-8045-FD6B2869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291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Langfuse + OpenTelemetry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DD9D8-B1C7-48A8-8A6B-B347ADFD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1623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Search, model and database spans connect latency and outcome metrics to the same trace ID shown in the UI.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163EA-D027-4CF2-A0E1-57AAC4F4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Samsung PRISM Y2026  •  Theme 05</a:t>
            </a:r>
          </a:p>
        </p:txBody>
      </p:sp>
    </p:spTree>
    <p:extLst>
      <p:ext uri="{BB962C8B-B14F-4D97-AF65-F5344CB8AC3E}">
        <p14:creationId xmlns:p14="http://schemas.microsoft.com/office/powerpoint/2010/main" val="3151390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C1950E-BD38-4B10-892A-2C34060E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EEA06-FB9F-4632-B92A-965B5092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SEARCH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E96CD-12C5-4155-A8C1-955853A0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A result carries the evidence needed to audit its rank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43D216-432C-4C9F-8E1B-924A8A10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3810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A4D3F-46DF-4D41-9601-B099A5FF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A86B91-BF9A-4E98-AEE0-7EA9A61C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6724650" cy="466725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9ea50602744a9"/>
          <a:srcRect xmlns:a="http://schemas.openxmlformats.org/drawingml/2006/main" l="0" t="2862" r="0" b="28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504950"/>
            <a:ext cx="6572250" cy="4514850"/>
          </a:xfrm>
          <a:prstGeom xmlns:a="http://schemas.openxmlformats.org/drawingml/2006/main" prst="roundRect">
            <a:avLst>
              <a:gd name="adj" fmla="val 253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25BF69-C3BC-467E-87C5-D938D202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581150"/>
            <a:ext cx="3676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71B2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71B2B"/>
                </a:solidFill>
                <a:latin typeface="Arial"/>
                <a:ea typeface="Arial"/>
                <a:cs typeface="Arial"/>
              </a:rPr>
              <a:t>What the result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A4726-3107-4104-9FCD-B820CED0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1336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Hard filters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81AC0-A144-4E9B-9117-A00E302E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336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5+ years, active status and canonical skills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569B0C-A2C4-4D05-9C5C-EB861CEF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62890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7AE175-6548-46F4-B5E9-8F5144E6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8194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Hybrid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C85BC-AAA2-42B7-A783-13B493A7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194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dense, BM25 and exact-skill retrieval labels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8A732-64E3-4198-8F7C-D9B0B531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1470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1A9E74-BFD4-4C23-9E13-0FF583AA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052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892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Rank explanation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89B24-1C88-4C83-A465-0A02C20A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5052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feature score, fusion signal and match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2CB360-9DF3-407C-AEB8-1C3B4BF8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00050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F02DA0-74AD-4140-B83A-2C9C29F2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910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856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856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9CC057-F6BD-44A1-8B5B-2050CB92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resume excerpt tied to the candidate record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FB3520-037E-4698-A6F2-ADC7B411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686300"/>
            <a:ext cx="3924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BD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E77FC6-4DC7-4ECF-907F-5472593C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768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F5F3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F5F38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FA9A6E-9DC2-4BA3-A04F-6FCB46B2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534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2534"/>
                </a:solidFill>
                <a:latin typeface="Arial"/>
                <a:ea typeface="Arial"/>
                <a:cs typeface="Arial"/>
              </a:rPr>
              <a:t>the search links back to its Langfuse trace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2F62D9-62FD-4F66-A83E-1B03D6057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9AA7B2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9AA7B2"/>
                </a:solidFill>
                <a:latin typeface="Arial"/>
                <a:ea typeface="Arial"/>
                <a:cs typeface="Arial"/>
              </a:rPr>
              <a:t>Samsung PRISM Y2026  •  Theme 05</a:t>
            </a:r>
          </a:p>
        </p:txBody>
      </p:sp>
    </p:spTree>
    <p:extLst>
      <p:ext uri="{BB962C8B-B14F-4D97-AF65-F5344CB8AC3E}">
        <p14:creationId xmlns:p14="http://schemas.microsoft.com/office/powerpoint/2010/main" val="7531223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5D0FF2-8CF6-40C4-BAD9-2215EB6C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5F3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1851A-42B3-49E8-A661-10115E1F7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4A184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4A184"/>
                </a:solidFill>
                <a:latin typeface="Arial"/>
                <a:ea typeface="Arial"/>
                <a:cs typeface="Arial"/>
              </a:rPr>
              <a:t>TALENT ATLAS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552F9-8BDF-485B-B071-A8BB6320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71550"/>
            <a:ext cx="8858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real-time agent whose work can be interrupted, resumed and audited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7E0897-AC39-4C1A-BD22-22DA15DC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15,352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89323-DEA8-4A96-B5A9-717F64C9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candidate profiles in the local demonstration corpus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18056-E946-4140-B6D9-2874FAA2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09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32,069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00C6F-01D7-4AE7-8B3D-449D85CF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24200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indexed evidence chunks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48AC9-76B3-44A6-A64B-5F114036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985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88245-5560-4613-A345-A2DB5306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242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typed tools with declared effects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4F0B11-8DB7-4381-9F33-910B5782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0985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4A184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4A184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5E577-A219-498B-9912-B6209C9DE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242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C6B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C6B78"/>
                </a:solidFill>
                <a:latin typeface="Arial"/>
                <a:ea typeface="Arial"/>
                <a:cs typeface="Arial"/>
              </a:rPr>
              <a:t>interruption benchmark scenarios passing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8B4F1-DD13-4CF0-825F-08092858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506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F18DA-C53A-4223-BF71-1AE8A4E4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Demonstrated capabilities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C51B5C-A093-4143-ACF0-018B1E14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457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D8E1E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8E1E6"/>
                </a:solidFill>
                <a:latin typeface="Arial"/>
                <a:ea typeface="Arial"/>
                <a:cs typeface="Arial"/>
              </a:rPr>
              <a:t>Direct configurable hybrid search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D8E1E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8E1E6"/>
                </a:solidFill>
                <a:latin typeface="Arial"/>
                <a:ea typeface="Arial"/>
                <a:cs typeface="Arial"/>
              </a:rPr>
              <a:t>Gemini Live voice and multimodal input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D8E1E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8E1E6"/>
                </a:solidFill>
                <a:latin typeface="Arial"/>
                <a:ea typeface="Arial"/>
                <a:cs typeface="Arial"/>
              </a:rPr>
              <a:t>Revision-aware interruption and selective cancellation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3196C-10D3-45E5-85F1-646A2DDB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4857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D8E1E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8E1E6"/>
                </a:solidFill>
                <a:latin typeface="Arial"/>
                <a:ea typeface="Arial"/>
                <a:cs typeface="Arial"/>
              </a:rPr>
              <a:t>Session memory and guarded state changes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D8E1E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8E1E6"/>
                </a:solidFill>
                <a:latin typeface="Arial"/>
                <a:ea typeface="Arial"/>
                <a:cs typeface="Arial"/>
              </a:rPr>
              <a:t>Grounded ranking with full telemetry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425" b="0" i="0">
                <a:solidFill>
                  <a:srgbClr val="D8E1E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D8E1E6"/>
                </a:solidFill>
                <a:latin typeface="Arial"/>
                <a:ea typeface="Arial"/>
                <a:cs typeface="Arial"/>
              </a:rPr>
              <a:t>Reproducible local deployment and evaluation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1057A9-E406-490A-A264-9307BCD5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43650"/>
            <a:ext cx="3810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7891A2"/>
                </a:solidFill>
                <a:latin typeface="Menlo"/>
                <a:ea typeface="Menlo"/>
                <a:cs typeface="Menlo"/>
              </a:defRPr>
            </a:pPr>
            <a:r>
              <a:rPr sz="900" b="0" i="0">
                <a:solidFill>
                  <a:srgbClr val="7891A2"/>
                </a:solidFill>
                <a:latin typeface="Menlo"/>
                <a:ea typeface="Menlo"/>
                <a:cs typeface="Menlo"/>
              </a:rPr>
              <a:t>PRISM_GENAI_HACKATHON_Y2026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DEDFF-2D7C-42A1-A846-4F116887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305550"/>
            <a:ext cx="4829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F4A184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F4A184"/>
                </a:solidFill>
                <a:latin typeface="Arial"/>
                <a:ea typeface="Arial"/>
                <a:cs typeface="Arial"/>
              </a:rPr>
              <a:t>github.com/pylrn/talent-atlas-realtime-agent</a:t>
            </a:r>
          </a:p>
        </p:txBody>
      </p:sp>
    </p:spTree>
    <p:extLst>
      <p:ext uri="{BB962C8B-B14F-4D97-AF65-F5344CB8AC3E}">
        <p14:creationId xmlns:p14="http://schemas.microsoft.com/office/powerpoint/2010/main" val="1122671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2026-09-22T23:10:53.8470000Z</dcterms:created>
  <dcterms:modified xsi:type="dcterms:W3CDTF">2026-09-22T23:10:53.8470000Z</dcterms:modified>
</coreProperties>
</file>